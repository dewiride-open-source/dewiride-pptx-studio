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a44 - rotation and mirroring on a shape</a:t>
            </a:r>
          </a:p>
        </p:txBody>
      </p:sp>
      <p:sp>
        <p:nvSpPr>
          <p:cNvPr id="10" name="rot 0"/>
          <p:cNvSpPr/>
          <p:nvPr/>
        </p:nvSpPr>
        <p:spPr>
          <a:xfrm>
            <a:off x="1291900" y="14773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0</a:t>
            </a:r>
          </a:p>
        </p:txBody>
      </p:sp>
      <p:sp>
        <p:nvSpPr>
          <p:cNvPr id="11" name="rot 30"/>
          <p:cNvSpPr/>
          <p:nvPr/>
        </p:nvSpPr>
        <p:spPr>
          <a:xfrm rot="1800000">
            <a:off x="4111300" y="14773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30</a:t>
            </a:r>
          </a:p>
        </p:txBody>
      </p:sp>
      <p:sp>
        <p:nvSpPr>
          <p:cNvPr id="12" name="rot 45"/>
          <p:cNvSpPr/>
          <p:nvPr/>
        </p:nvSpPr>
        <p:spPr>
          <a:xfrm rot="2700000">
            <a:off x="6930700" y="14773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45</a:t>
            </a:r>
          </a:p>
        </p:txBody>
      </p:sp>
      <p:sp>
        <p:nvSpPr>
          <p:cNvPr id="13" name="rot 90"/>
          <p:cNvSpPr/>
          <p:nvPr/>
        </p:nvSpPr>
        <p:spPr>
          <a:xfrm rot="5400000">
            <a:off x="9750100" y="14773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90</a:t>
            </a:r>
          </a:p>
        </p:txBody>
      </p:sp>
      <p:sp>
        <p:nvSpPr>
          <p:cNvPr id="14" name="rot 135"/>
          <p:cNvSpPr/>
          <p:nvPr/>
        </p:nvSpPr>
        <p:spPr>
          <a:xfrm rot="8100000">
            <a:off x="1291900" y="32045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135</a:t>
            </a:r>
          </a:p>
        </p:txBody>
      </p:sp>
      <p:sp>
        <p:nvSpPr>
          <p:cNvPr id="15" name="rot 180"/>
          <p:cNvSpPr/>
          <p:nvPr/>
        </p:nvSpPr>
        <p:spPr>
          <a:xfrm rot="10800000">
            <a:off x="4111300" y="32045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180</a:t>
            </a:r>
          </a:p>
        </p:txBody>
      </p:sp>
      <p:sp>
        <p:nvSpPr>
          <p:cNvPr id="16" name="rot 270"/>
          <p:cNvSpPr/>
          <p:nvPr/>
        </p:nvSpPr>
        <p:spPr>
          <a:xfrm rot="16200000">
            <a:off x="6930700" y="32045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rot 270</a:t>
            </a:r>
          </a:p>
        </p:txBody>
      </p:sp>
      <p:sp>
        <p:nvSpPr>
          <p:cNvPr id="17" name="flipH"/>
          <p:cNvSpPr/>
          <p:nvPr/>
        </p:nvSpPr>
        <p:spPr>
          <a:xfrm flipH="1">
            <a:off x="9750100" y="32045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flipH</a:t>
            </a:r>
          </a:p>
        </p:txBody>
      </p:sp>
      <p:sp>
        <p:nvSpPr>
          <p:cNvPr id="18" name="flipV"/>
          <p:cNvSpPr/>
          <p:nvPr/>
        </p:nvSpPr>
        <p:spPr>
          <a:xfrm flipV="1">
            <a:off x="1291900" y="49317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flipV</a:t>
            </a:r>
          </a:p>
        </p:txBody>
      </p:sp>
      <p:sp>
        <p:nvSpPr>
          <p:cNvPr id="19" name="flipH flipV"/>
          <p:cNvSpPr/>
          <p:nvPr/>
        </p:nvSpPr>
        <p:spPr>
          <a:xfrm flipH="1" flipV="1">
            <a:off x="4111300" y="49317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flipH flipV</a:t>
            </a:r>
          </a:p>
        </p:txBody>
      </p:sp>
      <p:sp>
        <p:nvSpPr>
          <p:cNvPr id="20" name="flipH rot 30"/>
          <p:cNvSpPr/>
          <p:nvPr/>
        </p:nvSpPr>
        <p:spPr>
          <a:xfrm rot="1800000" flipH="1">
            <a:off x="6930700" y="49317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flipH rot 30</a:t>
            </a:r>
          </a:p>
        </p:txBody>
      </p:sp>
      <p:sp>
        <p:nvSpPr>
          <p:cNvPr id="21" name="flipV rot 30"/>
          <p:cNvSpPr/>
          <p:nvPr/>
        </p:nvSpPr>
        <p:spPr>
          <a:xfrm rot="1800000" flipV="1">
            <a:off x="9750100" y="4931720"/>
            <a:ext cx="1150000" cy="1150000"/>
          </a:xfrm>
          <a:prstGeom prst="rtTriangl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flipV rot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a44 - groups: resized, rotated, mirrored and nested</a:t>
            </a:r>
          </a:p>
        </p:txBody>
      </p:sp>
      <p:grpSp>
        <p:nvGrpSpPr>
          <p:cNvPr id="40" name="group, chExt = ext"/>
          <p:cNvGrpSpPr/>
          <p:nvPr/>
        </p:nvGrpSpPr>
        <p:grpSpPr>
          <a:xfrm>
            <a:off x="1461800" y="1609120"/>
            <a:ext cx="1750000" cy="1750000"/>
            <a:chOff x="1461800" y="1609120"/>
            <a:chExt cx="1750000" cy="1750000"/>
          </a:xfrm>
        </p:grpSpPr>
        <p:sp>
          <p:nvSpPr>
            <p:cNvPr id="41" name="rtTriangle"/>
            <p:cNvSpPr/>
            <p:nvPr/>
          </p:nvSpPr>
          <p:spPr>
            <a:xfrm>
              <a:off x="1461800" y="1609120"/>
              <a:ext cx="583333" cy="583333"/>
            </a:xfrm>
            <a:prstGeom prst="rtTriangl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ellipse"/>
            <p:cNvSpPr/>
            <p:nvPr/>
          </p:nvSpPr>
          <p:spPr>
            <a:xfrm>
              <a:off x="2045133" y="2192453"/>
              <a:ext cx="583333" cy="58333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rect"/>
            <p:cNvSpPr/>
            <p:nvPr/>
          </p:nvSpPr>
          <p:spPr>
            <a:xfrm>
              <a:off x="2628466" y="2775786"/>
              <a:ext cx="583333" cy="583333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0" name="group, chExt = ext / 2"/>
          <p:cNvGrpSpPr/>
          <p:nvPr/>
        </p:nvGrpSpPr>
        <p:grpSpPr>
          <a:xfrm>
            <a:off x="5221000" y="1609120"/>
            <a:ext cx="1750000" cy="1750000"/>
            <a:chOff x="0" y="0"/>
            <a:chExt cx="875000" cy="875000"/>
          </a:xfrm>
        </p:grpSpPr>
        <p:sp>
          <p:nvSpPr>
            <p:cNvPr id="51" name="rtTriangle"/>
            <p:cNvSpPr/>
            <p:nvPr/>
          </p:nvSpPr>
          <p:spPr>
            <a:xfrm>
              <a:off x="0" y="0"/>
              <a:ext cx="291666" cy="291666"/>
            </a:xfrm>
            <a:prstGeom prst="rtTriangl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ellipse"/>
            <p:cNvSpPr/>
            <p:nvPr/>
          </p:nvSpPr>
          <p:spPr>
            <a:xfrm>
              <a:off x="291666" y="291666"/>
              <a:ext cx="291666" cy="291666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rect"/>
            <p:cNvSpPr/>
            <p:nvPr/>
          </p:nvSpPr>
          <p:spPr>
            <a:xfrm>
              <a:off x="583332" y="583332"/>
              <a:ext cx="291666" cy="291666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" name="group, rot 30"/>
          <p:cNvGrpSpPr/>
          <p:nvPr/>
        </p:nvGrpSpPr>
        <p:grpSpPr>
          <a:xfrm rot="1800000">
            <a:off x="8980200" y="1609120"/>
            <a:ext cx="1750000" cy="1750000"/>
            <a:chOff x="8980200" y="1609120"/>
            <a:chExt cx="1750000" cy="1750000"/>
          </a:xfrm>
        </p:grpSpPr>
        <p:sp>
          <p:nvSpPr>
            <p:cNvPr id="61" name="rtTriangle"/>
            <p:cNvSpPr/>
            <p:nvPr/>
          </p:nvSpPr>
          <p:spPr>
            <a:xfrm>
              <a:off x="8980200" y="1609120"/>
              <a:ext cx="583333" cy="583333"/>
            </a:xfrm>
            <a:prstGeom prst="rtTriangl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ellipse"/>
            <p:cNvSpPr/>
            <p:nvPr/>
          </p:nvSpPr>
          <p:spPr>
            <a:xfrm>
              <a:off x="9563533" y="2192453"/>
              <a:ext cx="583333" cy="58333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rect"/>
            <p:cNvSpPr/>
            <p:nvPr/>
          </p:nvSpPr>
          <p:spPr>
            <a:xfrm>
              <a:off x="10146866" y="2775786"/>
              <a:ext cx="583333" cy="583333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0" name="group, flipH"/>
          <p:cNvGrpSpPr/>
          <p:nvPr/>
        </p:nvGrpSpPr>
        <p:grpSpPr>
          <a:xfrm flipH="1">
            <a:off x="1461800" y="4199920"/>
            <a:ext cx="1750000" cy="1750000"/>
            <a:chOff x="1461800" y="4199920"/>
            <a:chExt cx="1750000" cy="1750000"/>
          </a:xfrm>
        </p:grpSpPr>
        <p:sp>
          <p:nvSpPr>
            <p:cNvPr id="71" name="rtTriangle"/>
            <p:cNvSpPr/>
            <p:nvPr/>
          </p:nvSpPr>
          <p:spPr>
            <a:xfrm>
              <a:off x="1461800" y="4199920"/>
              <a:ext cx="583333" cy="583333"/>
            </a:xfrm>
            <a:prstGeom prst="rtTriangl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ellipse"/>
            <p:cNvSpPr/>
            <p:nvPr/>
          </p:nvSpPr>
          <p:spPr>
            <a:xfrm>
              <a:off x="2045133" y="4783253"/>
              <a:ext cx="583333" cy="58333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rect"/>
            <p:cNvSpPr/>
            <p:nvPr/>
          </p:nvSpPr>
          <p:spPr>
            <a:xfrm>
              <a:off x="2628466" y="5366586"/>
              <a:ext cx="583333" cy="583333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" name="group rot 30 &gt; group flipH"/>
          <p:cNvGrpSpPr/>
          <p:nvPr/>
        </p:nvGrpSpPr>
        <p:grpSpPr>
          <a:xfrm rot="1800000">
            <a:off x="5221000" y="4199920"/>
            <a:ext cx="1750000" cy="1750000"/>
            <a:chOff x="5221000" y="4199920"/>
            <a:chExt cx="1750000" cy="1750000"/>
          </a:xfrm>
        </p:grpSpPr>
        <p:grpSp>
          <p:nvGrpSpPr>
            <p:cNvPr id="81" name="inner, flipH"/>
            <p:cNvGrpSpPr/>
            <p:nvPr/>
          </p:nvGrpSpPr>
          <p:grpSpPr>
            <a:xfrm flipH="1">
              <a:off x="5221000" y="4199920"/>
              <a:ext cx="1050000" cy="1050000"/>
              <a:chOff x="5221000" y="4199920"/>
              <a:chExt cx="1050000" cy="1050000"/>
            </a:xfrm>
          </p:grpSpPr>
          <p:sp>
            <p:nvSpPr>
              <p:cNvPr id="82" name="rtTriangle"/>
              <p:cNvSpPr/>
              <p:nvPr/>
            </p:nvSpPr>
            <p:spPr>
              <a:xfrm>
                <a:off x="5221000" y="4199920"/>
                <a:ext cx="350000" cy="350000"/>
              </a:xfrm>
              <a:prstGeom prst="rtTriangl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ellipse"/>
              <p:cNvSpPr/>
              <p:nvPr/>
            </p:nvSpPr>
            <p:spPr>
              <a:xfrm>
                <a:off x="5571000" y="4549920"/>
                <a:ext cx="350000" cy="350000"/>
              </a:xfrm>
              <a:prstGeom prst="ellipse">
                <a:avLst/>
              </a:prstGeom>
              <a:solidFill>
                <a:schemeClr val="accent4"/>
              </a:solid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4" name="rect"/>
              <p:cNvSpPr/>
              <p:nvPr/>
            </p:nvSpPr>
            <p:spPr>
              <a:xfrm>
                <a:off x="5921000" y="4899920"/>
                <a:ext cx="350000" cy="350000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5" name="sibling"/>
            <p:cNvSpPr/>
            <p:nvPr/>
          </p:nvSpPr>
          <p:spPr>
            <a:xfrm>
              <a:off x="6271000" y="5249920"/>
              <a:ext cx="700000" cy="700000"/>
            </a:xfrm>
            <a:prstGeom prst="rtTriangl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0" name="group, chOff far from off"/>
          <p:cNvGrpSpPr/>
          <p:nvPr/>
        </p:nvGrpSpPr>
        <p:grpSpPr>
          <a:xfrm>
            <a:off x="8980200" y="4199920"/>
            <a:ext cx="1750000" cy="1750000"/>
            <a:chOff x="5000000" y="5000000"/>
            <a:chExt cx="1750000" cy="1750000"/>
          </a:xfrm>
        </p:grpSpPr>
        <p:sp>
          <p:nvSpPr>
            <p:cNvPr id="91" name="rtTriangle"/>
            <p:cNvSpPr/>
            <p:nvPr/>
          </p:nvSpPr>
          <p:spPr>
            <a:xfrm>
              <a:off x="5000000" y="5000000"/>
              <a:ext cx="583333" cy="583333"/>
            </a:xfrm>
            <a:prstGeom prst="rtTriangl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ellipse"/>
            <p:cNvSpPr/>
            <p:nvPr/>
          </p:nvSpPr>
          <p:spPr>
            <a:xfrm>
              <a:off x="5583333" y="5583333"/>
              <a:ext cx="583333" cy="58333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rect"/>
            <p:cNvSpPr/>
            <p:nvPr/>
          </p:nvSpPr>
          <p:spPr>
            <a:xfrm>
              <a:off x="6166666" y="6166666"/>
              <a:ext cx="583333" cy="583333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2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a44 transforms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