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720"/>
            <a:ext cx="11277600" cy="518160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rotWithShape="1">
          <a:gsLst>
            <a:gs pos="0">
              <a:schemeClr val="lt1"/>
            </a:gs>
            <a:gs pos="100000">
              <a:schemeClr val="accent1">
                <a:tint val="2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>
        <a:defRPr sz="3200" b="1">
          <a:solidFill>
            <a:schemeClr val="tx1"/>
          </a:solidFill>
          <a:latin typeface="+mj-lt"/>
        </a:defRPr>
      </a:lvl1pPr>
    </p:titleStyle>
    <p:bodyStyle>
      <a:lvl1pPr marL="342900" indent="-342900">
        <a:buFont typeface="Arial"/>
        <a:buChar char="•"/>
        <a:defRPr sz="2000">
          <a:solidFill>
            <a:schemeClr val="tx1"/>
          </a:solidFill>
          <a:latin typeface="+mn-lt"/>
        </a:defRPr>
      </a:lvl1pPr>
      <a:lvl2pPr marL="742950" indent="-285750">
        <a:buFont typeface="Arial"/>
        <a:buChar char="–"/>
        <a:defRPr sz="1800">
          <a:solidFill>
            <a:schemeClr val="tx1"/>
          </a:solidFill>
          <a:latin typeface="+mn-lt"/>
        </a:defRPr>
      </a:lvl2pPr>
      <a:lvl3pPr marL="1143000" indent="-228600">
        <a:buFont typeface="Arial"/>
        <a:buChar char="•"/>
        <a:defRPr sz="1600">
          <a:solidFill>
            <a:schemeClr val="tx1"/>
          </a:solidFill>
          <a:latin typeface="+mn-lt"/>
        </a:defRPr>
      </a:lvl3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panel"/>
          <p:cNvSpPr/>
          <p:nvPr/>
        </p:nvSpPr>
        <p:spPr>
          <a:xfrm rot="900000">
            <a:off x="8686800" y="-457200"/>
            <a:ext cx="2743200" cy="7772400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Deck title"/>
          <p:cNvSpPr/>
          <p:nvPr/>
        </p:nvSpPr>
        <p:spPr>
          <a:xfrm>
            <a:off x="914400" y="2286000"/>
            <a:ext cx="7315200" cy="1143000"/>
          </a:xfrm>
          <a:prstGeom prst="rect">
            <a:avLst/>
          </a:prstGeom>
          <a:noFill/>
        </p:spPr>
        <p:txBody>
          <a:bodyPr wrap="square" anchor="b"/>
          <a:lstStyle/>
          <a:p>
            <a:r>
              <a:rPr sz="4400" b="1">
                <a:solidFill>
                  <a:schemeClr val="lt1"/>
                </a:solidFill>
              </a:rPr>
              <a:t>Northwind Analytics</a:t>
            </a:r>
          </a:p>
        </p:txBody>
      </p:sp>
      <p:sp>
        <p:nvSpPr>
          <p:cNvPr id="12" name="Deck subtitle"/>
          <p:cNvSpPr/>
          <p:nvPr/>
        </p:nvSpPr>
        <p:spPr>
          <a:xfrm>
            <a:off x="914400" y="34747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400">
                <a:solidFill>
                  <a:schemeClr val="lt1"/>
                </a:solidFill>
              </a:rPr>
              <a:t>FY26 operating review</a:t>
            </a:r>
          </a:p>
        </p:txBody>
      </p:sp>
      <p:sp>
        <p:nvSpPr>
          <p:cNvPr id="13" name="Audience"/>
          <p:cNvSpPr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400">
                <a:solidFill>
                  <a:schemeClr val="lt1">
                    <a:alpha val="80000"/>
                  </a:schemeClr>
                </a:solidFill>
              </a:rPr>
              <a:t>Prepared for the 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sz="2000"/>
              <a:t>Overview</a:t>
            </a:r>
          </a:p>
          <a:p>
            <a:pPr marL="457200" indent="-457200">
              <a:buFont typeface="+mj-lt"/>
              <a:buAutoNum type="arabicPeriod"/>
            </a:pPr>
            <a:r>
              <a:rPr sz="2000"/>
              <a:t>Market</a:t>
            </a:r>
          </a:p>
          <a:p>
            <a:pPr marL="457200" indent="-457200">
              <a:buFont typeface="+mj-lt"/>
              <a:buAutoNum type="arabicPeriod"/>
            </a:pPr>
            <a:r>
              <a:rPr sz="2000"/>
              <a:t>Product</a:t>
            </a:r>
          </a:p>
          <a:p>
            <a:pPr marL="457200" indent="-457200">
              <a:buFont typeface="+mj-lt"/>
              <a:buAutoNum type="arabicPeriod"/>
            </a:pPr>
            <a:r>
              <a:rPr sz="2000"/>
              <a:t>Customers</a:t>
            </a:r>
          </a:p>
          <a:p>
            <a:pPr marL="457200" indent="-457200">
              <a:buFont typeface="+mj-lt"/>
              <a:buAutoNum type="arabicPeriod"/>
            </a:pPr>
            <a:r>
              <a:rPr sz="2000"/>
              <a:t>Operations</a:t>
            </a:r>
          </a:p>
          <a:p>
            <a:pPr marL="457200" indent="-457200">
              <a:buFont typeface="+mj-lt"/>
              <a:buAutoNum type="arabicPeriod"/>
            </a:pPr>
            <a:r>
              <a:rPr sz="2000"/>
              <a:t>Finance</a:t>
            </a:r>
          </a:p>
          <a:p>
            <a:pPr marL="457200" indent="-457200">
              <a:buFont typeface="+mj-lt"/>
              <a:buAutoNum type="arabicPeriod"/>
            </a:pPr>
            <a:r>
              <a:rPr sz="2000"/>
              <a:t>People</a:t>
            </a:r>
          </a:p>
          <a:p>
            <a:pPr marL="457200" indent="-457200">
              <a:buFont typeface="+mj-lt"/>
              <a:buAutoNum type="arabicPeriod"/>
            </a:pPr>
            <a:r>
              <a:rPr sz="2000"/>
              <a:t>Roadmap</a:t>
            </a:r>
          </a:p>
        </p:txBody>
      </p:sp>
      <p:sp>
        <p:nvSpPr>
          <p:cNvPr id="9" name="Slide Number 2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02}" type="slidenum">
              <a:rPr sz="1000"/>
              <a:t>2</a:t>
            </a:fld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accent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pter number"/>
          <p:cNvSpPr/>
          <p:nvPr/>
        </p:nvSpPr>
        <p:spPr>
          <a:xfrm>
            <a:off x="914400" y="1828800"/>
            <a:ext cx="3657600" cy="1828800"/>
          </a:xfrm>
          <a:prstGeom prst="rect">
            <a:avLst/>
          </a:prstGeom>
          <a:noFill/>
        </p:spPr>
        <p:txBody>
          <a:bodyPr wrap="square" anchor="b"/>
          <a:lstStyle/>
          <a:p>
            <a:r>
              <a:rPr sz="6000" b="1">
                <a:solidFill>
                  <a:schemeClr val="lt1"/>
                </a:solidFill>
              </a:rPr>
              <a:t>01</a:t>
            </a:r>
          </a:p>
        </p:txBody>
      </p:sp>
      <p:sp>
        <p:nvSpPr>
          <p:cNvPr id="11" name="Chapter title"/>
          <p:cNvSpPr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600">
                <a:solidFill>
                  <a:schemeClr val="lt1"/>
                </a:solidFill>
              </a:rPr>
              <a:t>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Overview: by region</a:t>
            </a:r>
          </a:p>
        </p:txBody>
      </p:sp>
      <p:sp>
        <p:nvSpPr>
          <p:cNvPr id="10" name="rect 1"/>
          <p:cNvSpPr/>
          <p:nvPr/>
        </p:nvSpPr>
        <p:spPr>
          <a:xfrm>
            <a:off x="548640" y="1280160"/>
            <a:ext cx="2636520" cy="15443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22.7m actual</a:t>
            </a:r>
          </a:p>
        </p:txBody>
      </p:sp>
      <p:sp>
        <p:nvSpPr>
          <p:cNvPr id="11" name="roundRect 2"/>
          <p:cNvSpPr/>
          <p:nvPr/>
        </p:nvSpPr>
        <p:spPr>
          <a:xfrm>
            <a:off x="3368040" y="1280160"/>
            <a:ext cx="2636520" cy="1544320"/>
          </a:xfrm>
          <a:prstGeom prst="roundRect">
            <a:avLst/>
          </a:prstGeom>
          <a:gradFill rotWithShape="1">
            <a:gsLst>
              <a:gs pos="0">
                <a:schemeClr val="accent2">
                  <a:tint val="40000"/>
                </a:schemeClr>
              </a:gs>
              <a:gs pos="100000">
                <a:schemeClr val="accent2"/>
              </a:gs>
            </a:gsLst>
            <a:lin ang="5400000" scaled="0"/>
          </a:gradFill>
          <a:ln w="28575">
            <a:solidFill>
              <a:schemeClr val="accent2">
                <a:shade val="50000"/>
              </a:schemeClr>
            </a:solidFill>
            <a:prstDash val="dash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16.1x actual</a:t>
            </a:r>
          </a:p>
        </p:txBody>
      </p:sp>
      <p:sp>
        <p:nvSpPr>
          <p:cNvPr id="12" name="ellipse 3"/>
          <p:cNvSpPr/>
          <p:nvPr/>
        </p:nvSpPr>
        <p:spPr>
          <a:xfrm rot="1800000">
            <a:off x="6187440" y="1280160"/>
            <a:ext cx="2636520" cy="1544320"/>
          </a:xfrm>
          <a:prstGeom prst="ellipse">
            <a:avLst/>
          </a:prstGeom>
          <a:gradFill rotWithShape="1">
            <a:gsLst>
              <a:gs pos="0">
                <a:schemeClr val="lt1"/>
              </a:gs>
              <a:gs pos="100000">
                <a:schemeClr val="accent3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55.4% QoQ</a:t>
            </a:r>
          </a:p>
        </p:txBody>
      </p:sp>
      <p:sp>
        <p:nvSpPr>
          <p:cNvPr id="13" name="triangle 4"/>
          <p:cNvSpPr/>
          <p:nvPr/>
        </p:nvSpPr>
        <p:spPr>
          <a:xfrm>
            <a:off x="9006840" y="1280160"/>
            <a:ext cx="2636520" cy="1544320"/>
          </a:xfrm>
          <a:prstGeom prst="triangle">
            <a:avLst/>
          </a:prstGeom>
          <a:pattFill prst="pct25">
            <a:fgClr>
              <a:schemeClr val="accent4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45.8m QoQ</a:t>
            </a:r>
          </a:p>
        </p:txBody>
      </p:sp>
      <p:sp>
        <p:nvSpPr>
          <p:cNvPr id="14" name="diamond 5"/>
          <p:cNvSpPr/>
          <p:nvPr/>
        </p:nvSpPr>
        <p:spPr>
          <a:xfrm>
            <a:off x="548640" y="3007360"/>
            <a:ext cx="2636520" cy="1544320"/>
          </a:xfrm>
          <a:prstGeom prst="diamond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40.9d QoQ</a:t>
            </a:r>
          </a:p>
        </p:txBody>
      </p:sp>
      <p:sp>
        <p:nvSpPr>
          <p:cNvPr id="15" name="hexagon 6"/>
          <p:cNvSpPr/>
          <p:nvPr/>
        </p:nvSpPr>
        <p:spPr>
          <a:xfrm rot="900000">
            <a:off x="3368040" y="3007360"/>
            <a:ext cx="2636520" cy="1544320"/>
          </a:xfrm>
          <a:prstGeom prst="hexagon">
            <a:avLst/>
          </a:prstGeom>
          <a:gradFill rotWithShape="1">
            <a:gsLst>
              <a:gs pos="0">
                <a:schemeClr val="accent6">
                  <a:tint val="40000"/>
                </a:schemeClr>
              </a:gs>
              <a:gs pos="100000">
                <a:schemeClr val="accent6"/>
              </a:gs>
            </a:gsLst>
            <a:lin ang="5400000" scaled="0"/>
          </a:gradFill>
          <a:ln w="28575">
            <a:solidFill>
              <a:schemeClr val="accent6">
                <a:shade val="50000"/>
              </a:schemeClr>
            </a:solidFill>
            <a:prstDash val="dash"/>
          </a:ln>
          <a:effectLst>
            <a:glow rad="63500">
              <a:schemeClr val="accent1">
                <a:alpha val="40000"/>
              </a:schemeClr>
            </a:glo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36.3m actual</a:t>
            </a:r>
          </a:p>
        </p:txBody>
      </p:sp>
      <p:sp>
        <p:nvSpPr>
          <p:cNvPr id="16" name="star5 7"/>
          <p:cNvSpPr/>
          <p:nvPr/>
        </p:nvSpPr>
        <p:spPr>
          <a:xfrm>
            <a:off x="6187440" y="3007360"/>
            <a:ext cx="2636520" cy="1544320"/>
          </a:xfrm>
          <a:prstGeom prst="star5">
            <a:avLst/>
          </a:prstGeom>
          <a:gradFill rotWithShape="1">
            <a:gsLst>
              <a:gs pos="0">
                <a:schemeClr val="lt1"/>
              </a:gs>
              <a:gs pos="100000">
                <a:schemeClr val="accent1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21.9pts QoQ</a:t>
            </a:r>
          </a:p>
        </p:txBody>
      </p:sp>
      <p:sp>
        <p:nvSpPr>
          <p:cNvPr id="17" name="rightArrow 8"/>
          <p:cNvSpPr/>
          <p:nvPr/>
        </p:nvSpPr>
        <p:spPr>
          <a:xfrm flipH="1">
            <a:off x="9006840" y="3007360"/>
            <a:ext cx="2636520" cy="1544320"/>
          </a:xfrm>
          <a:prstGeom prst="rightArrow">
            <a:avLst/>
          </a:prstGeom>
          <a:pattFill prst="dkUpDiag">
            <a:fgClr>
              <a:schemeClr val="accent2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53.8m actual</a:t>
            </a:r>
          </a:p>
        </p:txBody>
      </p:sp>
      <p:sp>
        <p:nvSpPr>
          <p:cNvPr id="18" name="chevron 9"/>
          <p:cNvSpPr/>
          <p:nvPr/>
        </p:nvSpPr>
        <p:spPr>
          <a:xfrm rot="0">
            <a:off x="548640" y="4734560"/>
            <a:ext cx="2636520" cy="1544320"/>
          </a:xfrm>
          <a:prstGeom prst="chevron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49.2d target</a:t>
            </a:r>
          </a:p>
        </p:txBody>
      </p:sp>
      <p:sp>
        <p:nvSpPr>
          <p:cNvPr id="19" name="cloud 10"/>
          <p:cNvSpPr/>
          <p:nvPr/>
        </p:nvSpPr>
        <p:spPr>
          <a:xfrm>
            <a:off x="3368040" y="4734560"/>
            <a:ext cx="2636520" cy="1544320"/>
          </a:xfrm>
          <a:prstGeom prst="cloud">
            <a:avLst/>
          </a:prstGeom>
          <a:gradFill rotWithShape="1">
            <a:gsLst>
              <a:gs pos="0">
                <a:schemeClr val="accent4">
                  <a:tint val="40000"/>
                </a:schemeClr>
              </a:gs>
              <a:gs pos="100000">
                <a:schemeClr val="accent4"/>
              </a:gs>
            </a:gsLst>
            <a:lin ang="5400000" scaled="0"/>
          </a:gradFill>
          <a:ln w="28575">
            <a:solidFill>
              <a:schemeClr val="accent4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7.2k target</a:t>
            </a:r>
          </a:p>
        </p:txBody>
      </p:sp>
      <p:sp>
        <p:nvSpPr>
          <p:cNvPr id="20" name="heart 11"/>
          <p:cNvSpPr/>
          <p:nvPr/>
        </p:nvSpPr>
        <p:spPr>
          <a:xfrm>
            <a:off x="6187440" y="4734560"/>
            <a:ext cx="2636520" cy="1544320"/>
          </a:xfrm>
          <a:prstGeom prst="heart">
            <a:avLst/>
          </a:prstGeom>
          <a:gradFill rotWithShape="1">
            <a:gsLst>
              <a:gs pos="0">
                <a:schemeClr val="lt1"/>
              </a:gs>
              <a:gs pos="100000">
                <a:schemeClr val="accent5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84.1k YoY</a:t>
            </a:r>
          </a:p>
        </p:txBody>
      </p:sp>
      <p:grpSp>
        <p:nvGrpSpPr>
          <p:cNvPr id="30" name="Grouped trio"/>
          <p:cNvGrpSpPr/>
          <p:nvPr/>
        </p:nvGrpSpPr>
        <p:grpSpPr>
          <a:xfrm rot="1200000">
            <a:off x="9006840" y="4734560"/>
            <a:ext cx="2636520" cy="1544320"/>
            <a:chOff x="9006840" y="4734560"/>
            <a:chExt cx="2636520" cy="1544320"/>
          </a:xfrm>
        </p:grpSpPr>
        <p:sp>
          <p:nvSpPr>
            <p:cNvPr id="31" name="Leaf 1"/>
            <p:cNvSpPr/>
            <p:nvPr/>
          </p:nvSpPr>
          <p:spPr>
            <a:xfrm>
              <a:off x="9006840" y="4734560"/>
              <a:ext cx="833120" cy="1158240"/>
            </a:xfrm>
            <a:prstGeom prst="ellipse">
              <a:avLst/>
            </a:prstGeom>
            <a:solidFill>
              <a:schemeClr val="accent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Leaf 2"/>
            <p:cNvSpPr/>
            <p:nvPr/>
          </p:nvSpPr>
          <p:spPr>
            <a:xfrm>
              <a:off x="9885680" y="5120640"/>
              <a:ext cx="833120" cy="1158240"/>
            </a:xfrm>
            <a:prstGeom prst="roundRect">
              <a:avLst/>
            </a:prstGeom>
            <a:solidFill>
              <a:schemeClr val="accent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Leaf 3"/>
            <p:cNvSpPr/>
            <p:nvPr/>
          </p:nvSpPr>
          <p:spPr>
            <a:xfrm>
              <a:off x="10764520" y="4734560"/>
              <a:ext cx="833120" cy="1158240"/>
            </a:xfrm>
            <a:prstGeom prst="diamond">
              <a:avLst/>
            </a:prstGeom>
            <a:solidFill>
              <a:schemeClr val="accent3"/>
            </a:solidFill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40" name="Straight Arrow Connector 40"/>
          <p:cNvCxnSpPr>
            <a:cxnSpLocks/>
          </p:cNvCxnSpPr>
          <p:nvPr/>
        </p:nvCxnSpPr>
        <p:spPr>
          <a:xfrm>
            <a:off x="1866900" y="2824480"/>
            <a:ext cx="0" cy="18288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9" name="Slide Number 4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04}" type="slidenum">
              <a:rPr sz="1000"/>
              <a:t>4</a:t>
            </a:fld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Rule"/>
          <p:cNvCxnSpPr>
            <a:cxnSpLocks/>
          </p:cNvCxnSpPr>
          <p:nvPr/>
        </p:nvCxnSpPr>
        <p:spPr>
          <a:xfrm>
            <a:off x="1828800" y="1600200"/>
            <a:ext cx="8534400" cy="0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</p:cxnSp>
      <p:sp>
        <p:nvSpPr>
          <p:cNvPr id="11" name="Quotation"/>
          <p:cNvSpPr/>
          <p:nvPr/>
        </p:nvSpPr>
        <p:spPr>
          <a:xfrm>
            <a:off x="1371600" y="1828800"/>
            <a:ext cx="9448800" cy="2743200"/>
          </a:xfrm>
          <a:prstGeom prst="rect">
            <a:avLst/>
          </a:prstGeom>
          <a:noFill/>
        </p:spPr>
        <p:txBody>
          <a:bodyPr wrap="square" lIns="360000" tIns="360000" rIns="360000" bIns="360000" anchor="ctr"/>
          <a:lstStyle/>
          <a:p>
            <a:pPr algn="ctr"/>
            <a:r>
              <a:rPr sz="2800" i="1"/>
              <a:t>“Release cadence grew 31.6x, before the effect of the board case. Net retention held at 84.5pts, in line with the prior quarter.”</a:t>
            </a:r>
          </a:p>
        </p:txBody>
      </p:sp>
      <p:sp>
        <p:nvSpPr>
          <p:cNvPr id="12" name="Attribution"/>
          <p:cNvSpPr/>
          <p:nvPr/>
        </p:nvSpPr>
        <p:spPr>
          <a:xfrm>
            <a:off x="1371600" y="4663440"/>
            <a:ext cx="9448800" cy="640080"/>
          </a:xfrm>
          <a:prstGeom prst="rect">
            <a:avLst/>
          </a:prstGeom>
          <a:noFill/>
        </p:spPr>
        <p:txBody>
          <a:bodyPr wrap="square" anchor="b"/>
          <a:lstStyle/>
          <a:p>
            <a:pPr algn="r"/>
            <a:r>
              <a:rPr sz="1400">
                <a:solidFill>
                  <a:schemeClr val="tx2"/>
                </a:solidFill>
              </a:rPr>
              <a:t>L. Bernard, Finance</a:t>
            </a:r>
          </a:p>
        </p:txBody>
      </p:sp>
      <p:sp>
        <p:nvSpPr>
          <p:cNvPr id="9" name="Slide Number 5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05}" type="slidenum">
              <a:rPr sz="1000"/>
              <a:t>5</a:t>
            </a:fld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Overview: by region</a:t>
            </a:r>
          </a:p>
        </p:txBody>
      </p:sp>
      <p:sp>
        <p:nvSpPr>
          <p:cNvPr id="10" name="Bar 1"/>
          <p:cNvSpPr/>
          <p:nvPr/>
        </p:nvSpPr>
        <p:spPr>
          <a:xfrm>
            <a:off x="739140" y="3840480"/>
            <a:ext cx="845820" cy="14630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0" name="Value 1"/>
          <p:cNvSpPr/>
          <p:nvPr/>
        </p:nvSpPr>
        <p:spPr>
          <a:xfrm>
            <a:off x="739140" y="34747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81.9m</a:t>
            </a:r>
          </a:p>
        </p:txBody>
      </p:sp>
      <p:sp>
        <p:nvSpPr>
          <p:cNvPr id="30" name="Label 1"/>
          <p:cNvSpPr/>
          <p:nvPr/>
        </p:nvSpPr>
        <p:spPr>
          <a:xfrm>
            <a:off x="7391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25</a:t>
            </a:r>
          </a:p>
        </p:txBody>
      </p:sp>
      <p:sp>
        <p:nvSpPr>
          <p:cNvPr id="11" name="Bar 2"/>
          <p:cNvSpPr/>
          <p:nvPr/>
        </p:nvSpPr>
        <p:spPr>
          <a:xfrm>
            <a:off x="2148840" y="3749040"/>
            <a:ext cx="845820" cy="15544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1" name="Value 2"/>
          <p:cNvSpPr/>
          <p:nvPr/>
        </p:nvSpPr>
        <p:spPr>
          <a:xfrm>
            <a:off x="2148840" y="33832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23.3pts</a:t>
            </a:r>
          </a:p>
        </p:txBody>
      </p:sp>
      <p:sp>
        <p:nvSpPr>
          <p:cNvPr id="31" name="Label 2"/>
          <p:cNvSpPr/>
          <p:nvPr/>
        </p:nvSpPr>
        <p:spPr>
          <a:xfrm>
            <a:off x="21488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25</a:t>
            </a:r>
          </a:p>
        </p:txBody>
      </p:sp>
      <p:sp>
        <p:nvSpPr>
          <p:cNvPr id="12" name="Bar 3"/>
          <p:cNvSpPr/>
          <p:nvPr/>
        </p:nvSpPr>
        <p:spPr>
          <a:xfrm>
            <a:off x="3558540" y="3200400"/>
            <a:ext cx="845820" cy="21031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2" name="Value 3"/>
          <p:cNvSpPr/>
          <p:nvPr/>
        </p:nvSpPr>
        <p:spPr>
          <a:xfrm>
            <a:off x="3558540" y="28346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64.1d</a:t>
            </a:r>
          </a:p>
        </p:txBody>
      </p:sp>
      <p:sp>
        <p:nvSpPr>
          <p:cNvPr id="32" name="Label 3"/>
          <p:cNvSpPr/>
          <p:nvPr/>
        </p:nvSpPr>
        <p:spPr>
          <a:xfrm>
            <a:off x="35585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25</a:t>
            </a:r>
          </a:p>
        </p:txBody>
      </p:sp>
      <p:sp>
        <p:nvSpPr>
          <p:cNvPr id="13" name="Bar 4"/>
          <p:cNvSpPr/>
          <p:nvPr/>
        </p:nvSpPr>
        <p:spPr>
          <a:xfrm>
            <a:off x="4968240" y="4663440"/>
            <a:ext cx="845820" cy="6400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3" name="Value 4"/>
          <p:cNvSpPr/>
          <p:nvPr/>
        </p:nvSpPr>
        <p:spPr>
          <a:xfrm>
            <a:off x="4968240" y="42976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49.5pts</a:t>
            </a:r>
          </a:p>
        </p:txBody>
      </p:sp>
      <p:sp>
        <p:nvSpPr>
          <p:cNvPr id="33" name="Label 4"/>
          <p:cNvSpPr/>
          <p:nvPr/>
        </p:nvSpPr>
        <p:spPr>
          <a:xfrm>
            <a:off x="49682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25</a:t>
            </a:r>
          </a:p>
        </p:txBody>
      </p:sp>
      <p:sp>
        <p:nvSpPr>
          <p:cNvPr id="14" name="Bar 5"/>
          <p:cNvSpPr/>
          <p:nvPr/>
        </p:nvSpPr>
        <p:spPr>
          <a:xfrm>
            <a:off x="6377940" y="1920240"/>
            <a:ext cx="845820" cy="33832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4" name="Value 5"/>
          <p:cNvSpPr/>
          <p:nvPr/>
        </p:nvSpPr>
        <p:spPr>
          <a:xfrm>
            <a:off x="6377940" y="15544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4.3x</a:t>
            </a:r>
          </a:p>
        </p:txBody>
      </p:sp>
      <p:sp>
        <p:nvSpPr>
          <p:cNvPr id="34" name="Label 5"/>
          <p:cNvSpPr/>
          <p:nvPr/>
        </p:nvSpPr>
        <p:spPr>
          <a:xfrm>
            <a:off x="63779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26</a:t>
            </a:r>
          </a:p>
        </p:txBody>
      </p:sp>
      <p:sp>
        <p:nvSpPr>
          <p:cNvPr id="15" name="Bar 6"/>
          <p:cNvSpPr/>
          <p:nvPr/>
        </p:nvSpPr>
        <p:spPr>
          <a:xfrm>
            <a:off x="7787640" y="2651760"/>
            <a:ext cx="845820" cy="26517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5" name="Value 6"/>
          <p:cNvSpPr/>
          <p:nvPr/>
        </p:nvSpPr>
        <p:spPr>
          <a:xfrm>
            <a:off x="7787640" y="22860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52.5pts</a:t>
            </a:r>
          </a:p>
        </p:txBody>
      </p:sp>
      <p:sp>
        <p:nvSpPr>
          <p:cNvPr id="35" name="Label 6"/>
          <p:cNvSpPr/>
          <p:nvPr/>
        </p:nvSpPr>
        <p:spPr>
          <a:xfrm>
            <a:off x="77876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26</a:t>
            </a:r>
          </a:p>
        </p:txBody>
      </p:sp>
      <p:sp>
        <p:nvSpPr>
          <p:cNvPr id="16" name="Bar 7"/>
          <p:cNvSpPr/>
          <p:nvPr/>
        </p:nvSpPr>
        <p:spPr>
          <a:xfrm>
            <a:off x="9197340" y="3200400"/>
            <a:ext cx="845820" cy="21031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6" name="Value 7"/>
          <p:cNvSpPr/>
          <p:nvPr/>
        </p:nvSpPr>
        <p:spPr>
          <a:xfrm>
            <a:off x="9197340" y="28346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68.8d</a:t>
            </a:r>
          </a:p>
        </p:txBody>
      </p:sp>
      <p:sp>
        <p:nvSpPr>
          <p:cNvPr id="36" name="Label 7"/>
          <p:cNvSpPr/>
          <p:nvPr/>
        </p:nvSpPr>
        <p:spPr>
          <a:xfrm>
            <a:off x="91973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26</a:t>
            </a:r>
          </a:p>
        </p:txBody>
      </p:sp>
      <p:sp>
        <p:nvSpPr>
          <p:cNvPr id="17" name="Bar 8"/>
          <p:cNvSpPr/>
          <p:nvPr/>
        </p:nvSpPr>
        <p:spPr>
          <a:xfrm>
            <a:off x="10607040" y="4754880"/>
            <a:ext cx="845820" cy="5486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7" name="Value 8"/>
          <p:cNvSpPr/>
          <p:nvPr/>
        </p:nvSpPr>
        <p:spPr>
          <a:xfrm>
            <a:off x="10607040" y="43891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16.2k</a:t>
            </a:r>
          </a:p>
        </p:txBody>
      </p:sp>
      <p:sp>
        <p:nvSpPr>
          <p:cNvPr id="37" name="Label 8"/>
          <p:cNvSpPr/>
          <p:nvPr/>
        </p:nvSpPr>
        <p:spPr>
          <a:xfrm>
            <a:off x="106070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26</a:t>
            </a:r>
          </a:p>
        </p:txBody>
      </p:sp>
      <p:cxnSp>
        <p:nvCxnSpPr>
          <p:cNvPr id="40" name="Baseline"/>
          <p:cNvCxnSpPr>
            <a:cxnSpLocks/>
          </p:cNvCxnSpPr>
          <p:nvPr/>
        </p:nvCxnSpPr>
        <p:spPr>
          <a:xfrm>
            <a:off x="457200" y="5303520"/>
            <a:ext cx="112776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</p:cxnSp>
      <p:sp>
        <p:nvSpPr>
          <p:cNvPr id="41" name="Axis title"/>
          <p:cNvSpPr/>
          <p:nvPr/>
        </p:nvSpPr>
        <p:spPr>
          <a:xfrm>
            <a:off x="457200" y="5715000"/>
            <a:ext cx="1127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i="1"/>
              <a:t>Release cadence closed the quarter at 77.9d, by quarter</a:t>
            </a:r>
          </a:p>
        </p:txBody>
      </p:sp>
      <p:sp>
        <p:nvSpPr>
          <p:cNvPr id="9" name="Slide Number 6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06}" type="slidenum">
              <a:rPr sz="1000"/>
              <a:t>6</a:t>
            </a:fld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Overview: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Pipeline coverage closed the quarter at 73.3pts, before the effect of the board case.</a:t>
            </a:r>
          </a:p>
          <a:p>
            <a:r>
              <a:rPr sz="2000"/>
              <a:t>Churn grew 61.5%, before the effect of the revised model.</a:t>
            </a:r>
          </a:p>
          <a:p>
            <a:pPr lvl="1"/>
            <a:r>
              <a:rPr sz="1800"/>
              <a:t>Uptime reached 92.9pts</a:t>
            </a:r>
          </a:p>
          <a:p>
            <a:pPr lvl="1"/>
            <a:r>
              <a:rPr sz="1800"/>
              <a:t>Backlog slipped to 74.9m</a:t>
            </a:r>
          </a:p>
          <a:p>
            <a:r>
              <a:rPr sz="2000"/>
              <a:t>Cycle time reached 54.1d, before the effect of the forecast.</a:t>
            </a:r>
          </a:p>
          <a:p>
            <a:pPr lvl="1"/>
            <a:r>
              <a:rPr sz="1800"/>
              <a:t>Deal size grew 57.3x</a:t>
            </a:r>
          </a:p>
          <a:p>
            <a:r>
              <a:rPr sz="2000"/>
              <a:t>Churn moved to 90.5k, ahead of the prior quarter.</a:t>
            </a:r>
          </a:p>
          <a:p>
            <a:r>
              <a:rPr sz="2000"/>
              <a:t>Renewal rate moved to 62.2d, in line with the target.</a:t>
            </a:r>
          </a:p>
          <a:p>
            <a:r>
              <a:rPr sz="2000"/>
              <a:t>Renewal rate grew 38.3%, two points over the target.</a:t>
            </a:r>
          </a:p>
          <a:p>
            <a:pPr lvl="1"/>
            <a:r>
              <a:rPr sz="1800"/>
              <a:t>Uptime held at 33.6d</a:t>
            </a:r>
          </a:p>
          <a:p>
            <a:pPr lvl="1"/>
            <a:r>
              <a:rPr sz="1800"/>
              <a:t>Revenue settled at 80.6%</a:t>
            </a:r>
          </a:p>
        </p:txBody>
      </p:sp>
      <p:sp>
        <p:nvSpPr>
          <p:cNvPr id="9" name="Slide Number 7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07}" type="slidenum">
              <a:rPr sz="1000"/>
              <a:t>7</a:t>
            </a:fld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Overview: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Revenue settled at 94.1x, against the board case.</a:t>
            </a:r>
          </a:p>
          <a:p>
            <a:pPr lvl="1"/>
            <a:r>
              <a:rPr sz="1800"/>
              <a:t>Cycle time moved to 17.2x</a:t>
            </a:r>
          </a:p>
          <a:p>
            <a:pPr lvl="1"/>
            <a:r>
              <a:rPr sz="1800"/>
              <a:t>Uptime closed the quarter at 47.2m</a:t>
            </a:r>
          </a:p>
          <a:p>
            <a:pPr lvl="1"/>
            <a:r>
              <a:rPr sz="1800"/>
              <a:t>Pipeline coverage held at 9.5m</a:t>
            </a:r>
          </a:p>
          <a:p>
            <a:r>
              <a:rPr sz="2000"/>
              <a:t>Support volume held at 85.8pts, before the effect of last year.</a:t>
            </a:r>
          </a:p>
          <a:p>
            <a:pPr lvl="1"/>
            <a:r>
              <a:rPr sz="1800"/>
              <a:t>Net retention grew 45.8m</a:t>
            </a:r>
          </a:p>
          <a:p>
            <a:pPr lvl="1"/>
            <a:r>
              <a:rPr sz="1800"/>
              <a:t>Net retention held at 92.7x</a:t>
            </a:r>
          </a:p>
          <a:p>
            <a:r>
              <a:rPr sz="2000"/>
              <a:t>Headcount held at 49.5%, two points over the prior quarter.</a:t>
            </a:r>
          </a:p>
          <a:p>
            <a:r>
              <a:rPr sz="2000"/>
              <a:t>Unit cost settled at 81.3pts, in line with the plan.</a:t>
            </a:r>
          </a:p>
          <a:p>
            <a:r>
              <a:rPr sz="2000"/>
              <a:t>Net retention moved to 1.7x, ahead of the forecast.</a:t>
            </a:r>
          </a:p>
        </p:txBody>
      </p:sp>
      <p:sp>
        <p:nvSpPr>
          <p:cNvPr id="9" name="Slide Number 8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08}" type="slidenum">
              <a:rPr sz="1000"/>
              <a:t>8</a:t>
            </a:fld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Overview: what changed</a:t>
            </a:r>
          </a:p>
        </p:txBody>
      </p:sp>
      <p:sp>
        <p:nvSpPr>
          <p:cNvPr id="10" name="Left column"/>
          <p:cNvSpPr/>
          <p:nvPr/>
        </p:nvSpPr>
        <p:spPr>
          <a:xfrm>
            <a:off x="4572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/>
              <a:t>Renewal rate improved to 90.3pts</a:t>
            </a:r>
            <a:r>
              <a:rPr sz="1600"/>
              <a:t> — </a:t>
            </a:r>
            <a:r>
              <a:rPr sz="1600"/>
              <a:t>Net retention closed the quarter at 63.9%, against last year.</a:t>
            </a:r>
          </a:p>
          <a:p>
            <a:r>
              <a:rPr sz="1400" i="1"/>
              <a:t>Read across: </a:t>
            </a:r>
            <a:r>
              <a:rPr sz="1400"/>
              <a:t>Onboarding time improved to 91.8%, ahead of last year.</a:t>
            </a:r>
            <a:r>
              <a:rPr sz="1400" u="sng"/>
              <a:t> Footnote</a:t>
            </a:r>
            <a:r>
              <a:rPr sz="1400" baseline="30000"/>
              <a:t>1</a:t>
            </a:r>
          </a:p>
          <a:p>
            <a:r>
              <a:rPr sz="1200" cap="all" spc="100">
                <a:solidFill>
                  <a:schemeClr val="accent2"/>
                </a:solidFill>
              </a:rPr>
              <a:t>Watch</a:t>
            </a:r>
            <a:br>
              <a:rPr sz="1200"/>
            </a:br>
            <a:r>
              <a:rPr sz="1400"/>
              <a:t>Cloud spend moved to 15.4d, ahead of the target.</a:t>
            </a:r>
          </a:p>
        </p:txBody>
      </p:sp>
      <p:sp>
        <p:nvSpPr>
          <p:cNvPr id="11" name="Right column"/>
          <p:cNvSpPr/>
          <p:nvPr/>
        </p:nvSpPr>
        <p:spPr>
          <a:xfrm>
            <a:off x="62484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pPr algn="just"/>
            <a:r>
              <a:rPr sz="1400"/>
              <a:t>Release cadence slipped to 39.9pts, with the prior quarter still to land. Onboarding time moved to 64.4m, before the effect of the revised model.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Deal size improved to 62.4x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Uptime improved to 50.2m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Cycle time grew 55.9m</a:t>
            </a:r>
          </a:p>
        </p:txBody>
      </p:sp>
      <p:sp>
        <p:nvSpPr>
          <p:cNvPr id="9" name="Slide Number 9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09}" type="slidenum">
              <a:rPr sz="1000"/>
              <a:t>9</a:t>
            </a:fld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Overview: what changed</a:t>
            </a:r>
          </a:p>
        </p:txBody>
      </p:sp>
      <p:pic>
        <p:nvPicPr>
          <p:cNvPr id="10" name="Site photograph" descr="Hills under a morning 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" name="Caption"/>
          <p:cNvSpPr/>
          <p:nvPr/>
        </p:nvSpPr>
        <p:spPr>
          <a:xfrm>
            <a:off x="457200" y="53949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i="1"/>
              <a:t>Figure 1. Support volume improved to 20.5d.</a:t>
            </a:r>
          </a:p>
        </p:txBody>
      </p:sp>
      <p:sp>
        <p:nvSpPr>
          <p:cNvPr id="12" name="Aside"/>
          <p:cNvSpPr/>
          <p:nvPr/>
        </p:nvSpPr>
        <p:spPr>
          <a:xfrm>
            <a:off x="8077200" y="1188720"/>
            <a:ext cx="36576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/>
              <a:t>Onboarding time held at 71.1x, before the effect of the target.</a:t>
            </a:r>
          </a:p>
          <a:p>
            <a:r>
              <a:rPr sz="1600"/>
              <a:t>Renewal rate reached 3.7d, before the effect of the target.</a:t>
            </a:r>
          </a:p>
        </p:txBody>
      </p:sp>
      <p:sp>
        <p:nvSpPr>
          <p:cNvPr id="9" name="Slide Number 10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10}" type="slidenum">
              <a:rPr sz="1000"/>
              <a:t>10</a:t>
            </a:fld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Overview: what changed</a:t>
            </a:r>
          </a:p>
        </p:txBody>
      </p:sp>
      <p:sp>
        <p:nvSpPr>
          <p:cNvPr id="10" name="roundRect 1"/>
          <p:cNvSpPr/>
          <p:nvPr/>
        </p:nvSpPr>
        <p:spPr>
          <a:xfrm>
            <a:off x="548640" y="1280160"/>
            <a:ext cx="2636520" cy="1544320"/>
          </a:xfrm>
          <a:prstGeom prst="roundRect">
            <a:avLst/>
          </a:prstGeom>
          <a:gradFill rotWithShape="1">
            <a:gsLst>
              <a:gs pos="0">
                <a:schemeClr val="accent1">
                  <a:tint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28575">
            <a:solidFill>
              <a:schemeClr val="accent1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85.8pts actual</a:t>
            </a:r>
          </a:p>
        </p:txBody>
      </p:sp>
      <p:sp>
        <p:nvSpPr>
          <p:cNvPr id="11" name="ellipse 2"/>
          <p:cNvSpPr/>
          <p:nvPr/>
        </p:nvSpPr>
        <p:spPr>
          <a:xfrm>
            <a:off x="3368040" y="1280160"/>
            <a:ext cx="2636520" cy="1544320"/>
          </a:xfrm>
          <a:prstGeom prst="ellipse">
            <a:avLst/>
          </a:prstGeom>
          <a:gradFill rotWithShape="1">
            <a:gsLst>
              <a:gs pos="0">
                <a:schemeClr val="lt1"/>
              </a:gs>
              <a:gs pos="100000">
                <a:schemeClr val="accent2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4.9x target</a:t>
            </a:r>
          </a:p>
        </p:txBody>
      </p:sp>
      <p:sp>
        <p:nvSpPr>
          <p:cNvPr id="12" name="triangle 3"/>
          <p:cNvSpPr/>
          <p:nvPr/>
        </p:nvSpPr>
        <p:spPr>
          <a:xfrm rot="2700000">
            <a:off x="6187440" y="1280160"/>
            <a:ext cx="2636520" cy="1544320"/>
          </a:xfrm>
          <a:prstGeom prst="triangle">
            <a:avLst/>
          </a:prstGeom>
          <a:pattFill prst="smGrid">
            <a:fgClr>
              <a:schemeClr val="accent3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91.4x QoQ</a:t>
            </a:r>
          </a:p>
        </p:txBody>
      </p:sp>
      <p:sp>
        <p:nvSpPr>
          <p:cNvPr id="13" name="diamond 4"/>
          <p:cNvSpPr/>
          <p:nvPr/>
        </p:nvSpPr>
        <p:spPr>
          <a:xfrm>
            <a:off x="9006840" y="1280160"/>
            <a:ext cx="2636520" cy="1544320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42.7k QoQ</a:t>
            </a:r>
          </a:p>
        </p:txBody>
      </p:sp>
      <p:sp>
        <p:nvSpPr>
          <p:cNvPr id="14" name="hexagon 5"/>
          <p:cNvSpPr/>
          <p:nvPr/>
        </p:nvSpPr>
        <p:spPr>
          <a:xfrm>
            <a:off x="548640" y="3007360"/>
            <a:ext cx="2636520" cy="1544320"/>
          </a:xfrm>
          <a:prstGeom prst="hexagon">
            <a:avLst/>
          </a:prstGeom>
          <a:gradFill rotWithShape="1">
            <a:gsLst>
              <a:gs pos="0">
                <a:schemeClr val="accent5">
                  <a:tint val="40000"/>
                </a:schemeClr>
              </a:gs>
              <a:gs pos="100000">
                <a:schemeClr val="accent5"/>
              </a:gs>
            </a:gsLst>
            <a:lin ang="5400000" scaled="0"/>
          </a:gradFill>
          <a:ln w="28575">
            <a:solidFill>
              <a:schemeClr val="accent5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89.1k target</a:t>
            </a:r>
          </a:p>
        </p:txBody>
      </p:sp>
      <p:sp>
        <p:nvSpPr>
          <p:cNvPr id="15" name="star5 6"/>
          <p:cNvSpPr/>
          <p:nvPr/>
        </p:nvSpPr>
        <p:spPr>
          <a:xfrm rot="1800000">
            <a:off x="3368040" y="3007360"/>
            <a:ext cx="2636520" cy="1544320"/>
          </a:xfrm>
          <a:prstGeom prst="star5">
            <a:avLst/>
          </a:prstGeom>
          <a:gradFill rotWithShape="1">
            <a:gsLst>
              <a:gs pos="0">
                <a:schemeClr val="lt1"/>
              </a:gs>
              <a:gs pos="100000">
                <a:schemeClr val="accent6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  <a:effectLst>
            <a:glow rad="63500">
              <a:schemeClr val="accent1">
                <a:alpha val="40000"/>
              </a:schemeClr>
            </a:glo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79.9k actual</a:t>
            </a:r>
          </a:p>
        </p:txBody>
      </p:sp>
      <p:sp>
        <p:nvSpPr>
          <p:cNvPr id="16" name="rightArrow 7"/>
          <p:cNvSpPr/>
          <p:nvPr/>
        </p:nvSpPr>
        <p:spPr>
          <a:xfrm>
            <a:off x="6187440" y="3007360"/>
            <a:ext cx="2636520" cy="1544320"/>
          </a:xfrm>
          <a:prstGeom prst="rightArrow">
            <a:avLst/>
          </a:prstGeom>
          <a:pattFill prst="pct25">
            <a:fgClr>
              <a:schemeClr val="accent1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89.4% target</a:t>
            </a:r>
          </a:p>
        </p:txBody>
      </p:sp>
      <p:sp>
        <p:nvSpPr>
          <p:cNvPr id="17" name="chevron 8"/>
          <p:cNvSpPr/>
          <p:nvPr/>
        </p:nvSpPr>
        <p:spPr>
          <a:xfrm flipH="1">
            <a:off x="9006840" y="3007360"/>
            <a:ext cx="2636520" cy="1544320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98.0x YoY</a:t>
            </a:r>
          </a:p>
        </p:txBody>
      </p:sp>
      <p:sp>
        <p:nvSpPr>
          <p:cNvPr id="18" name="cloud 9"/>
          <p:cNvSpPr/>
          <p:nvPr/>
        </p:nvSpPr>
        <p:spPr>
          <a:xfrm rot="900000">
            <a:off x="548640" y="4734560"/>
            <a:ext cx="2636520" cy="1544320"/>
          </a:xfrm>
          <a:prstGeom prst="cloud">
            <a:avLst/>
          </a:prstGeom>
          <a:gradFill rotWithShape="1">
            <a:gsLst>
              <a:gs pos="0">
                <a:schemeClr val="accent3">
                  <a:tint val="40000"/>
                </a:schemeClr>
              </a:gs>
              <a:gs pos="100000">
                <a:schemeClr val="accent3"/>
              </a:gs>
            </a:gsLst>
            <a:lin ang="5400000" scaled="0"/>
          </a:gradFill>
          <a:ln w="28575">
            <a:solidFill>
              <a:schemeClr val="accent3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60.7m YoY</a:t>
            </a:r>
          </a:p>
        </p:txBody>
      </p:sp>
      <p:sp>
        <p:nvSpPr>
          <p:cNvPr id="19" name="heart 10"/>
          <p:cNvSpPr/>
          <p:nvPr/>
        </p:nvSpPr>
        <p:spPr>
          <a:xfrm>
            <a:off x="3368040" y="4734560"/>
            <a:ext cx="2636520" cy="1544320"/>
          </a:xfrm>
          <a:prstGeom prst="heart">
            <a:avLst/>
          </a:prstGeom>
          <a:gradFill rotWithShape="1">
            <a:gsLst>
              <a:gs pos="0">
                <a:schemeClr val="lt1"/>
              </a:gs>
              <a:gs pos="100000">
                <a:schemeClr val="accent4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13.8m YoY</a:t>
            </a:r>
          </a:p>
        </p:txBody>
      </p:sp>
      <p:sp>
        <p:nvSpPr>
          <p:cNvPr id="20" name="octagon 11"/>
          <p:cNvSpPr/>
          <p:nvPr/>
        </p:nvSpPr>
        <p:spPr>
          <a:xfrm>
            <a:off x="6187440" y="4734560"/>
            <a:ext cx="2636520" cy="1544320"/>
          </a:xfrm>
          <a:prstGeom prst="octagon">
            <a:avLst/>
          </a:prstGeom>
          <a:pattFill prst="dkUpDiag">
            <a:fgClr>
              <a:schemeClr val="accent5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46.0d actual</a:t>
            </a:r>
          </a:p>
        </p:txBody>
      </p:sp>
      <p:grpSp>
        <p:nvGrpSpPr>
          <p:cNvPr id="30" name="Grouped trio"/>
          <p:cNvGrpSpPr/>
          <p:nvPr/>
        </p:nvGrpSpPr>
        <p:grpSpPr>
          <a:xfrm rot="1200000">
            <a:off x="9006840" y="4734560"/>
            <a:ext cx="2636520" cy="1544320"/>
            <a:chOff x="9006840" y="4734560"/>
            <a:chExt cx="2636520" cy="1544320"/>
          </a:xfrm>
        </p:grpSpPr>
        <p:sp>
          <p:nvSpPr>
            <p:cNvPr id="31" name="Leaf 1"/>
            <p:cNvSpPr/>
            <p:nvPr/>
          </p:nvSpPr>
          <p:spPr>
            <a:xfrm>
              <a:off x="9006840" y="4734560"/>
              <a:ext cx="833120" cy="1158240"/>
            </a:xfrm>
            <a:prstGeom prst="ellipse">
              <a:avLst/>
            </a:prstGeom>
            <a:solidFill>
              <a:schemeClr val="accent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Leaf 2"/>
            <p:cNvSpPr/>
            <p:nvPr/>
          </p:nvSpPr>
          <p:spPr>
            <a:xfrm>
              <a:off x="9885680" y="5120640"/>
              <a:ext cx="833120" cy="1158240"/>
            </a:xfrm>
            <a:prstGeom prst="roundRect">
              <a:avLst/>
            </a:prstGeom>
            <a:solidFill>
              <a:schemeClr val="accent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Leaf 3"/>
            <p:cNvSpPr/>
            <p:nvPr/>
          </p:nvSpPr>
          <p:spPr>
            <a:xfrm>
              <a:off x="10764520" y="4734560"/>
              <a:ext cx="833120" cy="1158240"/>
            </a:xfrm>
            <a:prstGeom prst="diamond">
              <a:avLst/>
            </a:prstGeom>
            <a:solidFill>
              <a:schemeClr val="accent4"/>
            </a:solidFill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40" name="Straight Arrow Connector 40"/>
          <p:cNvCxnSpPr>
            <a:cxnSpLocks/>
          </p:cNvCxnSpPr>
          <p:nvPr/>
        </p:nvCxnSpPr>
        <p:spPr>
          <a:xfrm>
            <a:off x="1866900" y="2824480"/>
            <a:ext cx="0" cy="18288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9" name="Slide Number 11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11}" type="slidenum">
              <a:rPr sz="1000"/>
              <a:t>11</a:t>
            </a:fld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Rule"/>
          <p:cNvCxnSpPr>
            <a:cxnSpLocks/>
          </p:cNvCxnSpPr>
          <p:nvPr/>
        </p:nvCxnSpPr>
        <p:spPr>
          <a:xfrm>
            <a:off x="1828800" y="1600200"/>
            <a:ext cx="8534400" cy="0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</p:cxnSp>
      <p:sp>
        <p:nvSpPr>
          <p:cNvPr id="11" name="Quotation"/>
          <p:cNvSpPr/>
          <p:nvPr/>
        </p:nvSpPr>
        <p:spPr>
          <a:xfrm>
            <a:off x="1371600" y="1828800"/>
            <a:ext cx="9448800" cy="2743200"/>
          </a:xfrm>
          <a:prstGeom prst="rect">
            <a:avLst/>
          </a:prstGeom>
          <a:noFill/>
        </p:spPr>
        <p:txBody>
          <a:bodyPr wrap="square" lIns="360000" tIns="360000" rIns="360000" bIns="360000" anchor="ctr"/>
          <a:lstStyle/>
          <a:p>
            <a:pPr algn="ctr"/>
            <a:r>
              <a:rPr sz="2800" i="1"/>
              <a:t>“Release cadence slipped to 79.4m, a point under the board case. Onboarding time held at 58.1pts, two points over the target.”</a:t>
            </a:r>
          </a:p>
        </p:txBody>
      </p:sp>
      <p:sp>
        <p:nvSpPr>
          <p:cNvPr id="12" name="Attribution"/>
          <p:cNvSpPr/>
          <p:nvPr/>
        </p:nvSpPr>
        <p:spPr>
          <a:xfrm>
            <a:off x="1371600" y="4663440"/>
            <a:ext cx="9448800" cy="640080"/>
          </a:xfrm>
          <a:prstGeom prst="rect">
            <a:avLst/>
          </a:prstGeom>
          <a:noFill/>
        </p:spPr>
        <p:txBody>
          <a:bodyPr wrap="square" anchor="b"/>
          <a:lstStyle/>
          <a:p>
            <a:pPr algn="r"/>
            <a:r>
              <a:rPr sz="1400">
                <a:solidFill>
                  <a:schemeClr val="tx2"/>
                </a:solidFill>
              </a:rPr>
              <a:t>S. Mehta, Design</a:t>
            </a:r>
          </a:p>
        </p:txBody>
      </p:sp>
      <p:sp>
        <p:nvSpPr>
          <p:cNvPr id="9" name="Slide Number 12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12}" type="slidenum">
              <a:rPr sz="1000"/>
              <a:t>12</a:t>
            </a:fld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Overview: by region</a:t>
            </a:r>
          </a:p>
        </p:txBody>
      </p:sp>
      <p:sp>
        <p:nvSpPr>
          <p:cNvPr id="10" name="Bar 1"/>
          <p:cNvSpPr/>
          <p:nvPr/>
        </p:nvSpPr>
        <p:spPr>
          <a:xfrm>
            <a:off x="739140" y="2011680"/>
            <a:ext cx="845820" cy="32918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0" name="Value 1"/>
          <p:cNvSpPr/>
          <p:nvPr/>
        </p:nvSpPr>
        <p:spPr>
          <a:xfrm>
            <a:off x="739140" y="16459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84.5pts</a:t>
            </a:r>
          </a:p>
        </p:txBody>
      </p:sp>
      <p:sp>
        <p:nvSpPr>
          <p:cNvPr id="30" name="Label 1"/>
          <p:cNvSpPr/>
          <p:nvPr/>
        </p:nvSpPr>
        <p:spPr>
          <a:xfrm>
            <a:off x="7391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25</a:t>
            </a:r>
          </a:p>
        </p:txBody>
      </p:sp>
      <p:sp>
        <p:nvSpPr>
          <p:cNvPr id="11" name="Bar 2"/>
          <p:cNvSpPr/>
          <p:nvPr/>
        </p:nvSpPr>
        <p:spPr>
          <a:xfrm>
            <a:off x="2148840" y="3749040"/>
            <a:ext cx="845820" cy="15544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1" name="Value 2"/>
          <p:cNvSpPr/>
          <p:nvPr/>
        </p:nvSpPr>
        <p:spPr>
          <a:xfrm>
            <a:off x="2148840" y="33832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80.8d</a:t>
            </a:r>
          </a:p>
        </p:txBody>
      </p:sp>
      <p:sp>
        <p:nvSpPr>
          <p:cNvPr id="31" name="Label 2"/>
          <p:cNvSpPr/>
          <p:nvPr/>
        </p:nvSpPr>
        <p:spPr>
          <a:xfrm>
            <a:off x="21488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25</a:t>
            </a:r>
          </a:p>
        </p:txBody>
      </p:sp>
      <p:sp>
        <p:nvSpPr>
          <p:cNvPr id="12" name="Bar 3"/>
          <p:cNvSpPr/>
          <p:nvPr/>
        </p:nvSpPr>
        <p:spPr>
          <a:xfrm>
            <a:off x="3558540" y="4754880"/>
            <a:ext cx="845820" cy="5486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2" name="Value 3"/>
          <p:cNvSpPr/>
          <p:nvPr/>
        </p:nvSpPr>
        <p:spPr>
          <a:xfrm>
            <a:off x="3558540" y="43891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51.7m</a:t>
            </a:r>
          </a:p>
        </p:txBody>
      </p:sp>
      <p:sp>
        <p:nvSpPr>
          <p:cNvPr id="32" name="Label 3"/>
          <p:cNvSpPr/>
          <p:nvPr/>
        </p:nvSpPr>
        <p:spPr>
          <a:xfrm>
            <a:off x="35585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25</a:t>
            </a:r>
          </a:p>
        </p:txBody>
      </p:sp>
      <p:sp>
        <p:nvSpPr>
          <p:cNvPr id="13" name="Bar 4"/>
          <p:cNvSpPr/>
          <p:nvPr/>
        </p:nvSpPr>
        <p:spPr>
          <a:xfrm>
            <a:off x="4968240" y="4389120"/>
            <a:ext cx="845820" cy="9144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3" name="Value 4"/>
          <p:cNvSpPr/>
          <p:nvPr/>
        </p:nvSpPr>
        <p:spPr>
          <a:xfrm>
            <a:off x="4968240" y="402336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44.4pts</a:t>
            </a:r>
          </a:p>
        </p:txBody>
      </p:sp>
      <p:sp>
        <p:nvSpPr>
          <p:cNvPr id="33" name="Label 4"/>
          <p:cNvSpPr/>
          <p:nvPr/>
        </p:nvSpPr>
        <p:spPr>
          <a:xfrm>
            <a:off x="49682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25</a:t>
            </a:r>
          </a:p>
        </p:txBody>
      </p:sp>
      <p:sp>
        <p:nvSpPr>
          <p:cNvPr id="14" name="Bar 5"/>
          <p:cNvSpPr/>
          <p:nvPr/>
        </p:nvSpPr>
        <p:spPr>
          <a:xfrm>
            <a:off x="6377940" y="2651760"/>
            <a:ext cx="845820" cy="26517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4" name="Value 5"/>
          <p:cNvSpPr/>
          <p:nvPr/>
        </p:nvSpPr>
        <p:spPr>
          <a:xfrm>
            <a:off x="6377940" y="22860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41.5%</a:t>
            </a:r>
          </a:p>
        </p:txBody>
      </p:sp>
      <p:sp>
        <p:nvSpPr>
          <p:cNvPr id="34" name="Label 5"/>
          <p:cNvSpPr/>
          <p:nvPr/>
        </p:nvSpPr>
        <p:spPr>
          <a:xfrm>
            <a:off x="63779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26</a:t>
            </a:r>
          </a:p>
        </p:txBody>
      </p:sp>
      <p:sp>
        <p:nvSpPr>
          <p:cNvPr id="15" name="Bar 6"/>
          <p:cNvSpPr/>
          <p:nvPr/>
        </p:nvSpPr>
        <p:spPr>
          <a:xfrm>
            <a:off x="7787640" y="2011680"/>
            <a:ext cx="845820" cy="32918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5" name="Value 6"/>
          <p:cNvSpPr/>
          <p:nvPr/>
        </p:nvSpPr>
        <p:spPr>
          <a:xfrm>
            <a:off x="7787640" y="16459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44.8k</a:t>
            </a:r>
          </a:p>
        </p:txBody>
      </p:sp>
      <p:sp>
        <p:nvSpPr>
          <p:cNvPr id="35" name="Label 6"/>
          <p:cNvSpPr/>
          <p:nvPr/>
        </p:nvSpPr>
        <p:spPr>
          <a:xfrm>
            <a:off x="77876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26</a:t>
            </a:r>
          </a:p>
        </p:txBody>
      </p:sp>
      <p:sp>
        <p:nvSpPr>
          <p:cNvPr id="16" name="Bar 7"/>
          <p:cNvSpPr/>
          <p:nvPr/>
        </p:nvSpPr>
        <p:spPr>
          <a:xfrm>
            <a:off x="9197340" y="2834640"/>
            <a:ext cx="845820" cy="24688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6" name="Value 7"/>
          <p:cNvSpPr/>
          <p:nvPr/>
        </p:nvSpPr>
        <p:spPr>
          <a:xfrm>
            <a:off x="9197340" y="24688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8.2k</a:t>
            </a:r>
          </a:p>
        </p:txBody>
      </p:sp>
      <p:sp>
        <p:nvSpPr>
          <p:cNvPr id="36" name="Label 7"/>
          <p:cNvSpPr/>
          <p:nvPr/>
        </p:nvSpPr>
        <p:spPr>
          <a:xfrm>
            <a:off x="91973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26</a:t>
            </a:r>
          </a:p>
        </p:txBody>
      </p:sp>
      <p:sp>
        <p:nvSpPr>
          <p:cNvPr id="17" name="Bar 8"/>
          <p:cNvSpPr/>
          <p:nvPr/>
        </p:nvSpPr>
        <p:spPr>
          <a:xfrm>
            <a:off x="10607040" y="3840480"/>
            <a:ext cx="845820" cy="14630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7" name="Value 8"/>
          <p:cNvSpPr/>
          <p:nvPr/>
        </p:nvSpPr>
        <p:spPr>
          <a:xfrm>
            <a:off x="10607040" y="34747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34.7pts</a:t>
            </a:r>
          </a:p>
        </p:txBody>
      </p:sp>
      <p:sp>
        <p:nvSpPr>
          <p:cNvPr id="37" name="Label 8"/>
          <p:cNvSpPr/>
          <p:nvPr/>
        </p:nvSpPr>
        <p:spPr>
          <a:xfrm>
            <a:off x="106070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26</a:t>
            </a:r>
          </a:p>
        </p:txBody>
      </p:sp>
      <p:cxnSp>
        <p:nvCxnSpPr>
          <p:cNvPr id="40" name="Baseline"/>
          <p:cNvCxnSpPr>
            <a:cxnSpLocks/>
          </p:cNvCxnSpPr>
          <p:nvPr/>
        </p:nvCxnSpPr>
        <p:spPr>
          <a:xfrm>
            <a:off x="457200" y="5303520"/>
            <a:ext cx="112776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</p:cxnSp>
      <p:sp>
        <p:nvSpPr>
          <p:cNvPr id="41" name="Axis title"/>
          <p:cNvSpPr/>
          <p:nvPr/>
        </p:nvSpPr>
        <p:spPr>
          <a:xfrm>
            <a:off x="457200" y="5715000"/>
            <a:ext cx="1127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i="1"/>
              <a:t>Revenue improved to 63.1m, by quarter</a:t>
            </a:r>
          </a:p>
        </p:txBody>
      </p:sp>
      <p:sp>
        <p:nvSpPr>
          <p:cNvPr id="9" name="Slide Number 13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13}" type="slidenum">
              <a:rPr sz="1000"/>
              <a:t>13</a:t>
            </a:fld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4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Overview: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Pipeline coverage settled at 23.1k, a point under the board case.</a:t>
            </a:r>
          </a:p>
          <a:p>
            <a:r>
              <a:rPr sz="2000"/>
              <a:t>Churn grew 11.7d, on the strength of the revised model.</a:t>
            </a:r>
          </a:p>
          <a:p>
            <a:r>
              <a:rPr sz="2000"/>
              <a:t>Onboarding time slipped to 27.6x, on the strength of last year.</a:t>
            </a:r>
          </a:p>
          <a:p>
            <a:pPr lvl="1"/>
            <a:r>
              <a:rPr sz="1800"/>
              <a:t>Unit cost reached 31.5k</a:t>
            </a:r>
          </a:p>
          <a:p>
            <a:pPr lvl="1"/>
            <a:r>
              <a:rPr sz="1800"/>
              <a:t>Support volume closed the quarter at 51.6pts</a:t>
            </a:r>
          </a:p>
          <a:p>
            <a:pPr lvl="1"/>
            <a:r>
              <a:rPr sz="1800"/>
              <a:t>Uptime reached 21.6x</a:t>
            </a:r>
          </a:p>
          <a:p>
            <a:r>
              <a:rPr sz="2000"/>
              <a:t>Support volume closed the quarter at 32.2x, before the effect of last year.</a:t>
            </a:r>
          </a:p>
          <a:p>
            <a:pPr lvl="1"/>
            <a:r>
              <a:rPr sz="1800"/>
              <a:t>Pipeline coverage held at 61.8x</a:t>
            </a:r>
          </a:p>
          <a:p>
            <a:pPr lvl="1"/>
            <a:r>
              <a:rPr sz="1800"/>
              <a:t>Cloud spend moved to 89.6m</a:t>
            </a:r>
          </a:p>
          <a:p>
            <a:r>
              <a:rPr sz="2000"/>
              <a:t>Unit cost closed the quarter at 60.8pts, before the effect of last year.</a:t>
            </a:r>
          </a:p>
          <a:p>
            <a:pPr lvl="1"/>
            <a:r>
              <a:rPr sz="1800"/>
              <a:t>Headcount held at 40.4m</a:t>
            </a:r>
          </a:p>
          <a:p>
            <a:pPr lvl="1"/>
            <a:r>
              <a:rPr sz="1800"/>
              <a:t>Revenue improved to 60.1d</a:t>
            </a:r>
          </a:p>
        </p:txBody>
      </p:sp>
      <p:sp>
        <p:nvSpPr>
          <p:cNvPr id="9" name="Slide Number 14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14}" type="slidenum">
              <a:rPr sz="1000"/>
              <a:t>14</a:t>
            </a:fld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2">
                <a:tint val="30000"/>
              </a:schemeClr>
            </a:gs>
            <a:gs pos="100000">
              <a:schemeClr val="l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pter number"/>
          <p:cNvSpPr/>
          <p:nvPr/>
        </p:nvSpPr>
        <p:spPr>
          <a:xfrm>
            <a:off x="914400" y="1828800"/>
            <a:ext cx="3657600" cy="1828800"/>
          </a:xfrm>
          <a:prstGeom prst="rect">
            <a:avLst/>
          </a:prstGeom>
          <a:noFill/>
        </p:spPr>
        <p:txBody>
          <a:bodyPr wrap="square" anchor="b"/>
          <a:lstStyle/>
          <a:p>
            <a:r>
              <a:rPr sz="6000" b="1">
                <a:solidFill>
                  <a:schemeClr val="tx1"/>
                </a:solidFill>
              </a:rPr>
              <a:t>02</a:t>
            </a:r>
          </a:p>
        </p:txBody>
      </p:sp>
      <p:sp>
        <p:nvSpPr>
          <p:cNvPr id="11" name="Chapter title"/>
          <p:cNvSpPr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600">
                <a:solidFill>
                  <a:schemeClr val="tx1"/>
                </a:solidFill>
              </a:rPr>
              <a:t>Market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6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Market: what changed</a:t>
            </a:r>
          </a:p>
        </p:txBody>
      </p:sp>
      <p:pic>
        <p:nvPicPr>
          <p:cNvPr id="10" name="Chart screenshot" descr="Five bars, two colou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" name="Caption"/>
          <p:cNvSpPr/>
          <p:nvPr/>
        </p:nvSpPr>
        <p:spPr>
          <a:xfrm>
            <a:off x="457200" y="53949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i="1"/>
              <a:t>Figure 2. Release cadence improved to 24.9pts.</a:t>
            </a:r>
          </a:p>
        </p:txBody>
      </p:sp>
      <p:sp>
        <p:nvSpPr>
          <p:cNvPr id="12" name="Aside"/>
          <p:cNvSpPr/>
          <p:nvPr/>
        </p:nvSpPr>
        <p:spPr>
          <a:xfrm>
            <a:off x="8077200" y="1188720"/>
            <a:ext cx="36576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/>
              <a:t>Revenue slipped to 96.4d, before the effect of the industry median.</a:t>
            </a:r>
          </a:p>
          <a:p>
            <a:r>
              <a:rPr sz="1600"/>
              <a:t>Onboarding time reached 69.1%, in line with the plan.</a:t>
            </a:r>
          </a:p>
        </p:txBody>
      </p:sp>
      <p:sp>
        <p:nvSpPr>
          <p:cNvPr id="9" name="Slide Number 16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16}" type="slidenum">
              <a:rPr sz="1000"/>
              <a:t>16</a:t>
            </a:fld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Market: by region</a:t>
            </a:r>
          </a:p>
        </p:txBody>
      </p:sp>
      <p:sp>
        <p:nvSpPr>
          <p:cNvPr id="10" name="ellipse 1"/>
          <p:cNvSpPr/>
          <p:nvPr/>
        </p:nvSpPr>
        <p:spPr>
          <a:xfrm>
            <a:off x="548640" y="1280160"/>
            <a:ext cx="2636520" cy="1544320"/>
          </a:xfrm>
          <a:prstGeom prst="ellipse">
            <a:avLst/>
          </a:prstGeom>
          <a:gradFill rotWithShape="1">
            <a:gsLst>
              <a:gs pos="0">
                <a:schemeClr val="lt1"/>
              </a:gs>
              <a:gs pos="100000">
                <a:schemeClr val="accent1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97.9pts actual</a:t>
            </a:r>
          </a:p>
        </p:txBody>
      </p:sp>
      <p:sp>
        <p:nvSpPr>
          <p:cNvPr id="11" name="triangle 2"/>
          <p:cNvSpPr/>
          <p:nvPr/>
        </p:nvSpPr>
        <p:spPr>
          <a:xfrm>
            <a:off x="3368040" y="1280160"/>
            <a:ext cx="2636520" cy="1544320"/>
          </a:xfrm>
          <a:prstGeom prst="triangle">
            <a:avLst/>
          </a:prstGeom>
          <a:pattFill prst="dkUpDiag">
            <a:fgClr>
              <a:schemeClr val="accent2"/>
            </a:fgClr>
            <a:bgClr>
              <a:schemeClr val="lt1"/>
            </a:bgClr>
          </a:pattFill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9.3d QoQ</a:t>
            </a:r>
          </a:p>
        </p:txBody>
      </p:sp>
      <p:sp>
        <p:nvSpPr>
          <p:cNvPr id="12" name="diamond 3"/>
          <p:cNvSpPr/>
          <p:nvPr/>
        </p:nvSpPr>
        <p:spPr>
          <a:xfrm rot="0">
            <a:off x="6187440" y="1280160"/>
            <a:ext cx="2636520" cy="1544320"/>
          </a:xfrm>
          <a:prstGeom prst="diamond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66.3pts YoY</a:t>
            </a:r>
          </a:p>
        </p:txBody>
      </p:sp>
      <p:sp>
        <p:nvSpPr>
          <p:cNvPr id="13" name="hexagon 4"/>
          <p:cNvSpPr/>
          <p:nvPr/>
        </p:nvSpPr>
        <p:spPr>
          <a:xfrm>
            <a:off x="9006840" y="1280160"/>
            <a:ext cx="2636520" cy="1544320"/>
          </a:xfrm>
          <a:prstGeom prst="hexagon">
            <a:avLst/>
          </a:prstGeom>
          <a:gradFill rotWithShape="1">
            <a:gsLst>
              <a:gs pos="0">
                <a:schemeClr val="accent4">
                  <a:tint val="40000"/>
                </a:schemeClr>
              </a:gs>
              <a:gs pos="100000">
                <a:schemeClr val="accent4"/>
              </a:gs>
            </a:gsLst>
            <a:lin ang="5400000" scaled="0"/>
          </a:gradFill>
          <a:ln w="28575">
            <a:solidFill>
              <a:schemeClr val="accent4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68.0x target</a:t>
            </a:r>
          </a:p>
        </p:txBody>
      </p:sp>
      <p:sp>
        <p:nvSpPr>
          <p:cNvPr id="14" name="star5 5"/>
          <p:cNvSpPr/>
          <p:nvPr/>
        </p:nvSpPr>
        <p:spPr>
          <a:xfrm>
            <a:off x="548640" y="3007360"/>
            <a:ext cx="2636520" cy="1544320"/>
          </a:xfrm>
          <a:prstGeom prst="star5">
            <a:avLst/>
          </a:prstGeom>
          <a:gradFill rotWithShape="1">
            <a:gsLst>
              <a:gs pos="0">
                <a:schemeClr val="lt1"/>
              </a:gs>
              <a:gs pos="100000">
                <a:schemeClr val="accent5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32.4% actual</a:t>
            </a:r>
          </a:p>
        </p:txBody>
      </p:sp>
      <p:sp>
        <p:nvSpPr>
          <p:cNvPr id="15" name="rightArrow 6"/>
          <p:cNvSpPr/>
          <p:nvPr/>
        </p:nvSpPr>
        <p:spPr>
          <a:xfrm rot="2700000">
            <a:off x="3368040" y="3007360"/>
            <a:ext cx="2636520" cy="1544320"/>
          </a:xfrm>
          <a:prstGeom prst="rightArrow">
            <a:avLst/>
          </a:prstGeom>
          <a:pattFill prst="smGrid">
            <a:fgClr>
              <a:schemeClr val="accent6"/>
            </a:fgClr>
            <a:bgClr>
              <a:schemeClr val="lt1"/>
            </a:bgClr>
          </a:pattFill>
          <a:effectLst>
            <a:glow rad="63500">
              <a:schemeClr val="accent1">
                <a:alpha val="40000"/>
              </a:schemeClr>
            </a:glo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47.3pts actual</a:t>
            </a:r>
          </a:p>
        </p:txBody>
      </p:sp>
      <p:sp>
        <p:nvSpPr>
          <p:cNvPr id="16" name="chevron 7"/>
          <p:cNvSpPr/>
          <p:nvPr/>
        </p:nvSpPr>
        <p:spPr>
          <a:xfrm>
            <a:off x="6187440" y="3007360"/>
            <a:ext cx="2636520" cy="1544320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35.3pts actual</a:t>
            </a:r>
          </a:p>
        </p:txBody>
      </p:sp>
      <p:sp>
        <p:nvSpPr>
          <p:cNvPr id="17" name="cloud 8"/>
          <p:cNvSpPr/>
          <p:nvPr/>
        </p:nvSpPr>
        <p:spPr>
          <a:xfrm flipH="1">
            <a:off x="9006840" y="3007360"/>
            <a:ext cx="2636520" cy="1544320"/>
          </a:xfrm>
          <a:prstGeom prst="cloud">
            <a:avLst/>
          </a:prstGeom>
          <a:gradFill rotWithShape="1">
            <a:gsLst>
              <a:gs pos="0">
                <a:schemeClr val="accent2">
                  <a:tint val="40000"/>
                </a:schemeClr>
              </a:gs>
              <a:gs pos="100000">
                <a:schemeClr val="accent2"/>
              </a:gs>
            </a:gsLst>
            <a:lin ang="5400000" scaled="0"/>
          </a:gradFill>
          <a:ln w="28575">
            <a:solidFill>
              <a:schemeClr val="accent2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51.9pts target</a:t>
            </a:r>
          </a:p>
        </p:txBody>
      </p:sp>
      <p:sp>
        <p:nvSpPr>
          <p:cNvPr id="18" name="heart 9"/>
          <p:cNvSpPr/>
          <p:nvPr/>
        </p:nvSpPr>
        <p:spPr>
          <a:xfrm rot="1800000">
            <a:off x="548640" y="4734560"/>
            <a:ext cx="2636520" cy="1544320"/>
          </a:xfrm>
          <a:prstGeom prst="heart">
            <a:avLst/>
          </a:prstGeom>
          <a:gradFill rotWithShape="1">
            <a:gsLst>
              <a:gs pos="0">
                <a:schemeClr val="lt1"/>
              </a:gs>
              <a:gs pos="100000">
                <a:schemeClr val="accent3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14.5k target</a:t>
            </a:r>
          </a:p>
        </p:txBody>
      </p:sp>
      <p:sp>
        <p:nvSpPr>
          <p:cNvPr id="19" name="octagon 10"/>
          <p:cNvSpPr/>
          <p:nvPr/>
        </p:nvSpPr>
        <p:spPr>
          <a:xfrm>
            <a:off x="3368040" y="4734560"/>
            <a:ext cx="2636520" cy="1544320"/>
          </a:xfrm>
          <a:prstGeom prst="octagon">
            <a:avLst/>
          </a:prstGeom>
          <a:pattFill prst="pct25">
            <a:fgClr>
              <a:schemeClr val="accent4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33.5k target</a:t>
            </a:r>
          </a:p>
        </p:txBody>
      </p:sp>
      <p:sp>
        <p:nvSpPr>
          <p:cNvPr id="20" name="rect 11"/>
          <p:cNvSpPr/>
          <p:nvPr/>
        </p:nvSpPr>
        <p:spPr>
          <a:xfrm>
            <a:off x="6187440" y="4734560"/>
            <a:ext cx="2636520" cy="15443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97.3m actual</a:t>
            </a:r>
          </a:p>
        </p:txBody>
      </p:sp>
      <p:grpSp>
        <p:nvGrpSpPr>
          <p:cNvPr id="30" name="Grouped trio"/>
          <p:cNvGrpSpPr/>
          <p:nvPr/>
        </p:nvGrpSpPr>
        <p:grpSpPr>
          <a:xfrm rot="1200000">
            <a:off x="9006840" y="4734560"/>
            <a:ext cx="2636520" cy="1544320"/>
            <a:chOff x="9006840" y="4734560"/>
            <a:chExt cx="2636520" cy="1544320"/>
          </a:xfrm>
        </p:grpSpPr>
        <p:sp>
          <p:nvSpPr>
            <p:cNvPr id="31" name="Leaf 1"/>
            <p:cNvSpPr/>
            <p:nvPr/>
          </p:nvSpPr>
          <p:spPr>
            <a:xfrm>
              <a:off x="9006840" y="4734560"/>
              <a:ext cx="833120" cy="1158240"/>
            </a:xfrm>
            <a:prstGeom prst="ellipse">
              <a:avLst/>
            </a:prstGeom>
            <a:solidFill>
              <a:schemeClr val="accent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Leaf 2"/>
            <p:cNvSpPr/>
            <p:nvPr/>
          </p:nvSpPr>
          <p:spPr>
            <a:xfrm>
              <a:off x="9885680" y="5120640"/>
              <a:ext cx="833120" cy="1158240"/>
            </a:xfrm>
            <a:prstGeom prst="roundRect">
              <a:avLst/>
            </a:prstGeom>
            <a:solidFill>
              <a:schemeClr val="accent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Leaf 3"/>
            <p:cNvSpPr/>
            <p:nvPr/>
          </p:nvSpPr>
          <p:spPr>
            <a:xfrm>
              <a:off x="10764520" y="4734560"/>
              <a:ext cx="833120" cy="1158240"/>
            </a:xfrm>
            <a:prstGeom prst="diamond">
              <a:avLst/>
            </a:prstGeom>
            <a:solidFill>
              <a:schemeClr val="accent5"/>
            </a:solidFill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40" name="Straight Arrow Connector 40"/>
          <p:cNvCxnSpPr>
            <a:cxnSpLocks/>
          </p:cNvCxnSpPr>
          <p:nvPr/>
        </p:nvCxnSpPr>
        <p:spPr>
          <a:xfrm>
            <a:off x="1866900" y="2824480"/>
            <a:ext cx="0" cy="18288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9" name="Slide Number 17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17}" type="slidenum">
              <a:rPr sz="1000"/>
              <a:t>17</a:t>
            </a:fld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Rule"/>
          <p:cNvCxnSpPr>
            <a:cxnSpLocks/>
          </p:cNvCxnSpPr>
          <p:nvPr/>
        </p:nvCxnSpPr>
        <p:spPr>
          <a:xfrm>
            <a:off x="1828800" y="1600200"/>
            <a:ext cx="8534400" cy="0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</p:cxnSp>
      <p:sp>
        <p:nvSpPr>
          <p:cNvPr id="11" name="Quotation"/>
          <p:cNvSpPr/>
          <p:nvPr/>
        </p:nvSpPr>
        <p:spPr>
          <a:xfrm>
            <a:off x="1371600" y="1828800"/>
            <a:ext cx="9448800" cy="2743200"/>
          </a:xfrm>
          <a:prstGeom prst="rect">
            <a:avLst/>
          </a:prstGeom>
          <a:noFill/>
        </p:spPr>
        <p:txBody>
          <a:bodyPr wrap="square" lIns="360000" tIns="360000" rIns="360000" bIns="360000" anchor="ctr"/>
          <a:lstStyle/>
          <a:p>
            <a:pPr algn="ctr"/>
            <a:r>
              <a:rPr sz="2800" i="1"/>
              <a:t>“Deal size slipped to 8.4%, two points over the revised model. Release cadence reached 21.6m, against last year.”</a:t>
            </a:r>
          </a:p>
        </p:txBody>
      </p:sp>
      <p:sp>
        <p:nvSpPr>
          <p:cNvPr id="12" name="Attribution"/>
          <p:cNvSpPr/>
          <p:nvPr/>
        </p:nvSpPr>
        <p:spPr>
          <a:xfrm>
            <a:off x="1371600" y="4663440"/>
            <a:ext cx="9448800" cy="640080"/>
          </a:xfrm>
          <a:prstGeom prst="rect">
            <a:avLst/>
          </a:prstGeom>
          <a:noFill/>
        </p:spPr>
        <p:txBody>
          <a:bodyPr wrap="square" anchor="b"/>
          <a:lstStyle/>
          <a:p>
            <a:pPr algn="r"/>
            <a:r>
              <a:rPr sz="1400">
                <a:solidFill>
                  <a:schemeClr val="tx2"/>
                </a:solidFill>
              </a:rPr>
              <a:t>S. Mehta, Finance</a:t>
            </a:r>
          </a:p>
        </p:txBody>
      </p:sp>
      <p:sp>
        <p:nvSpPr>
          <p:cNvPr id="9" name="Slide Number 18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18}" type="slidenum">
              <a:rPr sz="1000"/>
              <a:t>18</a:t>
            </a:fld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9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Market: at a glance</a:t>
            </a:r>
          </a:p>
        </p:txBody>
      </p:sp>
      <p:sp>
        <p:nvSpPr>
          <p:cNvPr id="10" name="Bar 1"/>
          <p:cNvSpPr/>
          <p:nvPr/>
        </p:nvSpPr>
        <p:spPr>
          <a:xfrm>
            <a:off x="739140" y="4754880"/>
            <a:ext cx="845820" cy="5486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0" name="Value 1"/>
          <p:cNvSpPr/>
          <p:nvPr/>
        </p:nvSpPr>
        <p:spPr>
          <a:xfrm>
            <a:off x="739140" y="43891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86.8%</a:t>
            </a:r>
          </a:p>
        </p:txBody>
      </p:sp>
      <p:sp>
        <p:nvSpPr>
          <p:cNvPr id="30" name="Label 1"/>
          <p:cNvSpPr/>
          <p:nvPr/>
        </p:nvSpPr>
        <p:spPr>
          <a:xfrm>
            <a:off x="7391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25</a:t>
            </a:r>
          </a:p>
        </p:txBody>
      </p:sp>
      <p:sp>
        <p:nvSpPr>
          <p:cNvPr id="11" name="Bar 2"/>
          <p:cNvSpPr/>
          <p:nvPr/>
        </p:nvSpPr>
        <p:spPr>
          <a:xfrm>
            <a:off x="2148840" y="3200400"/>
            <a:ext cx="845820" cy="21031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1" name="Value 2"/>
          <p:cNvSpPr/>
          <p:nvPr/>
        </p:nvSpPr>
        <p:spPr>
          <a:xfrm>
            <a:off x="2148840" y="28346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74.0d</a:t>
            </a:r>
          </a:p>
        </p:txBody>
      </p:sp>
      <p:sp>
        <p:nvSpPr>
          <p:cNvPr id="31" name="Label 2"/>
          <p:cNvSpPr/>
          <p:nvPr/>
        </p:nvSpPr>
        <p:spPr>
          <a:xfrm>
            <a:off x="21488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25</a:t>
            </a:r>
          </a:p>
        </p:txBody>
      </p:sp>
      <p:sp>
        <p:nvSpPr>
          <p:cNvPr id="12" name="Bar 3"/>
          <p:cNvSpPr/>
          <p:nvPr/>
        </p:nvSpPr>
        <p:spPr>
          <a:xfrm>
            <a:off x="3558540" y="3931920"/>
            <a:ext cx="845820" cy="13716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2" name="Value 3"/>
          <p:cNvSpPr/>
          <p:nvPr/>
        </p:nvSpPr>
        <p:spPr>
          <a:xfrm>
            <a:off x="3558540" y="356616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27.1pts</a:t>
            </a:r>
          </a:p>
        </p:txBody>
      </p:sp>
      <p:sp>
        <p:nvSpPr>
          <p:cNvPr id="32" name="Label 3"/>
          <p:cNvSpPr/>
          <p:nvPr/>
        </p:nvSpPr>
        <p:spPr>
          <a:xfrm>
            <a:off x="35585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25</a:t>
            </a:r>
          </a:p>
        </p:txBody>
      </p:sp>
      <p:sp>
        <p:nvSpPr>
          <p:cNvPr id="13" name="Bar 4"/>
          <p:cNvSpPr/>
          <p:nvPr/>
        </p:nvSpPr>
        <p:spPr>
          <a:xfrm>
            <a:off x="4968240" y="3840480"/>
            <a:ext cx="845820" cy="14630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3" name="Value 4"/>
          <p:cNvSpPr/>
          <p:nvPr/>
        </p:nvSpPr>
        <p:spPr>
          <a:xfrm>
            <a:off x="4968240" y="34747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82.1%</a:t>
            </a:r>
          </a:p>
        </p:txBody>
      </p:sp>
      <p:sp>
        <p:nvSpPr>
          <p:cNvPr id="33" name="Label 4"/>
          <p:cNvSpPr/>
          <p:nvPr/>
        </p:nvSpPr>
        <p:spPr>
          <a:xfrm>
            <a:off x="49682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25</a:t>
            </a:r>
          </a:p>
        </p:txBody>
      </p:sp>
      <p:sp>
        <p:nvSpPr>
          <p:cNvPr id="14" name="Bar 5"/>
          <p:cNvSpPr/>
          <p:nvPr/>
        </p:nvSpPr>
        <p:spPr>
          <a:xfrm>
            <a:off x="6377940" y="3840480"/>
            <a:ext cx="845820" cy="14630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4" name="Value 5"/>
          <p:cNvSpPr/>
          <p:nvPr/>
        </p:nvSpPr>
        <p:spPr>
          <a:xfrm>
            <a:off x="6377940" y="34747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45.4k</a:t>
            </a:r>
          </a:p>
        </p:txBody>
      </p:sp>
      <p:sp>
        <p:nvSpPr>
          <p:cNvPr id="34" name="Label 5"/>
          <p:cNvSpPr/>
          <p:nvPr/>
        </p:nvSpPr>
        <p:spPr>
          <a:xfrm>
            <a:off x="63779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26</a:t>
            </a:r>
          </a:p>
        </p:txBody>
      </p:sp>
      <p:sp>
        <p:nvSpPr>
          <p:cNvPr id="15" name="Bar 6"/>
          <p:cNvSpPr/>
          <p:nvPr/>
        </p:nvSpPr>
        <p:spPr>
          <a:xfrm>
            <a:off x="7787640" y="3566160"/>
            <a:ext cx="845820" cy="17373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5" name="Value 6"/>
          <p:cNvSpPr/>
          <p:nvPr/>
        </p:nvSpPr>
        <p:spPr>
          <a:xfrm>
            <a:off x="7787640" y="32004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52.2%</a:t>
            </a:r>
          </a:p>
        </p:txBody>
      </p:sp>
      <p:sp>
        <p:nvSpPr>
          <p:cNvPr id="35" name="Label 6"/>
          <p:cNvSpPr/>
          <p:nvPr/>
        </p:nvSpPr>
        <p:spPr>
          <a:xfrm>
            <a:off x="77876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26</a:t>
            </a:r>
          </a:p>
        </p:txBody>
      </p:sp>
      <p:sp>
        <p:nvSpPr>
          <p:cNvPr id="16" name="Bar 7"/>
          <p:cNvSpPr/>
          <p:nvPr/>
        </p:nvSpPr>
        <p:spPr>
          <a:xfrm>
            <a:off x="9197340" y="3383280"/>
            <a:ext cx="845820" cy="1920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6" name="Value 7"/>
          <p:cNvSpPr/>
          <p:nvPr/>
        </p:nvSpPr>
        <p:spPr>
          <a:xfrm>
            <a:off x="9197340" y="30175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26.3pts</a:t>
            </a:r>
          </a:p>
        </p:txBody>
      </p:sp>
      <p:sp>
        <p:nvSpPr>
          <p:cNvPr id="36" name="Label 7"/>
          <p:cNvSpPr/>
          <p:nvPr/>
        </p:nvSpPr>
        <p:spPr>
          <a:xfrm>
            <a:off x="91973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26</a:t>
            </a:r>
          </a:p>
        </p:txBody>
      </p:sp>
      <p:sp>
        <p:nvSpPr>
          <p:cNvPr id="17" name="Bar 8"/>
          <p:cNvSpPr/>
          <p:nvPr/>
        </p:nvSpPr>
        <p:spPr>
          <a:xfrm>
            <a:off x="10607040" y="2560320"/>
            <a:ext cx="845820" cy="2743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7" name="Value 8"/>
          <p:cNvSpPr/>
          <p:nvPr/>
        </p:nvSpPr>
        <p:spPr>
          <a:xfrm>
            <a:off x="10607040" y="219456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92.6k</a:t>
            </a:r>
          </a:p>
        </p:txBody>
      </p:sp>
      <p:sp>
        <p:nvSpPr>
          <p:cNvPr id="37" name="Label 8"/>
          <p:cNvSpPr/>
          <p:nvPr/>
        </p:nvSpPr>
        <p:spPr>
          <a:xfrm>
            <a:off x="106070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26</a:t>
            </a:r>
          </a:p>
        </p:txBody>
      </p:sp>
      <p:cxnSp>
        <p:nvCxnSpPr>
          <p:cNvPr id="40" name="Baseline"/>
          <p:cNvCxnSpPr>
            <a:cxnSpLocks/>
          </p:cNvCxnSpPr>
          <p:nvPr/>
        </p:nvCxnSpPr>
        <p:spPr>
          <a:xfrm>
            <a:off x="457200" y="5303520"/>
            <a:ext cx="112776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</p:cxnSp>
      <p:sp>
        <p:nvSpPr>
          <p:cNvPr id="41" name="Axis title"/>
          <p:cNvSpPr/>
          <p:nvPr/>
        </p:nvSpPr>
        <p:spPr>
          <a:xfrm>
            <a:off x="457200" y="5715000"/>
            <a:ext cx="1127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i="1"/>
              <a:t>Pipeline coverage moved to 78.4d, by quarter</a:t>
            </a:r>
          </a:p>
        </p:txBody>
      </p:sp>
      <p:sp>
        <p:nvSpPr>
          <p:cNvPr id="9" name="Slide Number 19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19}" type="slidenum">
              <a:rPr sz="1000"/>
              <a:t>19</a:t>
            </a:fld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0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Market: what changed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000"/>
              <a:t>Cloud spend settled at 50.1k, two points over the revised model.</a:t>
            </a:r>
          </a:p>
          <a:p>
            <a:r>
              <a:rPr sz="2000"/>
              <a:t>Renewal rate reached 53.0k, a point under last year.</a:t>
            </a:r>
          </a:p>
          <a:p>
            <a:r>
              <a:rPr sz="2000"/>
              <a:t>Cloud spend improved to 45.7%, in line with the board case.</a:t>
            </a:r>
          </a:p>
          <a:p>
            <a:r>
              <a:rPr sz="2000"/>
              <a:t>Churn slipped to 48.3d, against the prior quarter.</a:t>
            </a:r>
          </a:p>
          <a:p>
            <a:r>
              <a:rPr sz="2000"/>
              <a:t>Onboarding time moved to 29.1%, two points over the plan.</a:t>
            </a:r>
          </a:p>
        </p:txBody>
      </p:sp>
      <p:sp>
        <p:nvSpPr>
          <p:cNvPr id="9" name="Slide Number 20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20}" type="slidenum">
              <a:rPr sz="1000"/>
              <a:t>20</a:t>
            </a:fld>
            <a:endParaRPr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Market: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Pipeline coverage reached 70.9%, ahead of the revised model.</a:t>
            </a:r>
          </a:p>
          <a:p>
            <a:pPr lvl="1"/>
            <a:r>
              <a:rPr sz="1800"/>
              <a:t>Gross margin settled at 52.3pts</a:t>
            </a:r>
          </a:p>
          <a:p>
            <a:pPr lvl="1"/>
            <a:r>
              <a:rPr sz="1800"/>
              <a:t>Churn held at 58.2pts</a:t>
            </a:r>
          </a:p>
          <a:p>
            <a:r>
              <a:rPr sz="2000"/>
              <a:t>Support volume closed the quarter at 21.2x, in line with the plan.</a:t>
            </a:r>
          </a:p>
          <a:p>
            <a:pPr lvl="1"/>
            <a:r>
              <a:rPr sz="1800"/>
              <a:t>Headcount improved to 79.4m</a:t>
            </a:r>
          </a:p>
          <a:p>
            <a:pPr lvl="1"/>
            <a:r>
              <a:rPr sz="1800"/>
              <a:t>Net retention slipped to 19.3k</a:t>
            </a:r>
          </a:p>
          <a:p>
            <a:pPr lvl="1"/>
            <a:r>
              <a:rPr sz="1800"/>
              <a:t>Net retention improved to 30.3pts</a:t>
            </a:r>
          </a:p>
          <a:p>
            <a:r>
              <a:rPr sz="2000"/>
              <a:t>Renewal rate held at 59.3%, ahead of the board case.</a:t>
            </a:r>
          </a:p>
          <a:p>
            <a:pPr lvl="1"/>
            <a:r>
              <a:rPr sz="1800"/>
              <a:t>Support volume slipped to 85.1%</a:t>
            </a:r>
          </a:p>
          <a:p>
            <a:pPr lvl="1"/>
            <a:r>
              <a:rPr sz="1800"/>
              <a:t>Churn moved to 61.2m</a:t>
            </a:r>
          </a:p>
          <a:p>
            <a:pPr lvl="1"/>
            <a:r>
              <a:rPr sz="1800"/>
              <a:t>Unit cost moved to 15.4k</a:t>
            </a:r>
          </a:p>
          <a:p>
            <a:r>
              <a:rPr sz="2000"/>
              <a:t>Backlog settled at 80.2%, ahead of the plan.</a:t>
            </a:r>
          </a:p>
        </p:txBody>
      </p:sp>
      <p:sp>
        <p:nvSpPr>
          <p:cNvPr id="9" name="Slide Number 21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21}" type="slidenum">
              <a:rPr sz="1000"/>
              <a:t>21</a:t>
            </a:fld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Market: by region</a:t>
            </a:r>
          </a:p>
        </p:txBody>
      </p:sp>
      <p:sp>
        <p:nvSpPr>
          <p:cNvPr id="10" name="Left column"/>
          <p:cNvSpPr/>
          <p:nvPr/>
        </p:nvSpPr>
        <p:spPr>
          <a:xfrm>
            <a:off x="4572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/>
              <a:t>Headcount settled at 9.4pts</a:t>
            </a:r>
            <a:r>
              <a:rPr sz="1600"/>
              <a:t> — </a:t>
            </a:r>
            <a:r>
              <a:rPr sz="1600"/>
              <a:t>Backlog improved to 91.8x, against the industry median.</a:t>
            </a:r>
          </a:p>
          <a:p>
            <a:r>
              <a:rPr sz="1400" i="1"/>
              <a:t>Read across: </a:t>
            </a:r>
            <a:r>
              <a:rPr sz="1400"/>
              <a:t>Deal size closed the quarter at 61.9k, in line with the prior quarter.</a:t>
            </a:r>
            <a:r>
              <a:rPr sz="1400" u="sng"/>
              <a:t> Footnote</a:t>
            </a:r>
            <a:r>
              <a:rPr sz="1400" baseline="30000"/>
              <a:t>1</a:t>
            </a:r>
          </a:p>
          <a:p>
            <a:r>
              <a:rPr sz="1200" cap="all" spc="100">
                <a:solidFill>
                  <a:schemeClr val="accent2"/>
                </a:solidFill>
              </a:rPr>
              <a:t>Note</a:t>
            </a:r>
            <a:br>
              <a:rPr sz="1200"/>
            </a:br>
            <a:r>
              <a:rPr sz="1400"/>
              <a:t>Churn improved to 13.5k, ahead of the target.</a:t>
            </a:r>
          </a:p>
        </p:txBody>
      </p:sp>
      <p:sp>
        <p:nvSpPr>
          <p:cNvPr id="11" name="Right column"/>
          <p:cNvSpPr/>
          <p:nvPr/>
        </p:nvSpPr>
        <p:spPr>
          <a:xfrm>
            <a:off x="62484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pPr algn="just"/>
            <a:r>
              <a:rPr sz="1400"/>
              <a:t>Gross margin slipped to 66.3pts, on the strength of the forecast. Cloud spend grew 31.6m, on the strength of the board case.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Unit cost held at 84.9pts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Revenue slipped to 60.0m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Headcount closed the quarter at 51.5x</a:t>
            </a:r>
          </a:p>
        </p:txBody>
      </p:sp>
      <p:sp>
        <p:nvSpPr>
          <p:cNvPr id="9" name="Slide Number 22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22}" type="slidenum">
              <a:rPr sz="1000"/>
              <a:t>22</a:t>
            </a:fld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Market: at a glance</a:t>
            </a:r>
          </a:p>
        </p:txBody>
      </p:sp>
      <p:pic>
        <p:nvPicPr>
          <p:cNvPr id="10" name="Site photograph" descr="Hills under a morning sky"/>
          <p:cNvPicPr>
            <a:picLocks noChangeAspect="1"/>
          </p:cNvPicPr>
          <p:nvPr/>
        </p:nvPicPr>
        <p:blipFill>
          <a:blip r:embed="rId2"/>
          <a:srcRect l="10000" t="5000" r="20000" b="25000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" name="Caption"/>
          <p:cNvSpPr/>
          <p:nvPr/>
        </p:nvSpPr>
        <p:spPr>
          <a:xfrm>
            <a:off x="457200" y="53949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i="1"/>
              <a:t>Figure 3. Gross margin slipped to 13.8pts.</a:t>
            </a:r>
          </a:p>
        </p:txBody>
      </p:sp>
      <p:sp>
        <p:nvSpPr>
          <p:cNvPr id="12" name="Aside"/>
          <p:cNvSpPr/>
          <p:nvPr/>
        </p:nvSpPr>
        <p:spPr>
          <a:xfrm>
            <a:off x="8077200" y="1188720"/>
            <a:ext cx="36576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/>
              <a:t>Cloud spend improved to 93.3d, a point under last year.</a:t>
            </a:r>
          </a:p>
          <a:p>
            <a:r>
              <a:rPr sz="1600"/>
              <a:t>Cycle time improved to 14.7k, ahead of the industry median.</a:t>
            </a:r>
          </a:p>
        </p:txBody>
      </p:sp>
      <p:sp>
        <p:nvSpPr>
          <p:cNvPr id="9" name="Slide Number 23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23}" type="slidenum">
              <a:rPr sz="1000"/>
              <a:t>23</a:t>
            </a:fld>
            <a:endParaRPr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4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Market: what changed</a:t>
            </a:r>
          </a:p>
        </p:txBody>
      </p:sp>
      <p:sp>
        <p:nvSpPr>
          <p:cNvPr id="10" name="triangle 1"/>
          <p:cNvSpPr/>
          <p:nvPr/>
        </p:nvSpPr>
        <p:spPr>
          <a:xfrm>
            <a:off x="548640" y="1280160"/>
            <a:ext cx="2636520" cy="1544320"/>
          </a:xfrm>
          <a:prstGeom prst="triangle">
            <a:avLst/>
          </a:prstGeom>
          <a:pattFill prst="pct25">
            <a:fgClr>
              <a:schemeClr val="accent1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63.0x actual</a:t>
            </a:r>
          </a:p>
        </p:txBody>
      </p:sp>
      <p:sp>
        <p:nvSpPr>
          <p:cNvPr id="11" name="diamond 2"/>
          <p:cNvSpPr/>
          <p:nvPr/>
        </p:nvSpPr>
        <p:spPr>
          <a:xfrm>
            <a:off x="3368040" y="1280160"/>
            <a:ext cx="2636520" cy="1544320"/>
          </a:xfrm>
          <a:prstGeom prst="diamond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96.2d YoY</a:t>
            </a:r>
          </a:p>
        </p:txBody>
      </p:sp>
      <p:sp>
        <p:nvSpPr>
          <p:cNvPr id="12" name="hexagon 3"/>
          <p:cNvSpPr/>
          <p:nvPr/>
        </p:nvSpPr>
        <p:spPr>
          <a:xfrm rot="900000">
            <a:off x="6187440" y="1280160"/>
            <a:ext cx="2636520" cy="1544320"/>
          </a:xfrm>
          <a:prstGeom prst="hexagon">
            <a:avLst/>
          </a:prstGeom>
          <a:gradFill rotWithShape="1">
            <a:gsLst>
              <a:gs pos="0">
                <a:schemeClr val="accent3">
                  <a:tint val="40000"/>
                </a:schemeClr>
              </a:gs>
              <a:gs pos="100000">
                <a:schemeClr val="accent3"/>
              </a:gs>
            </a:gsLst>
            <a:lin ang="5400000" scaled="0"/>
          </a:gradFill>
          <a:ln w="28575">
            <a:solidFill>
              <a:schemeClr val="accent3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4.3k actual</a:t>
            </a:r>
          </a:p>
        </p:txBody>
      </p:sp>
      <p:sp>
        <p:nvSpPr>
          <p:cNvPr id="13" name="star5 4"/>
          <p:cNvSpPr/>
          <p:nvPr/>
        </p:nvSpPr>
        <p:spPr>
          <a:xfrm>
            <a:off x="9006840" y="1280160"/>
            <a:ext cx="2636520" cy="1544320"/>
          </a:xfrm>
          <a:prstGeom prst="star5">
            <a:avLst/>
          </a:prstGeom>
          <a:gradFill rotWithShape="1">
            <a:gsLst>
              <a:gs pos="0">
                <a:schemeClr val="lt1"/>
              </a:gs>
              <a:gs pos="100000">
                <a:schemeClr val="accent4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64.8d target</a:t>
            </a:r>
          </a:p>
        </p:txBody>
      </p:sp>
      <p:sp>
        <p:nvSpPr>
          <p:cNvPr id="14" name="rightArrow 5"/>
          <p:cNvSpPr/>
          <p:nvPr/>
        </p:nvSpPr>
        <p:spPr>
          <a:xfrm>
            <a:off x="548640" y="3007360"/>
            <a:ext cx="2636520" cy="1544320"/>
          </a:xfrm>
          <a:prstGeom prst="rightArrow">
            <a:avLst/>
          </a:prstGeom>
          <a:pattFill prst="dkUpDiag">
            <a:fgClr>
              <a:schemeClr val="accent5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80.6pts YoY</a:t>
            </a:r>
          </a:p>
        </p:txBody>
      </p:sp>
      <p:sp>
        <p:nvSpPr>
          <p:cNvPr id="15" name="chevron 6"/>
          <p:cNvSpPr/>
          <p:nvPr/>
        </p:nvSpPr>
        <p:spPr>
          <a:xfrm rot="0">
            <a:off x="3368040" y="3007360"/>
            <a:ext cx="2636520" cy="1544320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glow rad="63500">
              <a:schemeClr val="accent1">
                <a:alpha val="40000"/>
              </a:schemeClr>
            </a:glo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90.9% actual</a:t>
            </a:r>
          </a:p>
        </p:txBody>
      </p:sp>
      <p:sp>
        <p:nvSpPr>
          <p:cNvPr id="16" name="cloud 7"/>
          <p:cNvSpPr/>
          <p:nvPr/>
        </p:nvSpPr>
        <p:spPr>
          <a:xfrm>
            <a:off x="6187440" y="3007360"/>
            <a:ext cx="2636520" cy="1544320"/>
          </a:xfrm>
          <a:prstGeom prst="cloud">
            <a:avLst/>
          </a:prstGeom>
          <a:gradFill rotWithShape="1">
            <a:gsLst>
              <a:gs pos="0">
                <a:schemeClr val="accent1">
                  <a:tint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28575">
            <a:solidFill>
              <a:schemeClr val="accent1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4.8pts QoQ</a:t>
            </a:r>
          </a:p>
        </p:txBody>
      </p:sp>
      <p:sp>
        <p:nvSpPr>
          <p:cNvPr id="17" name="heart 8"/>
          <p:cNvSpPr/>
          <p:nvPr/>
        </p:nvSpPr>
        <p:spPr>
          <a:xfrm flipH="1">
            <a:off x="9006840" y="3007360"/>
            <a:ext cx="2636520" cy="1544320"/>
          </a:xfrm>
          <a:prstGeom prst="heart">
            <a:avLst/>
          </a:prstGeom>
          <a:gradFill rotWithShape="1">
            <a:gsLst>
              <a:gs pos="0">
                <a:schemeClr val="lt1"/>
              </a:gs>
              <a:gs pos="100000">
                <a:schemeClr val="accent2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96.1m actual</a:t>
            </a:r>
          </a:p>
        </p:txBody>
      </p:sp>
      <p:sp>
        <p:nvSpPr>
          <p:cNvPr id="18" name="octagon 9"/>
          <p:cNvSpPr/>
          <p:nvPr/>
        </p:nvSpPr>
        <p:spPr>
          <a:xfrm rot="2700000">
            <a:off x="548640" y="4734560"/>
            <a:ext cx="2636520" cy="1544320"/>
          </a:xfrm>
          <a:prstGeom prst="octagon">
            <a:avLst/>
          </a:prstGeom>
          <a:pattFill prst="smGrid">
            <a:fgClr>
              <a:schemeClr val="accent3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26.0% YoY</a:t>
            </a:r>
          </a:p>
        </p:txBody>
      </p:sp>
      <p:sp>
        <p:nvSpPr>
          <p:cNvPr id="19" name="rect 10"/>
          <p:cNvSpPr/>
          <p:nvPr/>
        </p:nvSpPr>
        <p:spPr>
          <a:xfrm>
            <a:off x="3368040" y="4734560"/>
            <a:ext cx="2636520" cy="15443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40.2m actual</a:t>
            </a:r>
          </a:p>
        </p:txBody>
      </p:sp>
      <p:sp>
        <p:nvSpPr>
          <p:cNvPr id="20" name="roundRect 11"/>
          <p:cNvSpPr/>
          <p:nvPr/>
        </p:nvSpPr>
        <p:spPr>
          <a:xfrm>
            <a:off x="6187440" y="4734560"/>
            <a:ext cx="2636520" cy="1544320"/>
          </a:xfrm>
          <a:prstGeom prst="roundRect">
            <a:avLst/>
          </a:prstGeom>
          <a:gradFill rotWithShape="1">
            <a:gsLst>
              <a:gs pos="0">
                <a:schemeClr val="accent5">
                  <a:tint val="40000"/>
                </a:schemeClr>
              </a:gs>
              <a:gs pos="100000">
                <a:schemeClr val="accent5"/>
              </a:gs>
            </a:gsLst>
            <a:lin ang="5400000" scaled="0"/>
          </a:gradFill>
          <a:ln w="28575">
            <a:solidFill>
              <a:schemeClr val="accent5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59.3d target</a:t>
            </a:r>
          </a:p>
        </p:txBody>
      </p:sp>
      <p:grpSp>
        <p:nvGrpSpPr>
          <p:cNvPr id="30" name="Grouped trio"/>
          <p:cNvGrpSpPr/>
          <p:nvPr/>
        </p:nvGrpSpPr>
        <p:grpSpPr>
          <a:xfrm rot="1200000">
            <a:off x="9006840" y="4734560"/>
            <a:ext cx="2636520" cy="1544320"/>
            <a:chOff x="9006840" y="4734560"/>
            <a:chExt cx="2636520" cy="1544320"/>
          </a:xfrm>
        </p:grpSpPr>
        <p:sp>
          <p:nvSpPr>
            <p:cNvPr id="31" name="Leaf 1"/>
            <p:cNvSpPr/>
            <p:nvPr/>
          </p:nvSpPr>
          <p:spPr>
            <a:xfrm>
              <a:off x="9006840" y="4734560"/>
              <a:ext cx="833120" cy="1158240"/>
            </a:xfrm>
            <a:prstGeom prst="ellipse">
              <a:avLst/>
            </a:prstGeom>
            <a:solidFill>
              <a:schemeClr val="accent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Leaf 2"/>
            <p:cNvSpPr/>
            <p:nvPr/>
          </p:nvSpPr>
          <p:spPr>
            <a:xfrm>
              <a:off x="9885680" y="5120640"/>
              <a:ext cx="833120" cy="1158240"/>
            </a:xfrm>
            <a:prstGeom prst="roundRect">
              <a:avLst/>
            </a:prstGeom>
            <a:solidFill>
              <a:schemeClr val="accent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Leaf 3"/>
            <p:cNvSpPr/>
            <p:nvPr/>
          </p:nvSpPr>
          <p:spPr>
            <a:xfrm>
              <a:off x="10764520" y="4734560"/>
              <a:ext cx="833120" cy="1158240"/>
            </a:xfrm>
            <a:prstGeom prst="diamond">
              <a:avLst/>
            </a:prstGeom>
            <a:solidFill>
              <a:schemeClr val="accent6"/>
            </a:solidFill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40" name="Straight Arrow Connector 40"/>
          <p:cNvCxnSpPr>
            <a:cxnSpLocks/>
          </p:cNvCxnSpPr>
          <p:nvPr/>
        </p:nvCxnSpPr>
        <p:spPr>
          <a:xfrm>
            <a:off x="1866900" y="2824480"/>
            <a:ext cx="0" cy="18288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9" name="Slide Number 24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24}" type="slidenum">
              <a:rPr sz="1000"/>
              <a:t>24</a:t>
            </a:fld>
            <a:endParaRPr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Rule"/>
          <p:cNvCxnSpPr>
            <a:cxnSpLocks/>
          </p:cNvCxnSpPr>
          <p:nvPr/>
        </p:nvCxnSpPr>
        <p:spPr>
          <a:xfrm>
            <a:off x="1828800" y="1600200"/>
            <a:ext cx="8534400" cy="0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</p:cxnSp>
      <p:sp>
        <p:nvSpPr>
          <p:cNvPr id="11" name="Quotation"/>
          <p:cNvSpPr/>
          <p:nvPr/>
        </p:nvSpPr>
        <p:spPr>
          <a:xfrm>
            <a:off x="1371600" y="1828800"/>
            <a:ext cx="9448800" cy="2743200"/>
          </a:xfrm>
          <a:prstGeom prst="rect">
            <a:avLst/>
          </a:prstGeom>
          <a:noFill/>
        </p:spPr>
        <p:txBody>
          <a:bodyPr wrap="square" lIns="360000" tIns="360000" rIns="360000" bIns="360000" anchor="ctr"/>
          <a:lstStyle/>
          <a:p>
            <a:pPr algn="ctr"/>
            <a:r>
              <a:rPr sz="2800" i="1"/>
              <a:t>“Deal size improved to 56.2d, in line with the revised model. Headcount moved to 93.3m, on the strength of the plan.”</a:t>
            </a:r>
          </a:p>
        </p:txBody>
      </p:sp>
      <p:sp>
        <p:nvSpPr>
          <p:cNvPr id="12" name="Attribution"/>
          <p:cNvSpPr/>
          <p:nvPr/>
        </p:nvSpPr>
        <p:spPr>
          <a:xfrm>
            <a:off x="1371600" y="4663440"/>
            <a:ext cx="9448800" cy="640080"/>
          </a:xfrm>
          <a:prstGeom prst="rect">
            <a:avLst/>
          </a:prstGeom>
          <a:noFill/>
        </p:spPr>
        <p:txBody>
          <a:bodyPr wrap="square" anchor="b"/>
          <a:lstStyle/>
          <a:p>
            <a:pPr algn="r"/>
            <a:r>
              <a:rPr sz="1400">
                <a:solidFill>
                  <a:schemeClr val="tx2"/>
                </a:solidFill>
              </a:rPr>
              <a:t>A. Okafor, Design</a:t>
            </a:r>
          </a:p>
        </p:txBody>
      </p:sp>
      <p:sp>
        <p:nvSpPr>
          <p:cNvPr id="9" name="Slide Number 25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25}" type="slidenum">
              <a:rPr sz="1000"/>
              <a:t>25</a:t>
            </a:fld>
            <a:endParaRPr sz="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6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Market: by segment</a:t>
            </a:r>
          </a:p>
        </p:txBody>
      </p:sp>
      <p:sp>
        <p:nvSpPr>
          <p:cNvPr id="10" name="Bar 1"/>
          <p:cNvSpPr/>
          <p:nvPr/>
        </p:nvSpPr>
        <p:spPr>
          <a:xfrm>
            <a:off x="739140" y="3017520"/>
            <a:ext cx="845820" cy="2286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0" name="Value 1"/>
          <p:cNvSpPr/>
          <p:nvPr/>
        </p:nvSpPr>
        <p:spPr>
          <a:xfrm>
            <a:off x="739140" y="265176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89.4d</a:t>
            </a:r>
          </a:p>
        </p:txBody>
      </p:sp>
      <p:sp>
        <p:nvSpPr>
          <p:cNvPr id="30" name="Label 1"/>
          <p:cNvSpPr/>
          <p:nvPr/>
        </p:nvSpPr>
        <p:spPr>
          <a:xfrm>
            <a:off x="7391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25</a:t>
            </a:r>
          </a:p>
        </p:txBody>
      </p:sp>
      <p:sp>
        <p:nvSpPr>
          <p:cNvPr id="11" name="Bar 2"/>
          <p:cNvSpPr/>
          <p:nvPr/>
        </p:nvSpPr>
        <p:spPr>
          <a:xfrm>
            <a:off x="2148840" y="3200400"/>
            <a:ext cx="845820" cy="21031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1" name="Value 2"/>
          <p:cNvSpPr/>
          <p:nvPr/>
        </p:nvSpPr>
        <p:spPr>
          <a:xfrm>
            <a:off x="2148840" y="28346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33.5x</a:t>
            </a:r>
          </a:p>
        </p:txBody>
      </p:sp>
      <p:sp>
        <p:nvSpPr>
          <p:cNvPr id="31" name="Label 2"/>
          <p:cNvSpPr/>
          <p:nvPr/>
        </p:nvSpPr>
        <p:spPr>
          <a:xfrm>
            <a:off x="21488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25</a:t>
            </a:r>
          </a:p>
        </p:txBody>
      </p:sp>
      <p:sp>
        <p:nvSpPr>
          <p:cNvPr id="12" name="Bar 3"/>
          <p:cNvSpPr/>
          <p:nvPr/>
        </p:nvSpPr>
        <p:spPr>
          <a:xfrm>
            <a:off x="3558540" y="2468880"/>
            <a:ext cx="845820" cy="28346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2" name="Value 3"/>
          <p:cNvSpPr/>
          <p:nvPr/>
        </p:nvSpPr>
        <p:spPr>
          <a:xfrm>
            <a:off x="3558540" y="21031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14.8m</a:t>
            </a:r>
          </a:p>
        </p:txBody>
      </p:sp>
      <p:sp>
        <p:nvSpPr>
          <p:cNvPr id="32" name="Label 3"/>
          <p:cNvSpPr/>
          <p:nvPr/>
        </p:nvSpPr>
        <p:spPr>
          <a:xfrm>
            <a:off x="35585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25</a:t>
            </a:r>
          </a:p>
        </p:txBody>
      </p:sp>
      <p:sp>
        <p:nvSpPr>
          <p:cNvPr id="13" name="Bar 4"/>
          <p:cNvSpPr/>
          <p:nvPr/>
        </p:nvSpPr>
        <p:spPr>
          <a:xfrm>
            <a:off x="4968240" y="3566160"/>
            <a:ext cx="845820" cy="17373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3" name="Value 4"/>
          <p:cNvSpPr/>
          <p:nvPr/>
        </p:nvSpPr>
        <p:spPr>
          <a:xfrm>
            <a:off x="4968240" y="32004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77.0%</a:t>
            </a:r>
          </a:p>
        </p:txBody>
      </p:sp>
      <p:sp>
        <p:nvSpPr>
          <p:cNvPr id="33" name="Label 4"/>
          <p:cNvSpPr/>
          <p:nvPr/>
        </p:nvSpPr>
        <p:spPr>
          <a:xfrm>
            <a:off x="49682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25</a:t>
            </a:r>
          </a:p>
        </p:txBody>
      </p:sp>
      <p:sp>
        <p:nvSpPr>
          <p:cNvPr id="14" name="Bar 5"/>
          <p:cNvSpPr/>
          <p:nvPr/>
        </p:nvSpPr>
        <p:spPr>
          <a:xfrm>
            <a:off x="6377940" y="4663440"/>
            <a:ext cx="845820" cy="6400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4" name="Value 5"/>
          <p:cNvSpPr/>
          <p:nvPr/>
        </p:nvSpPr>
        <p:spPr>
          <a:xfrm>
            <a:off x="6377940" y="42976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82.5pts</a:t>
            </a:r>
          </a:p>
        </p:txBody>
      </p:sp>
      <p:sp>
        <p:nvSpPr>
          <p:cNvPr id="34" name="Label 5"/>
          <p:cNvSpPr/>
          <p:nvPr/>
        </p:nvSpPr>
        <p:spPr>
          <a:xfrm>
            <a:off x="63779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26</a:t>
            </a:r>
          </a:p>
        </p:txBody>
      </p:sp>
      <p:sp>
        <p:nvSpPr>
          <p:cNvPr id="15" name="Bar 6"/>
          <p:cNvSpPr/>
          <p:nvPr/>
        </p:nvSpPr>
        <p:spPr>
          <a:xfrm>
            <a:off x="7787640" y="2926080"/>
            <a:ext cx="845820" cy="23774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5" name="Value 6"/>
          <p:cNvSpPr/>
          <p:nvPr/>
        </p:nvSpPr>
        <p:spPr>
          <a:xfrm>
            <a:off x="7787640" y="25603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44.5k</a:t>
            </a:r>
          </a:p>
        </p:txBody>
      </p:sp>
      <p:sp>
        <p:nvSpPr>
          <p:cNvPr id="35" name="Label 6"/>
          <p:cNvSpPr/>
          <p:nvPr/>
        </p:nvSpPr>
        <p:spPr>
          <a:xfrm>
            <a:off x="77876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26</a:t>
            </a:r>
          </a:p>
        </p:txBody>
      </p:sp>
      <p:sp>
        <p:nvSpPr>
          <p:cNvPr id="16" name="Bar 7"/>
          <p:cNvSpPr/>
          <p:nvPr/>
        </p:nvSpPr>
        <p:spPr>
          <a:xfrm>
            <a:off x="9197340" y="3017520"/>
            <a:ext cx="845820" cy="2286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6" name="Value 7"/>
          <p:cNvSpPr/>
          <p:nvPr/>
        </p:nvSpPr>
        <p:spPr>
          <a:xfrm>
            <a:off x="9197340" y="265176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63.8x</a:t>
            </a:r>
          </a:p>
        </p:txBody>
      </p:sp>
      <p:sp>
        <p:nvSpPr>
          <p:cNvPr id="36" name="Label 7"/>
          <p:cNvSpPr/>
          <p:nvPr/>
        </p:nvSpPr>
        <p:spPr>
          <a:xfrm>
            <a:off x="91973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26</a:t>
            </a:r>
          </a:p>
        </p:txBody>
      </p:sp>
      <p:sp>
        <p:nvSpPr>
          <p:cNvPr id="17" name="Bar 8"/>
          <p:cNvSpPr/>
          <p:nvPr/>
        </p:nvSpPr>
        <p:spPr>
          <a:xfrm>
            <a:off x="10607040" y="4663440"/>
            <a:ext cx="845820" cy="6400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7" name="Value 8"/>
          <p:cNvSpPr/>
          <p:nvPr/>
        </p:nvSpPr>
        <p:spPr>
          <a:xfrm>
            <a:off x="10607040" y="42976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13.1d</a:t>
            </a:r>
          </a:p>
        </p:txBody>
      </p:sp>
      <p:sp>
        <p:nvSpPr>
          <p:cNvPr id="37" name="Label 8"/>
          <p:cNvSpPr/>
          <p:nvPr/>
        </p:nvSpPr>
        <p:spPr>
          <a:xfrm>
            <a:off x="106070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26</a:t>
            </a:r>
          </a:p>
        </p:txBody>
      </p:sp>
      <p:cxnSp>
        <p:nvCxnSpPr>
          <p:cNvPr id="40" name="Baseline"/>
          <p:cNvCxnSpPr>
            <a:cxnSpLocks/>
          </p:cNvCxnSpPr>
          <p:nvPr/>
        </p:nvCxnSpPr>
        <p:spPr>
          <a:xfrm>
            <a:off x="457200" y="5303520"/>
            <a:ext cx="112776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</p:cxnSp>
      <p:sp>
        <p:nvSpPr>
          <p:cNvPr id="41" name="Axis title"/>
          <p:cNvSpPr/>
          <p:nvPr/>
        </p:nvSpPr>
        <p:spPr>
          <a:xfrm>
            <a:off x="457200" y="5715000"/>
            <a:ext cx="1127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i="1"/>
              <a:t>Cycle time reached 63.7m, by quarter</a:t>
            </a:r>
          </a:p>
        </p:txBody>
      </p:sp>
      <p:sp>
        <p:nvSpPr>
          <p:cNvPr id="9" name="Slide Number 26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26}" type="slidenum">
              <a:rPr sz="1000"/>
              <a:t>26</a:t>
            </a:fld>
            <a:endParaRPr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pter number"/>
          <p:cNvSpPr/>
          <p:nvPr/>
        </p:nvSpPr>
        <p:spPr>
          <a:xfrm>
            <a:off x="914400" y="1828800"/>
            <a:ext cx="3657600" cy="1828800"/>
          </a:xfrm>
          <a:prstGeom prst="rect">
            <a:avLst/>
          </a:prstGeom>
          <a:noFill/>
        </p:spPr>
        <p:txBody>
          <a:bodyPr wrap="square" anchor="b"/>
          <a:lstStyle/>
          <a:p>
            <a:r>
              <a:rPr sz="6000" b="1">
                <a:solidFill>
                  <a:schemeClr val="tx1"/>
                </a:solidFill>
              </a:rPr>
              <a:t>03</a:t>
            </a:r>
          </a:p>
        </p:txBody>
      </p:sp>
      <p:sp>
        <p:nvSpPr>
          <p:cNvPr id="11" name="Chapter title"/>
          <p:cNvSpPr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600">
                <a:solidFill>
                  <a:schemeClr val="tx1"/>
                </a:solidFill>
              </a:rPr>
              <a:t>Product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8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Product: next steps</a:t>
            </a:r>
          </a:p>
        </p:txBody>
      </p:sp>
      <p:sp>
        <p:nvSpPr>
          <p:cNvPr id="10" name="Left column"/>
          <p:cNvSpPr/>
          <p:nvPr/>
        </p:nvSpPr>
        <p:spPr>
          <a:xfrm>
            <a:off x="4572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/>
              <a:t>Deal size closed the quarter at 24.9pts</a:t>
            </a:r>
            <a:r>
              <a:rPr sz="1600"/>
              <a:t> — </a:t>
            </a:r>
            <a:r>
              <a:rPr sz="1600"/>
              <a:t>Pipeline coverage settled at 14.2k, against the industry median.</a:t>
            </a:r>
          </a:p>
          <a:p>
            <a:r>
              <a:rPr sz="1400" i="1"/>
              <a:t>Read across: </a:t>
            </a:r>
            <a:r>
              <a:rPr sz="1400"/>
              <a:t>Onboarding time grew 10.4x, two points over the revised model.</a:t>
            </a:r>
            <a:r>
              <a:rPr sz="1400" u="sng"/>
              <a:t> Footnote</a:t>
            </a:r>
            <a:r>
              <a:rPr sz="1400" baseline="30000"/>
              <a:t>1</a:t>
            </a:r>
          </a:p>
          <a:p>
            <a:r>
              <a:rPr sz="1200" cap="all" spc="100">
                <a:solidFill>
                  <a:schemeClr val="accent2"/>
                </a:solidFill>
              </a:rPr>
              <a:t>Watch</a:t>
            </a:r>
            <a:br>
              <a:rPr sz="1200"/>
            </a:br>
            <a:r>
              <a:rPr sz="1400"/>
              <a:t>Revenue grew 65.4pts, in line with last year.</a:t>
            </a:r>
          </a:p>
        </p:txBody>
      </p:sp>
      <p:sp>
        <p:nvSpPr>
          <p:cNvPr id="11" name="Right column"/>
          <p:cNvSpPr/>
          <p:nvPr/>
        </p:nvSpPr>
        <p:spPr>
          <a:xfrm>
            <a:off x="62484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pPr algn="just"/>
            <a:r>
              <a:rPr sz="1400"/>
              <a:t>Churn moved to 86.0%, against the prior quarter. Unit cost slipped to 39.0d, a point under the forecast.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Gross margin reached 95.2d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Net retention grew 64.5m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Onboarding time closed the quarter at 19.4%</a:t>
            </a:r>
          </a:p>
        </p:txBody>
      </p:sp>
      <p:sp>
        <p:nvSpPr>
          <p:cNvPr id="9" name="Slide Number 28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28}" type="slidenum">
              <a:rPr sz="1000"/>
              <a:t>28</a:t>
            </a:fld>
            <a:endParaRPr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9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Product: by segment</a:t>
            </a:r>
          </a:p>
        </p:txBody>
      </p:sp>
      <p:pic>
        <p:nvPicPr>
          <p:cNvPr id="10" name="Chart screenshot" descr="Five bars, two colou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" name="Caption"/>
          <p:cNvSpPr/>
          <p:nvPr/>
        </p:nvSpPr>
        <p:spPr>
          <a:xfrm>
            <a:off x="457200" y="53949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i="1"/>
              <a:t>Figure 4. Pipeline coverage slipped to 18.2%.</a:t>
            </a:r>
          </a:p>
        </p:txBody>
      </p:sp>
      <p:sp>
        <p:nvSpPr>
          <p:cNvPr id="12" name="Aside"/>
          <p:cNvSpPr/>
          <p:nvPr/>
        </p:nvSpPr>
        <p:spPr>
          <a:xfrm>
            <a:off x="8077200" y="1188720"/>
            <a:ext cx="36576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/>
              <a:t>Net retention settled at 20.6%, against the target.</a:t>
            </a:r>
          </a:p>
          <a:p>
            <a:r>
              <a:rPr sz="1600"/>
              <a:t>Net retention improved to 80.1pts, a point under the forecast.</a:t>
            </a:r>
          </a:p>
        </p:txBody>
      </p:sp>
      <p:sp>
        <p:nvSpPr>
          <p:cNvPr id="9" name="Slide Number 29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29}" type="slidenum">
              <a:rPr sz="1000"/>
              <a:t>29</a:t>
            </a:fld>
            <a:endParaRPr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0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Product: by region</a:t>
            </a:r>
          </a:p>
        </p:txBody>
      </p:sp>
      <p:sp>
        <p:nvSpPr>
          <p:cNvPr id="10" name="diamond 1"/>
          <p:cNvSpPr/>
          <p:nvPr/>
        </p:nvSpPr>
        <p:spPr>
          <a:xfrm>
            <a:off x="548640" y="1280160"/>
            <a:ext cx="2636520" cy="1544320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75.1x actual</a:t>
            </a:r>
          </a:p>
        </p:txBody>
      </p:sp>
      <p:sp>
        <p:nvSpPr>
          <p:cNvPr id="11" name="hexagon 2"/>
          <p:cNvSpPr/>
          <p:nvPr/>
        </p:nvSpPr>
        <p:spPr>
          <a:xfrm>
            <a:off x="3368040" y="1280160"/>
            <a:ext cx="2636520" cy="1544320"/>
          </a:xfrm>
          <a:prstGeom prst="hexagon">
            <a:avLst/>
          </a:prstGeom>
          <a:gradFill rotWithShape="1">
            <a:gsLst>
              <a:gs pos="0">
                <a:schemeClr val="accent2">
                  <a:tint val="40000"/>
                </a:schemeClr>
              </a:gs>
              <a:gs pos="100000">
                <a:schemeClr val="accent2"/>
              </a:gs>
            </a:gsLst>
            <a:lin ang="5400000" scaled="0"/>
          </a:gradFill>
          <a:ln w="28575">
            <a:solidFill>
              <a:schemeClr val="accent2">
                <a:shade val="50000"/>
              </a:schemeClr>
            </a:solidFill>
            <a:prstDash val="dash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2.6pts actual</a:t>
            </a:r>
          </a:p>
        </p:txBody>
      </p:sp>
      <p:sp>
        <p:nvSpPr>
          <p:cNvPr id="12" name="star5 3"/>
          <p:cNvSpPr/>
          <p:nvPr/>
        </p:nvSpPr>
        <p:spPr>
          <a:xfrm rot="1800000">
            <a:off x="6187440" y="1280160"/>
            <a:ext cx="2636520" cy="1544320"/>
          </a:xfrm>
          <a:prstGeom prst="star5">
            <a:avLst/>
          </a:prstGeom>
          <a:gradFill rotWithShape="1">
            <a:gsLst>
              <a:gs pos="0">
                <a:schemeClr val="lt1"/>
              </a:gs>
              <a:gs pos="100000">
                <a:schemeClr val="accent3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77.2x target</a:t>
            </a:r>
          </a:p>
        </p:txBody>
      </p:sp>
      <p:sp>
        <p:nvSpPr>
          <p:cNvPr id="13" name="rightArrow 4"/>
          <p:cNvSpPr/>
          <p:nvPr/>
        </p:nvSpPr>
        <p:spPr>
          <a:xfrm>
            <a:off x="9006840" y="1280160"/>
            <a:ext cx="2636520" cy="1544320"/>
          </a:xfrm>
          <a:prstGeom prst="rightArrow">
            <a:avLst/>
          </a:prstGeom>
          <a:pattFill prst="pct25">
            <a:fgClr>
              <a:schemeClr val="accent4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90.2pts YoY</a:t>
            </a:r>
          </a:p>
        </p:txBody>
      </p:sp>
      <p:sp>
        <p:nvSpPr>
          <p:cNvPr id="14" name="chevron 5"/>
          <p:cNvSpPr/>
          <p:nvPr/>
        </p:nvSpPr>
        <p:spPr>
          <a:xfrm>
            <a:off x="548640" y="3007360"/>
            <a:ext cx="2636520" cy="1544320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23.9k YoY</a:t>
            </a:r>
          </a:p>
        </p:txBody>
      </p:sp>
      <p:sp>
        <p:nvSpPr>
          <p:cNvPr id="15" name="cloud 6"/>
          <p:cNvSpPr/>
          <p:nvPr/>
        </p:nvSpPr>
        <p:spPr>
          <a:xfrm rot="900000">
            <a:off x="3368040" y="3007360"/>
            <a:ext cx="2636520" cy="1544320"/>
          </a:xfrm>
          <a:prstGeom prst="cloud">
            <a:avLst/>
          </a:prstGeom>
          <a:gradFill rotWithShape="1">
            <a:gsLst>
              <a:gs pos="0">
                <a:schemeClr val="accent6">
                  <a:tint val="40000"/>
                </a:schemeClr>
              </a:gs>
              <a:gs pos="100000">
                <a:schemeClr val="accent6"/>
              </a:gs>
            </a:gsLst>
            <a:lin ang="5400000" scaled="0"/>
          </a:gradFill>
          <a:ln w="28575">
            <a:solidFill>
              <a:schemeClr val="accent6">
                <a:shade val="50000"/>
              </a:schemeClr>
            </a:solidFill>
            <a:prstDash val="dash"/>
          </a:ln>
          <a:effectLst>
            <a:glow rad="63500">
              <a:schemeClr val="accent1">
                <a:alpha val="40000"/>
              </a:schemeClr>
            </a:glo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58.3x actual</a:t>
            </a:r>
          </a:p>
        </p:txBody>
      </p:sp>
      <p:sp>
        <p:nvSpPr>
          <p:cNvPr id="16" name="heart 7"/>
          <p:cNvSpPr/>
          <p:nvPr/>
        </p:nvSpPr>
        <p:spPr>
          <a:xfrm>
            <a:off x="6187440" y="3007360"/>
            <a:ext cx="2636520" cy="1544320"/>
          </a:xfrm>
          <a:prstGeom prst="heart">
            <a:avLst/>
          </a:prstGeom>
          <a:gradFill rotWithShape="1">
            <a:gsLst>
              <a:gs pos="0">
                <a:schemeClr val="lt1"/>
              </a:gs>
              <a:gs pos="100000">
                <a:schemeClr val="accent1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48.6d QoQ</a:t>
            </a:r>
          </a:p>
        </p:txBody>
      </p:sp>
      <p:sp>
        <p:nvSpPr>
          <p:cNvPr id="17" name="octagon 8"/>
          <p:cNvSpPr/>
          <p:nvPr/>
        </p:nvSpPr>
        <p:spPr>
          <a:xfrm flipH="1">
            <a:off x="9006840" y="3007360"/>
            <a:ext cx="2636520" cy="1544320"/>
          </a:xfrm>
          <a:prstGeom prst="octagon">
            <a:avLst/>
          </a:prstGeom>
          <a:pattFill prst="dkUpDiag">
            <a:fgClr>
              <a:schemeClr val="accent2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50.0x target</a:t>
            </a:r>
          </a:p>
        </p:txBody>
      </p:sp>
      <p:sp>
        <p:nvSpPr>
          <p:cNvPr id="18" name="rect 9"/>
          <p:cNvSpPr/>
          <p:nvPr/>
        </p:nvSpPr>
        <p:spPr>
          <a:xfrm rot="0">
            <a:off x="548640" y="4734560"/>
            <a:ext cx="2636520" cy="15443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77.9m target</a:t>
            </a:r>
          </a:p>
        </p:txBody>
      </p:sp>
      <p:sp>
        <p:nvSpPr>
          <p:cNvPr id="19" name="roundRect 10"/>
          <p:cNvSpPr/>
          <p:nvPr/>
        </p:nvSpPr>
        <p:spPr>
          <a:xfrm>
            <a:off x="3368040" y="4734560"/>
            <a:ext cx="2636520" cy="1544320"/>
          </a:xfrm>
          <a:prstGeom prst="roundRect">
            <a:avLst/>
          </a:prstGeom>
          <a:gradFill rotWithShape="1">
            <a:gsLst>
              <a:gs pos="0">
                <a:schemeClr val="accent4">
                  <a:tint val="40000"/>
                </a:schemeClr>
              </a:gs>
              <a:gs pos="100000">
                <a:schemeClr val="accent4"/>
              </a:gs>
            </a:gsLst>
            <a:lin ang="5400000" scaled="0"/>
          </a:gradFill>
          <a:ln w="28575">
            <a:solidFill>
              <a:schemeClr val="accent4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59.9k target</a:t>
            </a:r>
          </a:p>
        </p:txBody>
      </p:sp>
      <p:sp>
        <p:nvSpPr>
          <p:cNvPr id="20" name="ellipse 11"/>
          <p:cNvSpPr/>
          <p:nvPr/>
        </p:nvSpPr>
        <p:spPr>
          <a:xfrm>
            <a:off x="6187440" y="4734560"/>
            <a:ext cx="2636520" cy="1544320"/>
          </a:xfrm>
          <a:prstGeom prst="ellipse">
            <a:avLst/>
          </a:prstGeom>
          <a:gradFill rotWithShape="1">
            <a:gsLst>
              <a:gs pos="0">
                <a:schemeClr val="lt1"/>
              </a:gs>
              <a:gs pos="100000">
                <a:schemeClr val="accent5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12.6m target</a:t>
            </a:r>
          </a:p>
        </p:txBody>
      </p:sp>
      <p:grpSp>
        <p:nvGrpSpPr>
          <p:cNvPr id="30" name="Grouped trio"/>
          <p:cNvGrpSpPr/>
          <p:nvPr/>
        </p:nvGrpSpPr>
        <p:grpSpPr>
          <a:xfrm rot="1200000">
            <a:off x="9006840" y="4734560"/>
            <a:ext cx="2636520" cy="1544320"/>
            <a:chOff x="9006840" y="4734560"/>
            <a:chExt cx="2636520" cy="1544320"/>
          </a:xfrm>
        </p:grpSpPr>
        <p:sp>
          <p:nvSpPr>
            <p:cNvPr id="31" name="Leaf 1"/>
            <p:cNvSpPr/>
            <p:nvPr/>
          </p:nvSpPr>
          <p:spPr>
            <a:xfrm>
              <a:off x="9006840" y="4734560"/>
              <a:ext cx="833120" cy="1158240"/>
            </a:xfrm>
            <a:prstGeom prst="ellipse">
              <a:avLst/>
            </a:prstGeom>
            <a:solidFill>
              <a:schemeClr val="accent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Leaf 2"/>
            <p:cNvSpPr/>
            <p:nvPr/>
          </p:nvSpPr>
          <p:spPr>
            <a:xfrm>
              <a:off x="9885680" y="5120640"/>
              <a:ext cx="833120" cy="1158240"/>
            </a:xfrm>
            <a:prstGeom prst="roundRect">
              <a:avLst/>
            </a:prstGeom>
            <a:solidFill>
              <a:schemeClr val="accent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Leaf 3"/>
            <p:cNvSpPr/>
            <p:nvPr/>
          </p:nvSpPr>
          <p:spPr>
            <a:xfrm>
              <a:off x="10764520" y="4734560"/>
              <a:ext cx="833120" cy="1158240"/>
            </a:xfrm>
            <a:prstGeom prst="diamond">
              <a:avLst/>
            </a:prstGeom>
            <a:solidFill>
              <a:schemeClr val="accent1"/>
            </a:solidFill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40" name="Straight Arrow Connector 40"/>
          <p:cNvCxnSpPr>
            <a:cxnSpLocks/>
          </p:cNvCxnSpPr>
          <p:nvPr/>
        </p:nvCxnSpPr>
        <p:spPr>
          <a:xfrm>
            <a:off x="1866900" y="2824480"/>
            <a:ext cx="0" cy="18288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9" name="Slide Number 30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30}" type="slidenum">
              <a:rPr sz="1000"/>
              <a:t>30</a:t>
            </a:fld>
            <a:endParaRPr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Rule"/>
          <p:cNvCxnSpPr>
            <a:cxnSpLocks/>
          </p:cNvCxnSpPr>
          <p:nvPr/>
        </p:nvCxnSpPr>
        <p:spPr>
          <a:xfrm>
            <a:off x="1828800" y="1600200"/>
            <a:ext cx="8534400" cy="0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</p:cxnSp>
      <p:sp>
        <p:nvSpPr>
          <p:cNvPr id="11" name="Quotation"/>
          <p:cNvSpPr/>
          <p:nvPr/>
        </p:nvSpPr>
        <p:spPr>
          <a:xfrm>
            <a:off x="1371600" y="1828800"/>
            <a:ext cx="9448800" cy="2743200"/>
          </a:xfrm>
          <a:prstGeom prst="rect">
            <a:avLst/>
          </a:prstGeom>
          <a:noFill/>
        </p:spPr>
        <p:txBody>
          <a:bodyPr wrap="square" lIns="360000" tIns="360000" rIns="360000" bIns="360000" anchor="ctr"/>
          <a:lstStyle/>
          <a:p>
            <a:pPr algn="ctr"/>
            <a:r>
              <a:rPr sz="2800" i="1"/>
              <a:t>“Renewal rate improved to 83.2x, against the revised model. Uptime closed the quarter at 56.7x, a point under the board case.”</a:t>
            </a:r>
          </a:p>
        </p:txBody>
      </p:sp>
      <p:sp>
        <p:nvSpPr>
          <p:cNvPr id="12" name="Attribution"/>
          <p:cNvSpPr/>
          <p:nvPr/>
        </p:nvSpPr>
        <p:spPr>
          <a:xfrm>
            <a:off x="1371600" y="4663440"/>
            <a:ext cx="9448800" cy="640080"/>
          </a:xfrm>
          <a:prstGeom prst="rect">
            <a:avLst/>
          </a:prstGeom>
          <a:noFill/>
        </p:spPr>
        <p:txBody>
          <a:bodyPr wrap="square" anchor="b"/>
          <a:lstStyle/>
          <a:p>
            <a:pPr algn="r"/>
            <a:r>
              <a:rPr sz="1400">
                <a:solidFill>
                  <a:schemeClr val="tx2"/>
                </a:solidFill>
              </a:rPr>
              <a:t>M. Lindqvist, Customer Success</a:t>
            </a:r>
          </a:p>
        </p:txBody>
      </p:sp>
      <p:sp>
        <p:nvSpPr>
          <p:cNvPr id="9" name="Slide Number 31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31}" type="slidenum">
              <a:rPr sz="1000"/>
              <a:t>31</a:t>
            </a:fld>
            <a:endParaRPr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Product: quarter on quarter</a:t>
            </a:r>
          </a:p>
        </p:txBody>
      </p:sp>
      <p:sp>
        <p:nvSpPr>
          <p:cNvPr id="10" name="Bar 1"/>
          <p:cNvSpPr/>
          <p:nvPr/>
        </p:nvSpPr>
        <p:spPr>
          <a:xfrm>
            <a:off x="739140" y="2743200"/>
            <a:ext cx="845820" cy="25603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0" name="Value 1"/>
          <p:cNvSpPr/>
          <p:nvPr/>
        </p:nvSpPr>
        <p:spPr>
          <a:xfrm>
            <a:off x="739140" y="23774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91.6d</a:t>
            </a:r>
          </a:p>
        </p:txBody>
      </p:sp>
      <p:sp>
        <p:nvSpPr>
          <p:cNvPr id="30" name="Label 1"/>
          <p:cNvSpPr/>
          <p:nvPr/>
        </p:nvSpPr>
        <p:spPr>
          <a:xfrm>
            <a:off x="7391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25</a:t>
            </a:r>
          </a:p>
        </p:txBody>
      </p:sp>
      <p:sp>
        <p:nvSpPr>
          <p:cNvPr id="11" name="Bar 2"/>
          <p:cNvSpPr/>
          <p:nvPr/>
        </p:nvSpPr>
        <p:spPr>
          <a:xfrm>
            <a:off x="2148840" y="2743200"/>
            <a:ext cx="845820" cy="25603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1" name="Value 2"/>
          <p:cNvSpPr/>
          <p:nvPr/>
        </p:nvSpPr>
        <p:spPr>
          <a:xfrm>
            <a:off x="2148840" y="23774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26.7d</a:t>
            </a:r>
          </a:p>
        </p:txBody>
      </p:sp>
      <p:sp>
        <p:nvSpPr>
          <p:cNvPr id="31" name="Label 2"/>
          <p:cNvSpPr/>
          <p:nvPr/>
        </p:nvSpPr>
        <p:spPr>
          <a:xfrm>
            <a:off x="21488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25</a:t>
            </a:r>
          </a:p>
        </p:txBody>
      </p:sp>
      <p:sp>
        <p:nvSpPr>
          <p:cNvPr id="12" name="Bar 3"/>
          <p:cNvSpPr/>
          <p:nvPr/>
        </p:nvSpPr>
        <p:spPr>
          <a:xfrm>
            <a:off x="3558540" y="4572000"/>
            <a:ext cx="845820" cy="7315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2" name="Value 3"/>
          <p:cNvSpPr/>
          <p:nvPr/>
        </p:nvSpPr>
        <p:spPr>
          <a:xfrm>
            <a:off x="3558540" y="4206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88.2%</a:t>
            </a:r>
          </a:p>
        </p:txBody>
      </p:sp>
      <p:sp>
        <p:nvSpPr>
          <p:cNvPr id="32" name="Label 3"/>
          <p:cNvSpPr/>
          <p:nvPr/>
        </p:nvSpPr>
        <p:spPr>
          <a:xfrm>
            <a:off x="35585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25</a:t>
            </a:r>
          </a:p>
        </p:txBody>
      </p:sp>
      <p:sp>
        <p:nvSpPr>
          <p:cNvPr id="13" name="Bar 4"/>
          <p:cNvSpPr/>
          <p:nvPr/>
        </p:nvSpPr>
        <p:spPr>
          <a:xfrm>
            <a:off x="4968240" y="2926080"/>
            <a:ext cx="845820" cy="23774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3" name="Value 4"/>
          <p:cNvSpPr/>
          <p:nvPr/>
        </p:nvSpPr>
        <p:spPr>
          <a:xfrm>
            <a:off x="4968240" y="25603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16.7k</a:t>
            </a:r>
          </a:p>
        </p:txBody>
      </p:sp>
      <p:sp>
        <p:nvSpPr>
          <p:cNvPr id="33" name="Label 4"/>
          <p:cNvSpPr/>
          <p:nvPr/>
        </p:nvSpPr>
        <p:spPr>
          <a:xfrm>
            <a:off x="49682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25</a:t>
            </a:r>
          </a:p>
        </p:txBody>
      </p:sp>
      <p:sp>
        <p:nvSpPr>
          <p:cNvPr id="14" name="Bar 5"/>
          <p:cNvSpPr/>
          <p:nvPr/>
        </p:nvSpPr>
        <p:spPr>
          <a:xfrm>
            <a:off x="6377940" y="2743200"/>
            <a:ext cx="845820" cy="25603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4" name="Value 5"/>
          <p:cNvSpPr/>
          <p:nvPr/>
        </p:nvSpPr>
        <p:spPr>
          <a:xfrm>
            <a:off x="6377940" y="23774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86.4k</a:t>
            </a:r>
          </a:p>
        </p:txBody>
      </p:sp>
      <p:sp>
        <p:nvSpPr>
          <p:cNvPr id="34" name="Label 5"/>
          <p:cNvSpPr/>
          <p:nvPr/>
        </p:nvSpPr>
        <p:spPr>
          <a:xfrm>
            <a:off x="63779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26</a:t>
            </a:r>
          </a:p>
        </p:txBody>
      </p:sp>
      <p:sp>
        <p:nvSpPr>
          <p:cNvPr id="15" name="Bar 6"/>
          <p:cNvSpPr/>
          <p:nvPr/>
        </p:nvSpPr>
        <p:spPr>
          <a:xfrm>
            <a:off x="7787640" y="4572000"/>
            <a:ext cx="845820" cy="7315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5" name="Value 6"/>
          <p:cNvSpPr/>
          <p:nvPr/>
        </p:nvSpPr>
        <p:spPr>
          <a:xfrm>
            <a:off x="7787640" y="4206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51.8%</a:t>
            </a:r>
          </a:p>
        </p:txBody>
      </p:sp>
      <p:sp>
        <p:nvSpPr>
          <p:cNvPr id="35" name="Label 6"/>
          <p:cNvSpPr/>
          <p:nvPr/>
        </p:nvSpPr>
        <p:spPr>
          <a:xfrm>
            <a:off x="77876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26</a:t>
            </a:r>
          </a:p>
        </p:txBody>
      </p:sp>
      <p:sp>
        <p:nvSpPr>
          <p:cNvPr id="16" name="Bar 7"/>
          <p:cNvSpPr/>
          <p:nvPr/>
        </p:nvSpPr>
        <p:spPr>
          <a:xfrm>
            <a:off x="9197340" y="3566160"/>
            <a:ext cx="845820" cy="17373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6" name="Value 7"/>
          <p:cNvSpPr/>
          <p:nvPr/>
        </p:nvSpPr>
        <p:spPr>
          <a:xfrm>
            <a:off x="9197340" y="32004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81.9pts</a:t>
            </a:r>
          </a:p>
        </p:txBody>
      </p:sp>
      <p:sp>
        <p:nvSpPr>
          <p:cNvPr id="36" name="Label 7"/>
          <p:cNvSpPr/>
          <p:nvPr/>
        </p:nvSpPr>
        <p:spPr>
          <a:xfrm>
            <a:off x="91973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26</a:t>
            </a:r>
          </a:p>
        </p:txBody>
      </p:sp>
      <p:sp>
        <p:nvSpPr>
          <p:cNvPr id="17" name="Bar 8"/>
          <p:cNvSpPr/>
          <p:nvPr/>
        </p:nvSpPr>
        <p:spPr>
          <a:xfrm>
            <a:off x="10607040" y="3383280"/>
            <a:ext cx="845820" cy="1920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7" name="Value 8"/>
          <p:cNvSpPr/>
          <p:nvPr/>
        </p:nvSpPr>
        <p:spPr>
          <a:xfrm>
            <a:off x="10607040" y="30175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71.0k</a:t>
            </a:r>
          </a:p>
        </p:txBody>
      </p:sp>
      <p:sp>
        <p:nvSpPr>
          <p:cNvPr id="37" name="Label 8"/>
          <p:cNvSpPr/>
          <p:nvPr/>
        </p:nvSpPr>
        <p:spPr>
          <a:xfrm>
            <a:off x="106070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26</a:t>
            </a:r>
          </a:p>
        </p:txBody>
      </p:sp>
      <p:cxnSp>
        <p:nvCxnSpPr>
          <p:cNvPr id="40" name="Baseline"/>
          <p:cNvCxnSpPr>
            <a:cxnSpLocks/>
          </p:cNvCxnSpPr>
          <p:nvPr/>
        </p:nvCxnSpPr>
        <p:spPr>
          <a:xfrm>
            <a:off x="457200" y="5303520"/>
            <a:ext cx="112776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</p:cxnSp>
      <p:sp>
        <p:nvSpPr>
          <p:cNvPr id="41" name="Axis title"/>
          <p:cNvSpPr/>
          <p:nvPr/>
        </p:nvSpPr>
        <p:spPr>
          <a:xfrm>
            <a:off x="457200" y="5715000"/>
            <a:ext cx="1127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i="1"/>
              <a:t>Revenue slipped to 79.0x, by quarter</a:t>
            </a:r>
          </a:p>
        </p:txBody>
      </p:sp>
      <p:sp>
        <p:nvSpPr>
          <p:cNvPr id="9" name="Slide Number 32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32}" type="slidenum">
              <a:rPr sz="1000"/>
              <a:t>32</a:t>
            </a:fld>
            <a:endParaRPr sz="1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Product: the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Headcount settled at 26.9pts, against the revised model.</a:t>
            </a:r>
          </a:p>
          <a:p>
            <a:r>
              <a:rPr sz="2000"/>
              <a:t>Revenue closed the quarter at 44.5d, ahead of the target.</a:t>
            </a:r>
          </a:p>
          <a:p>
            <a:pPr lvl="1"/>
            <a:r>
              <a:rPr sz="1800"/>
              <a:t>Backlog moved to 21.5d</a:t>
            </a:r>
          </a:p>
          <a:p>
            <a:pPr lvl="1"/>
            <a:r>
              <a:rPr sz="1800"/>
              <a:t>Revenue moved to 31.6m</a:t>
            </a:r>
          </a:p>
          <a:p>
            <a:pPr lvl="1"/>
            <a:r>
              <a:rPr sz="1800"/>
              <a:t>Cloud spend settled at 48.9d</a:t>
            </a:r>
          </a:p>
          <a:p>
            <a:r>
              <a:rPr sz="2000"/>
              <a:t>Backlog reached 9.9%, in line with the target.</a:t>
            </a:r>
          </a:p>
          <a:p>
            <a:r>
              <a:rPr sz="2000"/>
              <a:t>Headcount grew 60.4%, in line with the board case.</a:t>
            </a:r>
          </a:p>
          <a:p>
            <a:pPr lvl="1"/>
            <a:r>
              <a:rPr sz="1800"/>
              <a:t>Cycle time improved to 25.2k</a:t>
            </a:r>
          </a:p>
          <a:p>
            <a:pPr lvl="1"/>
            <a:r>
              <a:rPr sz="1800"/>
              <a:t>Deal size closed the quarter at 90.0m</a:t>
            </a:r>
          </a:p>
          <a:p>
            <a:pPr lvl="1"/>
            <a:r>
              <a:rPr sz="1800"/>
              <a:t>Cycle time reached 96.7x</a:t>
            </a:r>
          </a:p>
        </p:txBody>
      </p:sp>
      <p:sp>
        <p:nvSpPr>
          <p:cNvPr id="9" name="Slide Number 33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33}" type="slidenum">
              <a:rPr sz="1000"/>
              <a:t>33</a:t>
            </a:fld>
            <a:endParaRPr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4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Product: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Cloud spend reached 47.7x, before the effect of the revised model.</a:t>
            </a:r>
          </a:p>
          <a:p>
            <a:pPr lvl="1"/>
            <a:r>
              <a:rPr sz="1800"/>
              <a:t>Support volume improved to 87.5m</a:t>
            </a:r>
          </a:p>
          <a:p>
            <a:r>
              <a:rPr sz="2000"/>
              <a:t>Churn closed the quarter at 1.8m, two points over the prior quarter.</a:t>
            </a:r>
          </a:p>
          <a:p>
            <a:r>
              <a:rPr sz="2000"/>
              <a:t>Pipeline coverage slipped to 14.5d, in line with the forecast.</a:t>
            </a:r>
          </a:p>
          <a:p>
            <a:r>
              <a:rPr sz="2000"/>
              <a:t>Gross margin improved to 90.7k, in line with the plan.</a:t>
            </a:r>
          </a:p>
          <a:p>
            <a:pPr lvl="1"/>
            <a:r>
              <a:rPr sz="1800"/>
              <a:t>Onboarding time closed the quarter at 7.6k</a:t>
            </a:r>
          </a:p>
          <a:p>
            <a:pPr lvl="1"/>
            <a:r>
              <a:rPr sz="1800"/>
              <a:t>Pipeline coverage moved to 69.1m</a:t>
            </a:r>
          </a:p>
          <a:p>
            <a:r>
              <a:rPr sz="2000"/>
              <a:t>Deal size improved to 85.5k, ahead of the prior quarter.</a:t>
            </a:r>
          </a:p>
          <a:p>
            <a:pPr lvl="1"/>
            <a:r>
              <a:rPr sz="1800"/>
              <a:t>Release cadence slipped to 20.9d</a:t>
            </a:r>
          </a:p>
          <a:p>
            <a:pPr lvl="1"/>
            <a:r>
              <a:rPr sz="1800"/>
              <a:t>Net retention moved to 34.9%</a:t>
            </a:r>
          </a:p>
          <a:p>
            <a:pPr lvl="1"/>
            <a:r>
              <a:rPr sz="1800"/>
              <a:t>Uptime slipped to 14.0%</a:t>
            </a:r>
          </a:p>
          <a:p>
            <a:r>
              <a:rPr sz="2000"/>
              <a:t>Cycle time improved to 60.5m, a point under the forecast.</a:t>
            </a:r>
          </a:p>
          <a:p>
            <a:pPr lvl="1"/>
            <a:r>
              <a:rPr sz="1800"/>
              <a:t>Cloud spend grew 43.0%</a:t>
            </a:r>
          </a:p>
        </p:txBody>
      </p:sp>
      <p:sp>
        <p:nvSpPr>
          <p:cNvPr id="9" name="Slide Number 34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34}" type="slidenum">
              <a:rPr sz="1000"/>
              <a:t>34</a:t>
            </a:fld>
            <a:endParaRPr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5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Product: quarter on quarter</a:t>
            </a:r>
          </a:p>
        </p:txBody>
      </p:sp>
      <p:sp>
        <p:nvSpPr>
          <p:cNvPr id="10" name="Left column"/>
          <p:cNvSpPr/>
          <p:nvPr/>
        </p:nvSpPr>
        <p:spPr>
          <a:xfrm>
            <a:off x="4572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/>
              <a:t>Pipeline coverage moved to 26.5pts</a:t>
            </a:r>
            <a:r>
              <a:rPr sz="1600"/>
              <a:t> — </a:t>
            </a:r>
            <a:r>
              <a:rPr sz="1600"/>
              <a:t>Uptime slipped to 21.7m, in line with last year.</a:t>
            </a:r>
          </a:p>
          <a:p>
            <a:r>
              <a:rPr sz="1400" i="1"/>
              <a:t>Read across: </a:t>
            </a:r>
            <a:r>
              <a:rPr sz="1400"/>
              <a:t>Unit cost settled at 32.0pts, a point under the board case.</a:t>
            </a:r>
            <a:r>
              <a:rPr sz="1400" u="sng"/>
              <a:t> Footnote</a:t>
            </a:r>
            <a:r>
              <a:rPr sz="1400" baseline="30000"/>
              <a:t>1</a:t>
            </a:r>
          </a:p>
          <a:p>
            <a:r>
              <a:rPr sz="1200" cap="all" spc="100">
                <a:solidFill>
                  <a:schemeClr val="accent2"/>
                </a:solidFill>
              </a:rPr>
              <a:t>Note</a:t>
            </a:r>
            <a:br>
              <a:rPr sz="1200"/>
            </a:br>
            <a:r>
              <a:rPr sz="1400"/>
              <a:t>Uptime reached 11.6m, ahead of the forecast.</a:t>
            </a:r>
          </a:p>
        </p:txBody>
      </p:sp>
      <p:sp>
        <p:nvSpPr>
          <p:cNvPr id="11" name="Right column"/>
          <p:cNvSpPr/>
          <p:nvPr/>
        </p:nvSpPr>
        <p:spPr>
          <a:xfrm>
            <a:off x="62484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pPr algn="just"/>
            <a:r>
              <a:rPr sz="1400"/>
              <a:t>Uptime slipped to 92.7pts, two points over the plan. Churn improved to 96.7m, on the strength of the board case.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Onboarding time settled at 9.3k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Cloud spend grew 69.8k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Support volume reached 47.2pts</a:t>
            </a:r>
          </a:p>
        </p:txBody>
      </p:sp>
      <p:sp>
        <p:nvSpPr>
          <p:cNvPr id="9" name="Slide Number 35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35}" type="slidenum">
              <a:rPr sz="1000"/>
              <a:t>35</a:t>
            </a:fld>
            <a:endParaRPr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6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Product: next steps</a:t>
            </a:r>
          </a:p>
        </p:txBody>
      </p:sp>
      <p:pic>
        <p:nvPicPr>
          <p:cNvPr id="10" name="Site photograph" descr="Hills under a morning 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" name="Caption"/>
          <p:cNvSpPr/>
          <p:nvPr/>
        </p:nvSpPr>
        <p:spPr>
          <a:xfrm>
            <a:off x="457200" y="53949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i="1"/>
              <a:t>Figure 5. Backlog slipped to 7.0%.</a:t>
            </a:r>
          </a:p>
        </p:txBody>
      </p:sp>
      <p:sp>
        <p:nvSpPr>
          <p:cNvPr id="12" name="Aside"/>
          <p:cNvSpPr/>
          <p:nvPr/>
        </p:nvSpPr>
        <p:spPr>
          <a:xfrm>
            <a:off x="8077200" y="1188720"/>
            <a:ext cx="36576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/>
              <a:t>Headcount reached 17.5%, with the revised model still to land.</a:t>
            </a:r>
          </a:p>
          <a:p>
            <a:r>
              <a:rPr sz="1600"/>
              <a:t>Deal size held at 25.7%, a point under the plan.</a:t>
            </a:r>
          </a:p>
        </p:txBody>
      </p:sp>
      <p:sp>
        <p:nvSpPr>
          <p:cNvPr id="9" name="Slide Number 36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36}" type="slidenum">
              <a:rPr sz="1000"/>
              <a:t>36</a:t>
            </a:fld>
            <a:endParaRPr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7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Product: what changed</a:t>
            </a:r>
          </a:p>
        </p:txBody>
      </p:sp>
      <p:sp>
        <p:nvSpPr>
          <p:cNvPr id="10" name="hexagon 1"/>
          <p:cNvSpPr/>
          <p:nvPr/>
        </p:nvSpPr>
        <p:spPr>
          <a:xfrm>
            <a:off x="548640" y="1280160"/>
            <a:ext cx="2636520" cy="1544320"/>
          </a:xfrm>
          <a:prstGeom prst="hexagon">
            <a:avLst/>
          </a:prstGeom>
          <a:gradFill rotWithShape="1">
            <a:gsLst>
              <a:gs pos="0">
                <a:schemeClr val="accent1">
                  <a:tint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28575">
            <a:solidFill>
              <a:schemeClr val="accent1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40.2m actual</a:t>
            </a:r>
          </a:p>
        </p:txBody>
      </p:sp>
      <p:sp>
        <p:nvSpPr>
          <p:cNvPr id="11" name="star5 2"/>
          <p:cNvSpPr/>
          <p:nvPr/>
        </p:nvSpPr>
        <p:spPr>
          <a:xfrm>
            <a:off x="3368040" y="1280160"/>
            <a:ext cx="2636520" cy="1544320"/>
          </a:xfrm>
          <a:prstGeom prst="star5">
            <a:avLst/>
          </a:prstGeom>
          <a:gradFill rotWithShape="1">
            <a:gsLst>
              <a:gs pos="0">
                <a:schemeClr val="lt1"/>
              </a:gs>
              <a:gs pos="100000">
                <a:schemeClr val="accent2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89.4pts target</a:t>
            </a:r>
          </a:p>
        </p:txBody>
      </p:sp>
      <p:sp>
        <p:nvSpPr>
          <p:cNvPr id="12" name="rightArrow 3"/>
          <p:cNvSpPr/>
          <p:nvPr/>
        </p:nvSpPr>
        <p:spPr>
          <a:xfrm rot="2700000">
            <a:off x="6187440" y="1280160"/>
            <a:ext cx="2636520" cy="1544320"/>
          </a:xfrm>
          <a:prstGeom prst="rightArrow">
            <a:avLst/>
          </a:prstGeom>
          <a:pattFill prst="smGrid">
            <a:fgClr>
              <a:schemeClr val="accent3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15.3% target</a:t>
            </a:r>
          </a:p>
        </p:txBody>
      </p:sp>
      <p:sp>
        <p:nvSpPr>
          <p:cNvPr id="13" name="chevron 4"/>
          <p:cNvSpPr/>
          <p:nvPr/>
        </p:nvSpPr>
        <p:spPr>
          <a:xfrm>
            <a:off x="9006840" y="1280160"/>
            <a:ext cx="2636520" cy="1544320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87.0pts actual</a:t>
            </a:r>
          </a:p>
        </p:txBody>
      </p:sp>
      <p:sp>
        <p:nvSpPr>
          <p:cNvPr id="14" name="cloud 5"/>
          <p:cNvSpPr/>
          <p:nvPr/>
        </p:nvSpPr>
        <p:spPr>
          <a:xfrm>
            <a:off x="548640" y="3007360"/>
            <a:ext cx="2636520" cy="1544320"/>
          </a:xfrm>
          <a:prstGeom prst="cloud">
            <a:avLst/>
          </a:prstGeom>
          <a:gradFill rotWithShape="1">
            <a:gsLst>
              <a:gs pos="0">
                <a:schemeClr val="accent5">
                  <a:tint val="40000"/>
                </a:schemeClr>
              </a:gs>
              <a:gs pos="100000">
                <a:schemeClr val="accent5"/>
              </a:gs>
            </a:gsLst>
            <a:lin ang="5400000" scaled="0"/>
          </a:gradFill>
          <a:ln w="28575">
            <a:solidFill>
              <a:schemeClr val="accent5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72.1m target</a:t>
            </a:r>
          </a:p>
        </p:txBody>
      </p:sp>
      <p:sp>
        <p:nvSpPr>
          <p:cNvPr id="15" name="heart 6"/>
          <p:cNvSpPr/>
          <p:nvPr/>
        </p:nvSpPr>
        <p:spPr>
          <a:xfrm rot="1800000">
            <a:off x="3368040" y="3007360"/>
            <a:ext cx="2636520" cy="1544320"/>
          </a:xfrm>
          <a:prstGeom prst="heart">
            <a:avLst/>
          </a:prstGeom>
          <a:gradFill rotWithShape="1">
            <a:gsLst>
              <a:gs pos="0">
                <a:schemeClr val="lt1"/>
              </a:gs>
              <a:gs pos="100000">
                <a:schemeClr val="accent6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  <a:effectLst>
            <a:glow rad="63500">
              <a:schemeClr val="accent1">
                <a:alpha val="40000"/>
              </a:schemeClr>
            </a:glo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3.9d actual</a:t>
            </a:r>
          </a:p>
        </p:txBody>
      </p:sp>
      <p:sp>
        <p:nvSpPr>
          <p:cNvPr id="16" name="octagon 7"/>
          <p:cNvSpPr/>
          <p:nvPr/>
        </p:nvSpPr>
        <p:spPr>
          <a:xfrm>
            <a:off x="6187440" y="3007360"/>
            <a:ext cx="2636520" cy="1544320"/>
          </a:xfrm>
          <a:prstGeom prst="octagon">
            <a:avLst/>
          </a:prstGeom>
          <a:pattFill prst="pct25">
            <a:fgClr>
              <a:schemeClr val="accent1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18.1pts actual</a:t>
            </a:r>
          </a:p>
        </p:txBody>
      </p:sp>
      <p:sp>
        <p:nvSpPr>
          <p:cNvPr id="17" name="rect 8"/>
          <p:cNvSpPr/>
          <p:nvPr/>
        </p:nvSpPr>
        <p:spPr>
          <a:xfrm flipH="1">
            <a:off x="9006840" y="3007360"/>
            <a:ext cx="2636520" cy="15443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94.2pts target</a:t>
            </a:r>
          </a:p>
        </p:txBody>
      </p:sp>
      <p:sp>
        <p:nvSpPr>
          <p:cNvPr id="18" name="roundRect 9"/>
          <p:cNvSpPr/>
          <p:nvPr/>
        </p:nvSpPr>
        <p:spPr>
          <a:xfrm rot="900000">
            <a:off x="548640" y="4734560"/>
            <a:ext cx="2636520" cy="1544320"/>
          </a:xfrm>
          <a:prstGeom prst="roundRect">
            <a:avLst/>
          </a:prstGeom>
          <a:gradFill rotWithShape="1">
            <a:gsLst>
              <a:gs pos="0">
                <a:schemeClr val="accent3">
                  <a:tint val="40000"/>
                </a:schemeClr>
              </a:gs>
              <a:gs pos="100000">
                <a:schemeClr val="accent3"/>
              </a:gs>
            </a:gsLst>
            <a:lin ang="5400000" scaled="0"/>
          </a:gradFill>
          <a:ln w="28575">
            <a:solidFill>
              <a:schemeClr val="accent3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89.4pts YoY</a:t>
            </a:r>
          </a:p>
        </p:txBody>
      </p:sp>
      <p:sp>
        <p:nvSpPr>
          <p:cNvPr id="19" name="ellipse 10"/>
          <p:cNvSpPr/>
          <p:nvPr/>
        </p:nvSpPr>
        <p:spPr>
          <a:xfrm>
            <a:off x="3368040" y="4734560"/>
            <a:ext cx="2636520" cy="1544320"/>
          </a:xfrm>
          <a:prstGeom prst="ellipse">
            <a:avLst/>
          </a:prstGeom>
          <a:gradFill rotWithShape="1">
            <a:gsLst>
              <a:gs pos="0">
                <a:schemeClr val="lt1"/>
              </a:gs>
              <a:gs pos="100000">
                <a:schemeClr val="accent4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66.6m actual</a:t>
            </a:r>
          </a:p>
        </p:txBody>
      </p:sp>
      <p:sp>
        <p:nvSpPr>
          <p:cNvPr id="20" name="triangle 11"/>
          <p:cNvSpPr/>
          <p:nvPr/>
        </p:nvSpPr>
        <p:spPr>
          <a:xfrm>
            <a:off x="6187440" y="4734560"/>
            <a:ext cx="2636520" cy="1544320"/>
          </a:xfrm>
          <a:prstGeom prst="triangle">
            <a:avLst/>
          </a:prstGeom>
          <a:pattFill prst="dkUpDiag">
            <a:fgClr>
              <a:schemeClr val="accent5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72.5x QoQ</a:t>
            </a:r>
          </a:p>
        </p:txBody>
      </p:sp>
      <p:grpSp>
        <p:nvGrpSpPr>
          <p:cNvPr id="30" name="Grouped trio"/>
          <p:cNvGrpSpPr/>
          <p:nvPr/>
        </p:nvGrpSpPr>
        <p:grpSpPr>
          <a:xfrm rot="1200000">
            <a:off x="9006840" y="4734560"/>
            <a:ext cx="2636520" cy="1544320"/>
            <a:chOff x="9006840" y="4734560"/>
            <a:chExt cx="2636520" cy="1544320"/>
          </a:xfrm>
        </p:grpSpPr>
        <p:sp>
          <p:nvSpPr>
            <p:cNvPr id="31" name="Leaf 1"/>
            <p:cNvSpPr/>
            <p:nvPr/>
          </p:nvSpPr>
          <p:spPr>
            <a:xfrm>
              <a:off x="9006840" y="4734560"/>
              <a:ext cx="833120" cy="1158240"/>
            </a:xfrm>
            <a:prstGeom prst="ellipse">
              <a:avLst/>
            </a:prstGeom>
            <a:solidFill>
              <a:schemeClr val="accent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Leaf 2"/>
            <p:cNvSpPr/>
            <p:nvPr/>
          </p:nvSpPr>
          <p:spPr>
            <a:xfrm>
              <a:off x="9885680" y="5120640"/>
              <a:ext cx="833120" cy="1158240"/>
            </a:xfrm>
            <a:prstGeom prst="roundRect">
              <a:avLst/>
            </a:prstGeom>
            <a:solidFill>
              <a:schemeClr val="accent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Leaf 3"/>
            <p:cNvSpPr/>
            <p:nvPr/>
          </p:nvSpPr>
          <p:spPr>
            <a:xfrm>
              <a:off x="10764520" y="4734560"/>
              <a:ext cx="833120" cy="1158240"/>
            </a:xfrm>
            <a:prstGeom prst="diamond">
              <a:avLst/>
            </a:prstGeom>
            <a:solidFill>
              <a:schemeClr val="accent2"/>
            </a:solidFill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40" name="Straight Arrow Connector 40"/>
          <p:cNvCxnSpPr>
            <a:cxnSpLocks/>
          </p:cNvCxnSpPr>
          <p:nvPr/>
        </p:nvCxnSpPr>
        <p:spPr>
          <a:xfrm>
            <a:off x="1866900" y="2824480"/>
            <a:ext cx="0" cy="18288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9" name="Slide Number 37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37}" type="slidenum">
              <a:rPr sz="1000"/>
              <a:t>37</a:t>
            </a:fld>
            <a:endParaRPr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Rule"/>
          <p:cNvCxnSpPr>
            <a:cxnSpLocks/>
          </p:cNvCxnSpPr>
          <p:nvPr/>
        </p:nvCxnSpPr>
        <p:spPr>
          <a:xfrm>
            <a:off x="1828800" y="1600200"/>
            <a:ext cx="8534400" cy="0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</p:cxnSp>
      <p:sp>
        <p:nvSpPr>
          <p:cNvPr id="11" name="Quotation"/>
          <p:cNvSpPr/>
          <p:nvPr/>
        </p:nvSpPr>
        <p:spPr>
          <a:xfrm>
            <a:off x="1371600" y="1828800"/>
            <a:ext cx="9448800" cy="2743200"/>
          </a:xfrm>
          <a:prstGeom prst="rect">
            <a:avLst/>
          </a:prstGeom>
          <a:noFill/>
        </p:spPr>
        <p:txBody>
          <a:bodyPr wrap="square" lIns="360000" tIns="360000" rIns="360000" bIns="360000" anchor="ctr"/>
          <a:lstStyle/>
          <a:p>
            <a:pPr algn="ctr"/>
            <a:r>
              <a:rPr sz="2800" i="1"/>
              <a:t>“Renewal rate improved to 33.0m, with the revised model still to land. Renewal rate settled at 30.4x, before the effect of the industry median.”</a:t>
            </a:r>
          </a:p>
        </p:txBody>
      </p:sp>
      <p:sp>
        <p:nvSpPr>
          <p:cNvPr id="12" name="Attribution"/>
          <p:cNvSpPr/>
          <p:nvPr/>
        </p:nvSpPr>
        <p:spPr>
          <a:xfrm>
            <a:off x="1371600" y="4663440"/>
            <a:ext cx="9448800" cy="640080"/>
          </a:xfrm>
          <a:prstGeom prst="rect">
            <a:avLst/>
          </a:prstGeom>
          <a:noFill/>
        </p:spPr>
        <p:txBody>
          <a:bodyPr wrap="square" anchor="b"/>
          <a:lstStyle/>
          <a:p>
            <a:pPr algn="r"/>
            <a:r>
              <a:rPr sz="1400">
                <a:solidFill>
                  <a:schemeClr val="tx2"/>
                </a:solidFill>
              </a:rPr>
              <a:t>L. Bernard, People</a:t>
            </a:r>
          </a:p>
        </p:txBody>
      </p:sp>
      <p:sp>
        <p:nvSpPr>
          <p:cNvPr id="9" name="Slide Number 38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38}" type="slidenum">
              <a:rPr sz="1000"/>
              <a:t>38</a:t>
            </a:fld>
            <a:endParaRPr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accent4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pter number"/>
          <p:cNvSpPr/>
          <p:nvPr/>
        </p:nvSpPr>
        <p:spPr>
          <a:xfrm>
            <a:off x="914400" y="1828800"/>
            <a:ext cx="3657600" cy="1828800"/>
          </a:xfrm>
          <a:prstGeom prst="rect">
            <a:avLst/>
          </a:prstGeom>
          <a:noFill/>
        </p:spPr>
        <p:txBody>
          <a:bodyPr wrap="square" anchor="b"/>
          <a:lstStyle/>
          <a:p>
            <a:r>
              <a:rPr sz="6000" b="1">
                <a:solidFill>
                  <a:schemeClr val="lt1"/>
                </a:solidFill>
              </a:rPr>
              <a:t>04</a:t>
            </a:r>
          </a:p>
        </p:txBody>
      </p:sp>
      <p:sp>
        <p:nvSpPr>
          <p:cNvPr id="11" name="Chapter title"/>
          <p:cNvSpPr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600">
                <a:solidFill>
                  <a:schemeClr val="lt1"/>
                </a:solidFill>
              </a:rPr>
              <a:t>Customers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0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Customers: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000"/>
              <a:t>Churn reached 74.7x, with the revised model still to land.</a:t>
            </a:r>
          </a:p>
          <a:p>
            <a:pPr lvl="1"/>
            <a:r>
              <a:rPr sz="1800"/>
              <a:t>Headcount grew 50.9d</a:t>
            </a:r>
          </a:p>
          <a:p>
            <a:pPr lvl="1"/>
            <a:r>
              <a:rPr sz="1800"/>
              <a:t>Unit cost settled at 36.6%</a:t>
            </a:r>
          </a:p>
          <a:p>
            <a:pPr lvl="1"/>
            <a:r>
              <a:rPr sz="1800"/>
              <a:t>Onboarding time improved to 40.7pts</a:t>
            </a:r>
          </a:p>
          <a:p>
            <a:r>
              <a:rPr sz="2000"/>
              <a:t>Headcount slipped to 24.8d, on the strength of the industry median.</a:t>
            </a:r>
          </a:p>
          <a:p>
            <a:pPr lvl="1"/>
            <a:r>
              <a:rPr sz="1800"/>
              <a:t>Cycle time moved to 86.0%</a:t>
            </a:r>
          </a:p>
          <a:p>
            <a:r>
              <a:rPr sz="2000"/>
              <a:t>Cloud spend slipped to 17.9m, on the strength of the prior quarter.</a:t>
            </a:r>
          </a:p>
          <a:p>
            <a:pPr lvl="1"/>
            <a:r>
              <a:rPr sz="1800"/>
              <a:t>Net retention improved to 51.7d</a:t>
            </a:r>
          </a:p>
          <a:p>
            <a:pPr lvl="1"/>
            <a:r>
              <a:rPr sz="1800"/>
              <a:t>Net retention settled at 25.3m</a:t>
            </a:r>
          </a:p>
          <a:p>
            <a:r>
              <a:rPr sz="2000"/>
              <a:t>Pipeline coverage improved to 56.3x, on the strength of the forecast.</a:t>
            </a:r>
          </a:p>
          <a:p>
            <a:r>
              <a:rPr sz="2000"/>
              <a:t>Revenue held at 15.4d, with the prior quarter still to land.</a:t>
            </a:r>
          </a:p>
          <a:p>
            <a:pPr lvl="1"/>
            <a:r>
              <a:rPr sz="1800"/>
              <a:t>Onboarding time grew 37.4d</a:t>
            </a:r>
          </a:p>
          <a:p>
            <a:pPr lvl="1"/>
            <a:r>
              <a:rPr sz="1800"/>
              <a:t>Backlog slipped to 70.3x</a:t>
            </a:r>
          </a:p>
          <a:p>
            <a:pPr lvl="1"/>
            <a:r>
              <a:rPr sz="1800"/>
              <a:t>Release cadence closed the quarter at 39.4pts</a:t>
            </a:r>
          </a:p>
          <a:p>
            <a:r>
              <a:rPr sz="2000"/>
              <a:t>Churn slipped to 97.8pts, in line with the revised model.</a:t>
            </a:r>
          </a:p>
        </p:txBody>
      </p:sp>
      <p:sp>
        <p:nvSpPr>
          <p:cNvPr id="9" name="Slide Number 40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40}" type="slidenum">
              <a:rPr sz="1000"/>
              <a:t>40</a:t>
            </a:fld>
            <a:endParaRPr sz="1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Customers: at a glance</a:t>
            </a:r>
          </a:p>
        </p:txBody>
      </p:sp>
      <p:sp>
        <p:nvSpPr>
          <p:cNvPr id="10" name="Left column"/>
          <p:cNvSpPr/>
          <p:nvPr/>
        </p:nvSpPr>
        <p:spPr>
          <a:xfrm>
            <a:off x="4572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/>
              <a:t>Support volume reached 41.9pts</a:t>
            </a:r>
            <a:r>
              <a:rPr sz="1600"/>
              <a:t> — </a:t>
            </a:r>
            <a:r>
              <a:rPr sz="1600"/>
              <a:t>Unit cost closed the quarter at 42.1%, against last year.</a:t>
            </a:r>
          </a:p>
          <a:p>
            <a:r>
              <a:rPr sz="1400" i="1"/>
              <a:t>Read across: </a:t>
            </a:r>
            <a:r>
              <a:rPr sz="1400"/>
              <a:t>Churn grew 78.5pts, on the strength of last year.</a:t>
            </a:r>
            <a:r>
              <a:rPr sz="1400" u="sng"/>
              <a:t> Footnote</a:t>
            </a:r>
            <a:r>
              <a:rPr sz="1400" baseline="30000"/>
              <a:t>1</a:t>
            </a:r>
          </a:p>
          <a:p>
            <a:r>
              <a:rPr sz="1200" cap="all" spc="100">
                <a:solidFill>
                  <a:schemeClr val="accent2"/>
                </a:solidFill>
              </a:rPr>
              <a:t>Watch</a:t>
            </a:r>
            <a:br>
              <a:rPr sz="1200"/>
            </a:br>
            <a:r>
              <a:rPr sz="1400"/>
              <a:t>Net retention settled at 63.5x, in line with last year.</a:t>
            </a:r>
          </a:p>
        </p:txBody>
      </p:sp>
      <p:sp>
        <p:nvSpPr>
          <p:cNvPr id="11" name="Right column"/>
          <p:cNvSpPr/>
          <p:nvPr/>
        </p:nvSpPr>
        <p:spPr>
          <a:xfrm>
            <a:off x="62484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pPr algn="just"/>
            <a:r>
              <a:rPr sz="1400"/>
              <a:t>Onboarding time moved to 14.4%, ahead of the forecast. Gross margin closed the quarter at 6.2d, a point under the forecast.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Release cadence improved to 19.7m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Release cadence held at 74.3m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Gross margin moved to 15.0k</a:t>
            </a:r>
          </a:p>
        </p:txBody>
      </p:sp>
      <p:sp>
        <p:nvSpPr>
          <p:cNvPr id="9" name="Slide Number 41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41}" type="slidenum">
              <a:rPr sz="1000"/>
              <a:t>41</a:t>
            </a:fld>
            <a:endParaRPr sz="1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Customers: by region</a:t>
            </a:r>
          </a:p>
        </p:txBody>
      </p:sp>
      <p:pic>
        <p:nvPicPr>
          <p:cNvPr id="10" name="Chart screenshot" descr="Five bars, two colours"/>
          <p:cNvPicPr>
            <a:picLocks noChangeAspect="1"/>
          </p:cNvPicPr>
          <p:nvPr/>
        </p:nvPicPr>
        <p:blipFill>
          <a:blip r:embed="rId3"/>
          <a:srcRect l="10000" t="5000" r="20000" b="25000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" name="Caption"/>
          <p:cNvSpPr/>
          <p:nvPr/>
        </p:nvSpPr>
        <p:spPr>
          <a:xfrm>
            <a:off x="457200" y="53949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i="1"/>
              <a:t>Figure 6. Revenue slipped to 11.4m.</a:t>
            </a:r>
          </a:p>
        </p:txBody>
      </p:sp>
      <p:sp>
        <p:nvSpPr>
          <p:cNvPr id="12" name="Aside"/>
          <p:cNvSpPr/>
          <p:nvPr/>
        </p:nvSpPr>
        <p:spPr>
          <a:xfrm>
            <a:off x="8077200" y="1188720"/>
            <a:ext cx="36576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/>
              <a:t>Onboarding time held at 42.8m, before the effect of last year.</a:t>
            </a:r>
          </a:p>
          <a:p>
            <a:r>
              <a:rPr sz="1600"/>
              <a:t>Gross margin moved to 91.1x, before the effect of the industry median.</a:t>
            </a:r>
          </a:p>
        </p:txBody>
      </p:sp>
      <p:sp>
        <p:nvSpPr>
          <p:cNvPr id="9" name="Slide Number 42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42}" type="slidenum">
              <a:rPr sz="1000"/>
              <a:t>42</a:t>
            </a:fld>
            <a:endParaRPr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Customers: by region</a:t>
            </a:r>
          </a:p>
        </p:txBody>
      </p:sp>
      <p:sp>
        <p:nvSpPr>
          <p:cNvPr id="10" name="star5 1"/>
          <p:cNvSpPr/>
          <p:nvPr/>
        </p:nvSpPr>
        <p:spPr>
          <a:xfrm>
            <a:off x="548640" y="1280160"/>
            <a:ext cx="2636520" cy="1544320"/>
          </a:xfrm>
          <a:prstGeom prst="star5">
            <a:avLst/>
          </a:prstGeom>
          <a:gradFill rotWithShape="1">
            <a:gsLst>
              <a:gs pos="0">
                <a:schemeClr val="lt1"/>
              </a:gs>
              <a:gs pos="100000">
                <a:schemeClr val="accent1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52.3k actual</a:t>
            </a:r>
          </a:p>
        </p:txBody>
      </p:sp>
      <p:sp>
        <p:nvSpPr>
          <p:cNvPr id="11" name="rightArrow 2"/>
          <p:cNvSpPr/>
          <p:nvPr/>
        </p:nvSpPr>
        <p:spPr>
          <a:xfrm>
            <a:off x="3368040" y="1280160"/>
            <a:ext cx="2636520" cy="1544320"/>
          </a:xfrm>
          <a:prstGeom prst="rightArrow">
            <a:avLst/>
          </a:prstGeom>
          <a:pattFill prst="dkUpDiag">
            <a:fgClr>
              <a:schemeClr val="accent2"/>
            </a:fgClr>
            <a:bgClr>
              <a:schemeClr val="lt1"/>
            </a:bgClr>
          </a:pattFill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93.9% QoQ</a:t>
            </a:r>
          </a:p>
        </p:txBody>
      </p:sp>
      <p:sp>
        <p:nvSpPr>
          <p:cNvPr id="12" name="chevron 3"/>
          <p:cNvSpPr/>
          <p:nvPr/>
        </p:nvSpPr>
        <p:spPr>
          <a:xfrm rot="0">
            <a:off x="6187440" y="1280160"/>
            <a:ext cx="2636520" cy="1544320"/>
          </a:xfrm>
          <a:prstGeom prst="chevron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88.2k QoQ</a:t>
            </a:r>
          </a:p>
        </p:txBody>
      </p:sp>
      <p:sp>
        <p:nvSpPr>
          <p:cNvPr id="13" name="cloud 4"/>
          <p:cNvSpPr/>
          <p:nvPr/>
        </p:nvSpPr>
        <p:spPr>
          <a:xfrm>
            <a:off x="9006840" y="1280160"/>
            <a:ext cx="2636520" cy="1544320"/>
          </a:xfrm>
          <a:prstGeom prst="cloud">
            <a:avLst/>
          </a:prstGeom>
          <a:gradFill rotWithShape="1">
            <a:gsLst>
              <a:gs pos="0">
                <a:schemeClr val="accent4">
                  <a:tint val="40000"/>
                </a:schemeClr>
              </a:gs>
              <a:gs pos="100000">
                <a:schemeClr val="accent4"/>
              </a:gs>
            </a:gsLst>
            <a:lin ang="5400000" scaled="0"/>
          </a:gradFill>
          <a:ln w="28575">
            <a:solidFill>
              <a:schemeClr val="accent4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14.3% QoQ</a:t>
            </a:r>
          </a:p>
        </p:txBody>
      </p:sp>
      <p:sp>
        <p:nvSpPr>
          <p:cNvPr id="14" name="heart 5"/>
          <p:cNvSpPr/>
          <p:nvPr/>
        </p:nvSpPr>
        <p:spPr>
          <a:xfrm>
            <a:off x="548640" y="3007360"/>
            <a:ext cx="2636520" cy="1544320"/>
          </a:xfrm>
          <a:prstGeom prst="heart">
            <a:avLst/>
          </a:prstGeom>
          <a:gradFill rotWithShape="1">
            <a:gsLst>
              <a:gs pos="0">
                <a:schemeClr val="lt1"/>
              </a:gs>
              <a:gs pos="100000">
                <a:schemeClr val="accent5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15.4d target</a:t>
            </a:r>
          </a:p>
        </p:txBody>
      </p:sp>
      <p:sp>
        <p:nvSpPr>
          <p:cNvPr id="15" name="octagon 6"/>
          <p:cNvSpPr/>
          <p:nvPr/>
        </p:nvSpPr>
        <p:spPr>
          <a:xfrm rot="2700000">
            <a:off x="3368040" y="3007360"/>
            <a:ext cx="2636520" cy="1544320"/>
          </a:xfrm>
          <a:prstGeom prst="octagon">
            <a:avLst/>
          </a:prstGeom>
          <a:pattFill prst="smGrid">
            <a:fgClr>
              <a:schemeClr val="accent6"/>
            </a:fgClr>
            <a:bgClr>
              <a:schemeClr val="lt1"/>
            </a:bgClr>
          </a:pattFill>
          <a:effectLst>
            <a:glow rad="63500">
              <a:schemeClr val="accent1">
                <a:alpha val="40000"/>
              </a:schemeClr>
            </a:glo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69.3m actual</a:t>
            </a:r>
          </a:p>
        </p:txBody>
      </p:sp>
      <p:sp>
        <p:nvSpPr>
          <p:cNvPr id="16" name="rect 7"/>
          <p:cNvSpPr/>
          <p:nvPr/>
        </p:nvSpPr>
        <p:spPr>
          <a:xfrm>
            <a:off x="6187440" y="3007360"/>
            <a:ext cx="2636520" cy="15443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61.9d YoY</a:t>
            </a:r>
          </a:p>
        </p:txBody>
      </p:sp>
      <p:sp>
        <p:nvSpPr>
          <p:cNvPr id="17" name="roundRect 8"/>
          <p:cNvSpPr/>
          <p:nvPr/>
        </p:nvSpPr>
        <p:spPr>
          <a:xfrm flipH="1">
            <a:off x="9006840" y="3007360"/>
            <a:ext cx="2636520" cy="1544320"/>
          </a:xfrm>
          <a:prstGeom prst="roundRect">
            <a:avLst/>
          </a:prstGeom>
          <a:gradFill rotWithShape="1">
            <a:gsLst>
              <a:gs pos="0">
                <a:schemeClr val="accent2">
                  <a:tint val="40000"/>
                </a:schemeClr>
              </a:gs>
              <a:gs pos="100000">
                <a:schemeClr val="accent2"/>
              </a:gs>
            </a:gsLst>
            <a:lin ang="5400000" scaled="0"/>
          </a:gradFill>
          <a:ln w="28575">
            <a:solidFill>
              <a:schemeClr val="accent2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48.1k QoQ</a:t>
            </a:r>
          </a:p>
        </p:txBody>
      </p:sp>
      <p:sp>
        <p:nvSpPr>
          <p:cNvPr id="18" name="ellipse 9"/>
          <p:cNvSpPr/>
          <p:nvPr/>
        </p:nvSpPr>
        <p:spPr>
          <a:xfrm rot="1800000">
            <a:off x="548640" y="4734560"/>
            <a:ext cx="2636520" cy="1544320"/>
          </a:xfrm>
          <a:prstGeom prst="ellipse">
            <a:avLst/>
          </a:prstGeom>
          <a:gradFill rotWithShape="1">
            <a:gsLst>
              <a:gs pos="0">
                <a:schemeClr val="lt1"/>
              </a:gs>
              <a:gs pos="100000">
                <a:schemeClr val="accent3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43.2% QoQ</a:t>
            </a:r>
          </a:p>
        </p:txBody>
      </p:sp>
      <p:sp>
        <p:nvSpPr>
          <p:cNvPr id="19" name="triangle 10"/>
          <p:cNvSpPr/>
          <p:nvPr/>
        </p:nvSpPr>
        <p:spPr>
          <a:xfrm>
            <a:off x="3368040" y="4734560"/>
            <a:ext cx="2636520" cy="1544320"/>
          </a:xfrm>
          <a:prstGeom prst="triangle">
            <a:avLst/>
          </a:prstGeom>
          <a:pattFill prst="pct25">
            <a:fgClr>
              <a:schemeClr val="accent4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86.3k target</a:t>
            </a:r>
          </a:p>
        </p:txBody>
      </p:sp>
      <p:sp>
        <p:nvSpPr>
          <p:cNvPr id="20" name="diamond 11"/>
          <p:cNvSpPr/>
          <p:nvPr/>
        </p:nvSpPr>
        <p:spPr>
          <a:xfrm>
            <a:off x="6187440" y="4734560"/>
            <a:ext cx="2636520" cy="1544320"/>
          </a:xfrm>
          <a:prstGeom prst="diamond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25.9% QoQ</a:t>
            </a:r>
          </a:p>
        </p:txBody>
      </p:sp>
      <p:grpSp>
        <p:nvGrpSpPr>
          <p:cNvPr id="30" name="Grouped trio"/>
          <p:cNvGrpSpPr/>
          <p:nvPr/>
        </p:nvGrpSpPr>
        <p:grpSpPr>
          <a:xfrm rot="1200000">
            <a:off x="9006840" y="4734560"/>
            <a:ext cx="2636520" cy="1544320"/>
            <a:chOff x="9006840" y="4734560"/>
            <a:chExt cx="2636520" cy="1544320"/>
          </a:xfrm>
        </p:grpSpPr>
        <p:sp>
          <p:nvSpPr>
            <p:cNvPr id="31" name="Leaf 1"/>
            <p:cNvSpPr/>
            <p:nvPr/>
          </p:nvSpPr>
          <p:spPr>
            <a:xfrm>
              <a:off x="9006840" y="4734560"/>
              <a:ext cx="833120" cy="1158240"/>
            </a:xfrm>
            <a:prstGeom prst="ellipse">
              <a:avLst/>
            </a:prstGeom>
            <a:solidFill>
              <a:schemeClr val="accent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Leaf 2"/>
            <p:cNvSpPr/>
            <p:nvPr/>
          </p:nvSpPr>
          <p:spPr>
            <a:xfrm>
              <a:off x="9885680" y="5120640"/>
              <a:ext cx="833120" cy="1158240"/>
            </a:xfrm>
            <a:prstGeom prst="roundRect">
              <a:avLst/>
            </a:prstGeom>
            <a:solidFill>
              <a:schemeClr val="accent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Leaf 3"/>
            <p:cNvSpPr/>
            <p:nvPr/>
          </p:nvSpPr>
          <p:spPr>
            <a:xfrm>
              <a:off x="10764520" y="4734560"/>
              <a:ext cx="833120" cy="1158240"/>
            </a:xfrm>
            <a:prstGeom prst="diamond">
              <a:avLst/>
            </a:prstGeom>
            <a:solidFill>
              <a:schemeClr val="accent3"/>
            </a:solidFill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40" name="Straight Arrow Connector 40"/>
          <p:cNvCxnSpPr>
            <a:cxnSpLocks/>
          </p:cNvCxnSpPr>
          <p:nvPr/>
        </p:nvCxnSpPr>
        <p:spPr>
          <a:xfrm>
            <a:off x="1866900" y="2824480"/>
            <a:ext cx="0" cy="18288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9" name="Slide Number 43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43}" type="slidenum">
              <a:rPr sz="1000"/>
              <a:t>43</a:t>
            </a:fld>
            <a:endParaRPr sz="1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Rule"/>
          <p:cNvCxnSpPr>
            <a:cxnSpLocks/>
          </p:cNvCxnSpPr>
          <p:nvPr/>
        </p:nvCxnSpPr>
        <p:spPr>
          <a:xfrm>
            <a:off x="1828800" y="1600200"/>
            <a:ext cx="8534400" cy="0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</p:cxnSp>
      <p:sp>
        <p:nvSpPr>
          <p:cNvPr id="11" name="Quotation"/>
          <p:cNvSpPr/>
          <p:nvPr/>
        </p:nvSpPr>
        <p:spPr>
          <a:xfrm>
            <a:off x="1371600" y="1828800"/>
            <a:ext cx="9448800" cy="2743200"/>
          </a:xfrm>
          <a:prstGeom prst="rect">
            <a:avLst/>
          </a:prstGeom>
          <a:noFill/>
        </p:spPr>
        <p:txBody>
          <a:bodyPr wrap="square" lIns="360000" tIns="360000" rIns="360000" bIns="360000" anchor="ctr"/>
          <a:lstStyle/>
          <a:p>
            <a:pPr algn="ctr"/>
            <a:r>
              <a:rPr sz="2800" i="1"/>
              <a:t>“Revenue improved to 60.0%, ahead of the revised model. Revenue improved to 91.9pts, two points over the target.”</a:t>
            </a:r>
          </a:p>
        </p:txBody>
      </p:sp>
      <p:sp>
        <p:nvSpPr>
          <p:cNvPr id="12" name="Attribution"/>
          <p:cNvSpPr/>
          <p:nvPr/>
        </p:nvSpPr>
        <p:spPr>
          <a:xfrm>
            <a:off x="1371600" y="4663440"/>
            <a:ext cx="9448800" cy="640080"/>
          </a:xfrm>
          <a:prstGeom prst="rect">
            <a:avLst/>
          </a:prstGeom>
          <a:noFill/>
        </p:spPr>
        <p:txBody>
          <a:bodyPr wrap="square" anchor="b"/>
          <a:lstStyle/>
          <a:p>
            <a:pPr algn="r"/>
            <a:r>
              <a:rPr sz="1400">
                <a:solidFill>
                  <a:schemeClr val="tx2"/>
                </a:solidFill>
              </a:rPr>
              <a:t>L. Bernard, VP Sales</a:t>
            </a:r>
          </a:p>
        </p:txBody>
      </p:sp>
      <p:sp>
        <p:nvSpPr>
          <p:cNvPr id="9" name="Slide Number 44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44}" type="slidenum">
              <a:rPr sz="1000"/>
              <a:t>44</a:t>
            </a:fld>
            <a:endParaRPr sz="1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5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Customers: risks</a:t>
            </a:r>
          </a:p>
        </p:txBody>
      </p:sp>
      <p:sp>
        <p:nvSpPr>
          <p:cNvPr id="10" name="Bar 1"/>
          <p:cNvSpPr/>
          <p:nvPr/>
        </p:nvSpPr>
        <p:spPr>
          <a:xfrm>
            <a:off x="739140" y="3657600"/>
            <a:ext cx="845820" cy="16459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0" name="Value 1"/>
          <p:cNvSpPr/>
          <p:nvPr/>
        </p:nvSpPr>
        <p:spPr>
          <a:xfrm>
            <a:off x="739140" y="32918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96.5x</a:t>
            </a:r>
          </a:p>
        </p:txBody>
      </p:sp>
      <p:sp>
        <p:nvSpPr>
          <p:cNvPr id="30" name="Label 1"/>
          <p:cNvSpPr/>
          <p:nvPr/>
        </p:nvSpPr>
        <p:spPr>
          <a:xfrm>
            <a:off x="7391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25</a:t>
            </a:r>
          </a:p>
        </p:txBody>
      </p:sp>
      <p:sp>
        <p:nvSpPr>
          <p:cNvPr id="11" name="Bar 2"/>
          <p:cNvSpPr/>
          <p:nvPr/>
        </p:nvSpPr>
        <p:spPr>
          <a:xfrm>
            <a:off x="2148840" y="2194560"/>
            <a:ext cx="845820" cy="31089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1" name="Value 2"/>
          <p:cNvSpPr/>
          <p:nvPr/>
        </p:nvSpPr>
        <p:spPr>
          <a:xfrm>
            <a:off x="2148840" y="18288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77.4x</a:t>
            </a:r>
          </a:p>
        </p:txBody>
      </p:sp>
      <p:sp>
        <p:nvSpPr>
          <p:cNvPr id="31" name="Label 2"/>
          <p:cNvSpPr/>
          <p:nvPr/>
        </p:nvSpPr>
        <p:spPr>
          <a:xfrm>
            <a:off x="21488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25</a:t>
            </a:r>
          </a:p>
        </p:txBody>
      </p:sp>
      <p:sp>
        <p:nvSpPr>
          <p:cNvPr id="12" name="Bar 3"/>
          <p:cNvSpPr/>
          <p:nvPr/>
        </p:nvSpPr>
        <p:spPr>
          <a:xfrm>
            <a:off x="3558540" y="2286000"/>
            <a:ext cx="845820" cy="30175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2" name="Value 3"/>
          <p:cNvSpPr/>
          <p:nvPr/>
        </p:nvSpPr>
        <p:spPr>
          <a:xfrm>
            <a:off x="3558540" y="1920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51.2%</a:t>
            </a:r>
          </a:p>
        </p:txBody>
      </p:sp>
      <p:sp>
        <p:nvSpPr>
          <p:cNvPr id="32" name="Label 3"/>
          <p:cNvSpPr/>
          <p:nvPr/>
        </p:nvSpPr>
        <p:spPr>
          <a:xfrm>
            <a:off x="35585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25</a:t>
            </a:r>
          </a:p>
        </p:txBody>
      </p:sp>
      <p:sp>
        <p:nvSpPr>
          <p:cNvPr id="13" name="Bar 4"/>
          <p:cNvSpPr/>
          <p:nvPr/>
        </p:nvSpPr>
        <p:spPr>
          <a:xfrm>
            <a:off x="4968240" y="2103120"/>
            <a:ext cx="845820" cy="32004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3" name="Value 4"/>
          <p:cNvSpPr/>
          <p:nvPr/>
        </p:nvSpPr>
        <p:spPr>
          <a:xfrm>
            <a:off x="4968240" y="173736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49.3x</a:t>
            </a:r>
          </a:p>
        </p:txBody>
      </p:sp>
      <p:sp>
        <p:nvSpPr>
          <p:cNvPr id="33" name="Label 4"/>
          <p:cNvSpPr/>
          <p:nvPr/>
        </p:nvSpPr>
        <p:spPr>
          <a:xfrm>
            <a:off x="49682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25</a:t>
            </a:r>
          </a:p>
        </p:txBody>
      </p:sp>
      <p:sp>
        <p:nvSpPr>
          <p:cNvPr id="14" name="Bar 5"/>
          <p:cNvSpPr/>
          <p:nvPr/>
        </p:nvSpPr>
        <p:spPr>
          <a:xfrm>
            <a:off x="6377940" y="4663440"/>
            <a:ext cx="845820" cy="6400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4" name="Value 5"/>
          <p:cNvSpPr/>
          <p:nvPr/>
        </p:nvSpPr>
        <p:spPr>
          <a:xfrm>
            <a:off x="6377940" y="42976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29.4m</a:t>
            </a:r>
          </a:p>
        </p:txBody>
      </p:sp>
      <p:sp>
        <p:nvSpPr>
          <p:cNvPr id="34" name="Label 5"/>
          <p:cNvSpPr/>
          <p:nvPr/>
        </p:nvSpPr>
        <p:spPr>
          <a:xfrm>
            <a:off x="63779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26</a:t>
            </a:r>
          </a:p>
        </p:txBody>
      </p:sp>
      <p:sp>
        <p:nvSpPr>
          <p:cNvPr id="15" name="Bar 6"/>
          <p:cNvSpPr/>
          <p:nvPr/>
        </p:nvSpPr>
        <p:spPr>
          <a:xfrm>
            <a:off x="7787640" y="2468880"/>
            <a:ext cx="845820" cy="28346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5" name="Value 6"/>
          <p:cNvSpPr/>
          <p:nvPr/>
        </p:nvSpPr>
        <p:spPr>
          <a:xfrm>
            <a:off x="7787640" y="21031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51.5m</a:t>
            </a:r>
          </a:p>
        </p:txBody>
      </p:sp>
      <p:sp>
        <p:nvSpPr>
          <p:cNvPr id="35" name="Label 6"/>
          <p:cNvSpPr/>
          <p:nvPr/>
        </p:nvSpPr>
        <p:spPr>
          <a:xfrm>
            <a:off x="77876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26</a:t>
            </a:r>
          </a:p>
        </p:txBody>
      </p:sp>
      <p:sp>
        <p:nvSpPr>
          <p:cNvPr id="16" name="Bar 7"/>
          <p:cNvSpPr/>
          <p:nvPr/>
        </p:nvSpPr>
        <p:spPr>
          <a:xfrm>
            <a:off x="9197340" y="3749040"/>
            <a:ext cx="845820" cy="15544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6" name="Value 7"/>
          <p:cNvSpPr/>
          <p:nvPr/>
        </p:nvSpPr>
        <p:spPr>
          <a:xfrm>
            <a:off x="9197340" y="33832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39.5%</a:t>
            </a:r>
          </a:p>
        </p:txBody>
      </p:sp>
      <p:sp>
        <p:nvSpPr>
          <p:cNvPr id="36" name="Label 7"/>
          <p:cNvSpPr/>
          <p:nvPr/>
        </p:nvSpPr>
        <p:spPr>
          <a:xfrm>
            <a:off x="91973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26</a:t>
            </a:r>
          </a:p>
        </p:txBody>
      </p:sp>
      <p:sp>
        <p:nvSpPr>
          <p:cNvPr id="17" name="Bar 8"/>
          <p:cNvSpPr/>
          <p:nvPr/>
        </p:nvSpPr>
        <p:spPr>
          <a:xfrm>
            <a:off x="10607040" y="4206240"/>
            <a:ext cx="845820" cy="10972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7" name="Value 8"/>
          <p:cNvSpPr/>
          <p:nvPr/>
        </p:nvSpPr>
        <p:spPr>
          <a:xfrm>
            <a:off x="10607040" y="38404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49.3k</a:t>
            </a:r>
          </a:p>
        </p:txBody>
      </p:sp>
      <p:sp>
        <p:nvSpPr>
          <p:cNvPr id="37" name="Label 8"/>
          <p:cNvSpPr/>
          <p:nvPr/>
        </p:nvSpPr>
        <p:spPr>
          <a:xfrm>
            <a:off x="106070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26</a:t>
            </a:r>
          </a:p>
        </p:txBody>
      </p:sp>
      <p:cxnSp>
        <p:nvCxnSpPr>
          <p:cNvPr id="40" name="Baseline"/>
          <p:cNvCxnSpPr>
            <a:cxnSpLocks/>
          </p:cNvCxnSpPr>
          <p:nvPr/>
        </p:nvCxnSpPr>
        <p:spPr>
          <a:xfrm>
            <a:off x="457200" y="5303520"/>
            <a:ext cx="112776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</p:cxnSp>
      <p:sp>
        <p:nvSpPr>
          <p:cNvPr id="41" name="Axis title"/>
          <p:cNvSpPr/>
          <p:nvPr/>
        </p:nvSpPr>
        <p:spPr>
          <a:xfrm>
            <a:off x="457200" y="5715000"/>
            <a:ext cx="1127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i="1"/>
              <a:t>Cycle time settled at 79.6x, by quarter</a:t>
            </a:r>
          </a:p>
        </p:txBody>
      </p:sp>
      <p:sp>
        <p:nvSpPr>
          <p:cNvPr id="9" name="Slide Number 45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45}" type="slidenum">
              <a:rPr sz="1000"/>
              <a:t>45</a:t>
            </a:fld>
            <a:endParaRPr sz="1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6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Customers: quarter on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Uptime reached 3.7k, ahead of the revised model.</a:t>
            </a:r>
          </a:p>
          <a:p>
            <a:r>
              <a:rPr sz="2000"/>
              <a:t>Onboarding time grew 36.1%, on the strength of the board case.</a:t>
            </a:r>
          </a:p>
          <a:p>
            <a:r>
              <a:rPr sz="2000"/>
              <a:t>Support volume closed the quarter at 58.8k, two points over the plan.</a:t>
            </a:r>
          </a:p>
          <a:p>
            <a:pPr lvl="1"/>
            <a:r>
              <a:rPr sz="1800"/>
              <a:t>Gross margin held at 68.5m</a:t>
            </a:r>
          </a:p>
          <a:p>
            <a:r>
              <a:rPr sz="2000"/>
              <a:t>Release cadence improved to 81.3x, two points over the target.</a:t>
            </a:r>
          </a:p>
          <a:p>
            <a:pPr lvl="1"/>
            <a:r>
              <a:rPr sz="1800"/>
              <a:t>Churn held at 28.3pts</a:t>
            </a:r>
          </a:p>
          <a:p>
            <a:pPr lvl="1"/>
            <a:r>
              <a:rPr sz="1800"/>
              <a:t>Cloud spend closed the quarter at 78.1%</a:t>
            </a:r>
          </a:p>
          <a:p>
            <a:r>
              <a:rPr sz="2000"/>
              <a:t>Uptime held at 63.2%, two points over the target.</a:t>
            </a:r>
          </a:p>
          <a:p>
            <a:pPr lvl="1"/>
            <a:r>
              <a:rPr sz="1800"/>
              <a:t>Revenue improved to 91.7k</a:t>
            </a:r>
          </a:p>
          <a:p>
            <a:pPr lvl="1"/>
            <a:r>
              <a:rPr sz="1800"/>
              <a:t>Cycle time settled at 72.8pts</a:t>
            </a:r>
          </a:p>
          <a:p>
            <a:r>
              <a:rPr sz="2000"/>
              <a:t>Pipeline coverage slipped to 31.8x, two points over the prior quarter.</a:t>
            </a:r>
          </a:p>
          <a:p>
            <a:pPr lvl="1"/>
            <a:r>
              <a:rPr sz="1800"/>
              <a:t>Headcount held at 87.3d</a:t>
            </a:r>
          </a:p>
          <a:p>
            <a:pPr lvl="1"/>
            <a:r>
              <a:rPr sz="1800"/>
              <a:t>Revenue improved to 44.5m</a:t>
            </a:r>
          </a:p>
          <a:p>
            <a:pPr lvl="1"/>
            <a:r>
              <a:rPr sz="1800"/>
              <a:t>Cycle time slipped to 41.3%</a:t>
            </a:r>
          </a:p>
        </p:txBody>
      </p:sp>
      <p:sp>
        <p:nvSpPr>
          <p:cNvPr id="9" name="Slide Number 46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46}" type="slidenum">
              <a:rPr sz="1000"/>
              <a:t>46</a:t>
            </a:fld>
            <a:endParaRPr sz="1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7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Customers: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Churn moved to 24.5%, two points over the revised model.</a:t>
            </a:r>
          </a:p>
          <a:p>
            <a:pPr lvl="1"/>
            <a:r>
              <a:rPr sz="1800"/>
              <a:t>Deal size slipped to 24.6x</a:t>
            </a:r>
          </a:p>
          <a:p>
            <a:pPr lvl="1"/>
            <a:r>
              <a:rPr sz="1800"/>
              <a:t>Release cadence slipped to 80.2m</a:t>
            </a:r>
          </a:p>
          <a:p>
            <a:pPr lvl="1"/>
            <a:r>
              <a:rPr sz="1800"/>
              <a:t>Pipeline coverage slipped to 78.2x</a:t>
            </a:r>
          </a:p>
          <a:p>
            <a:r>
              <a:rPr sz="2000"/>
              <a:t>Uptime settled at 75.8d, with last year still to land.</a:t>
            </a:r>
          </a:p>
          <a:p>
            <a:pPr lvl="1"/>
            <a:r>
              <a:rPr sz="1800"/>
              <a:t>Revenue closed the quarter at 64.2x</a:t>
            </a:r>
          </a:p>
          <a:p>
            <a:pPr lvl="1"/>
            <a:r>
              <a:rPr sz="1800"/>
              <a:t>Net retention held at 3.3x</a:t>
            </a:r>
          </a:p>
          <a:p>
            <a:r>
              <a:rPr sz="2000"/>
              <a:t>Churn reached 78.9m, with the forecast still to land.</a:t>
            </a:r>
          </a:p>
          <a:p>
            <a:r>
              <a:rPr sz="2000"/>
              <a:t>Renewal rate improved to 9.1pts, against the revised model.</a:t>
            </a:r>
          </a:p>
          <a:p>
            <a:r>
              <a:rPr sz="2000"/>
              <a:t>Headcount held at 42.9pts, on the strength of the forecast.</a:t>
            </a:r>
          </a:p>
          <a:p>
            <a:pPr lvl="1"/>
            <a:r>
              <a:rPr sz="1800"/>
              <a:t>Headcount held at 45.8%</a:t>
            </a:r>
          </a:p>
          <a:p>
            <a:pPr lvl="1"/>
            <a:r>
              <a:rPr sz="1800"/>
              <a:t>Cloud spend slipped to 82.6pts</a:t>
            </a:r>
          </a:p>
          <a:p>
            <a:pPr lvl="1"/>
            <a:r>
              <a:rPr sz="1800"/>
              <a:t>Cloud spend settled at 44.6x</a:t>
            </a:r>
          </a:p>
        </p:txBody>
      </p:sp>
      <p:sp>
        <p:nvSpPr>
          <p:cNvPr id="9" name="Slide Number 47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47}" type="slidenum">
              <a:rPr sz="1000"/>
              <a:t>47</a:t>
            </a:fld>
            <a:endParaRPr sz="1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8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Customers: next steps</a:t>
            </a:r>
          </a:p>
        </p:txBody>
      </p:sp>
      <p:sp>
        <p:nvSpPr>
          <p:cNvPr id="10" name="Left column"/>
          <p:cNvSpPr/>
          <p:nvPr/>
        </p:nvSpPr>
        <p:spPr>
          <a:xfrm>
            <a:off x="4572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/>
              <a:t>Backlog held at 43.6pts</a:t>
            </a:r>
            <a:r>
              <a:rPr sz="1600"/>
              <a:t> — </a:t>
            </a:r>
            <a:r>
              <a:rPr sz="1600"/>
              <a:t>Release cadence grew 49.6pts, in line with the board case.</a:t>
            </a:r>
          </a:p>
          <a:p>
            <a:r>
              <a:rPr sz="1400" i="1"/>
              <a:t>Read across: </a:t>
            </a:r>
            <a:r>
              <a:rPr sz="1400"/>
              <a:t>Support volume settled at 2.1m, on the strength of last year.</a:t>
            </a:r>
            <a:r>
              <a:rPr sz="1400" u="sng"/>
              <a:t> Footnote</a:t>
            </a:r>
            <a:r>
              <a:rPr sz="1400" baseline="30000"/>
              <a:t>1</a:t>
            </a:r>
          </a:p>
          <a:p>
            <a:r>
              <a:rPr sz="1200" cap="all" spc="100">
                <a:solidFill>
                  <a:schemeClr val="accent2"/>
                </a:solidFill>
              </a:rPr>
              <a:t>Note</a:t>
            </a:r>
            <a:br>
              <a:rPr sz="1200"/>
            </a:br>
            <a:r>
              <a:rPr sz="1400"/>
              <a:t>Renewal rate slipped to 9.7pts, ahead of the forecast.</a:t>
            </a:r>
          </a:p>
        </p:txBody>
      </p:sp>
      <p:sp>
        <p:nvSpPr>
          <p:cNvPr id="11" name="Right column"/>
          <p:cNvSpPr/>
          <p:nvPr/>
        </p:nvSpPr>
        <p:spPr>
          <a:xfrm>
            <a:off x="62484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pPr algn="just"/>
            <a:r>
              <a:rPr sz="1400"/>
              <a:t>Cloud spend improved to 21.1pts, against the revised model. Uptime reached 63.9m, on the strength of the industry median.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Deal size slipped to 31.8pts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Cycle time grew 79.6k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Net retention grew 42.8m</a:t>
            </a:r>
          </a:p>
        </p:txBody>
      </p:sp>
      <p:sp>
        <p:nvSpPr>
          <p:cNvPr id="9" name="Slide Number 48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48}" type="slidenum">
              <a:rPr sz="1000"/>
              <a:t>48</a:t>
            </a:fld>
            <a:endParaRPr sz="1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9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Customers: what changed</a:t>
            </a:r>
          </a:p>
        </p:txBody>
      </p:sp>
      <p:pic>
        <p:nvPicPr>
          <p:cNvPr id="10" name="Site photograph" descr="Hills under a morning 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" name="Caption"/>
          <p:cNvSpPr/>
          <p:nvPr/>
        </p:nvSpPr>
        <p:spPr>
          <a:xfrm>
            <a:off x="457200" y="53949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i="1"/>
              <a:t>Figure 7. Deal size slipped to 0.3m.</a:t>
            </a:r>
          </a:p>
        </p:txBody>
      </p:sp>
      <p:sp>
        <p:nvSpPr>
          <p:cNvPr id="12" name="Aside"/>
          <p:cNvSpPr/>
          <p:nvPr/>
        </p:nvSpPr>
        <p:spPr>
          <a:xfrm>
            <a:off x="8077200" y="1188720"/>
            <a:ext cx="36576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/>
              <a:t>Deal size grew 39.7k, a point under the industry median.</a:t>
            </a:r>
          </a:p>
          <a:p>
            <a:r>
              <a:rPr sz="1600"/>
              <a:t>Churn closed the quarter at 36.7d, before the effect of the target.</a:t>
            </a:r>
          </a:p>
        </p:txBody>
      </p:sp>
      <p:sp>
        <p:nvSpPr>
          <p:cNvPr id="9" name="Slide Number 49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49}" type="slidenum">
              <a:rPr sz="1000"/>
              <a:t>49</a:t>
            </a:fld>
            <a:endParaRPr sz="1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0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Customers: what changed</a:t>
            </a:r>
          </a:p>
        </p:txBody>
      </p:sp>
      <p:sp>
        <p:nvSpPr>
          <p:cNvPr id="10" name="rightArrow 1"/>
          <p:cNvSpPr/>
          <p:nvPr/>
        </p:nvSpPr>
        <p:spPr>
          <a:xfrm>
            <a:off x="548640" y="1280160"/>
            <a:ext cx="2636520" cy="1544320"/>
          </a:xfrm>
          <a:prstGeom prst="rightArrow">
            <a:avLst/>
          </a:prstGeom>
          <a:pattFill prst="pct25">
            <a:fgClr>
              <a:schemeClr val="accent1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17.5pts YoY</a:t>
            </a:r>
          </a:p>
        </p:txBody>
      </p:sp>
      <p:sp>
        <p:nvSpPr>
          <p:cNvPr id="11" name="chevron 2"/>
          <p:cNvSpPr/>
          <p:nvPr/>
        </p:nvSpPr>
        <p:spPr>
          <a:xfrm>
            <a:off x="3368040" y="1280160"/>
            <a:ext cx="2636520" cy="1544320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82.7% YoY</a:t>
            </a:r>
          </a:p>
        </p:txBody>
      </p:sp>
      <p:sp>
        <p:nvSpPr>
          <p:cNvPr id="12" name="cloud 3"/>
          <p:cNvSpPr/>
          <p:nvPr/>
        </p:nvSpPr>
        <p:spPr>
          <a:xfrm rot="900000">
            <a:off x="6187440" y="1280160"/>
            <a:ext cx="2636520" cy="1544320"/>
          </a:xfrm>
          <a:prstGeom prst="cloud">
            <a:avLst/>
          </a:prstGeom>
          <a:gradFill rotWithShape="1">
            <a:gsLst>
              <a:gs pos="0">
                <a:schemeClr val="accent3">
                  <a:tint val="40000"/>
                </a:schemeClr>
              </a:gs>
              <a:gs pos="100000">
                <a:schemeClr val="accent3"/>
              </a:gs>
            </a:gsLst>
            <a:lin ang="5400000" scaled="0"/>
          </a:gradFill>
          <a:ln w="28575">
            <a:solidFill>
              <a:schemeClr val="accent3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26.2pts YoY</a:t>
            </a:r>
          </a:p>
        </p:txBody>
      </p:sp>
      <p:sp>
        <p:nvSpPr>
          <p:cNvPr id="13" name="heart 4"/>
          <p:cNvSpPr/>
          <p:nvPr/>
        </p:nvSpPr>
        <p:spPr>
          <a:xfrm>
            <a:off x="9006840" y="1280160"/>
            <a:ext cx="2636520" cy="1544320"/>
          </a:xfrm>
          <a:prstGeom prst="heart">
            <a:avLst/>
          </a:prstGeom>
          <a:gradFill rotWithShape="1">
            <a:gsLst>
              <a:gs pos="0">
                <a:schemeClr val="lt1"/>
              </a:gs>
              <a:gs pos="100000">
                <a:schemeClr val="accent4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11.2m QoQ</a:t>
            </a:r>
          </a:p>
        </p:txBody>
      </p:sp>
      <p:sp>
        <p:nvSpPr>
          <p:cNvPr id="14" name="octagon 5"/>
          <p:cNvSpPr/>
          <p:nvPr/>
        </p:nvSpPr>
        <p:spPr>
          <a:xfrm>
            <a:off x="548640" y="3007360"/>
            <a:ext cx="2636520" cy="1544320"/>
          </a:xfrm>
          <a:prstGeom prst="octagon">
            <a:avLst/>
          </a:prstGeom>
          <a:pattFill prst="dkUpDiag">
            <a:fgClr>
              <a:schemeClr val="accent5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63.6x actual</a:t>
            </a:r>
          </a:p>
        </p:txBody>
      </p:sp>
      <p:sp>
        <p:nvSpPr>
          <p:cNvPr id="15" name="rect 6"/>
          <p:cNvSpPr/>
          <p:nvPr/>
        </p:nvSpPr>
        <p:spPr>
          <a:xfrm rot="0">
            <a:off x="3368040" y="3007360"/>
            <a:ext cx="2636520" cy="1544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glow rad="63500">
              <a:schemeClr val="accent1">
                <a:alpha val="40000"/>
              </a:schemeClr>
            </a:glo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14.9x actual</a:t>
            </a:r>
          </a:p>
        </p:txBody>
      </p:sp>
      <p:sp>
        <p:nvSpPr>
          <p:cNvPr id="16" name="roundRect 7"/>
          <p:cNvSpPr/>
          <p:nvPr/>
        </p:nvSpPr>
        <p:spPr>
          <a:xfrm>
            <a:off x="6187440" y="3007360"/>
            <a:ext cx="2636520" cy="1544320"/>
          </a:xfrm>
          <a:prstGeom prst="roundRect">
            <a:avLst/>
          </a:prstGeom>
          <a:gradFill rotWithShape="1">
            <a:gsLst>
              <a:gs pos="0">
                <a:schemeClr val="accent1">
                  <a:tint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28575">
            <a:solidFill>
              <a:schemeClr val="accent1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31.4pts QoQ</a:t>
            </a:r>
          </a:p>
        </p:txBody>
      </p:sp>
      <p:sp>
        <p:nvSpPr>
          <p:cNvPr id="17" name="ellipse 8"/>
          <p:cNvSpPr/>
          <p:nvPr/>
        </p:nvSpPr>
        <p:spPr>
          <a:xfrm flipH="1">
            <a:off x="9006840" y="3007360"/>
            <a:ext cx="2636520" cy="1544320"/>
          </a:xfrm>
          <a:prstGeom prst="ellipse">
            <a:avLst/>
          </a:prstGeom>
          <a:gradFill rotWithShape="1">
            <a:gsLst>
              <a:gs pos="0">
                <a:schemeClr val="lt1"/>
              </a:gs>
              <a:gs pos="100000">
                <a:schemeClr val="accent2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92.3d QoQ</a:t>
            </a:r>
          </a:p>
        </p:txBody>
      </p:sp>
      <p:sp>
        <p:nvSpPr>
          <p:cNvPr id="18" name="triangle 9"/>
          <p:cNvSpPr/>
          <p:nvPr/>
        </p:nvSpPr>
        <p:spPr>
          <a:xfrm rot="2700000">
            <a:off x="548640" y="4734560"/>
            <a:ext cx="2636520" cy="1544320"/>
          </a:xfrm>
          <a:prstGeom prst="triangle">
            <a:avLst/>
          </a:prstGeom>
          <a:pattFill prst="smGrid">
            <a:fgClr>
              <a:schemeClr val="accent3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54.7x actual</a:t>
            </a:r>
          </a:p>
        </p:txBody>
      </p:sp>
      <p:sp>
        <p:nvSpPr>
          <p:cNvPr id="19" name="diamond 10"/>
          <p:cNvSpPr/>
          <p:nvPr/>
        </p:nvSpPr>
        <p:spPr>
          <a:xfrm>
            <a:off x="3368040" y="4734560"/>
            <a:ext cx="2636520" cy="1544320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93.0m actual</a:t>
            </a:r>
          </a:p>
        </p:txBody>
      </p:sp>
      <p:sp>
        <p:nvSpPr>
          <p:cNvPr id="20" name="hexagon 11"/>
          <p:cNvSpPr/>
          <p:nvPr/>
        </p:nvSpPr>
        <p:spPr>
          <a:xfrm>
            <a:off x="6187440" y="4734560"/>
            <a:ext cx="2636520" cy="1544320"/>
          </a:xfrm>
          <a:prstGeom prst="hexagon">
            <a:avLst/>
          </a:prstGeom>
          <a:gradFill rotWithShape="1">
            <a:gsLst>
              <a:gs pos="0">
                <a:schemeClr val="accent5">
                  <a:tint val="40000"/>
                </a:schemeClr>
              </a:gs>
              <a:gs pos="100000">
                <a:schemeClr val="accent5"/>
              </a:gs>
            </a:gsLst>
            <a:lin ang="5400000" scaled="0"/>
          </a:gradFill>
          <a:ln w="28575">
            <a:solidFill>
              <a:schemeClr val="accent5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85.8k YoY</a:t>
            </a:r>
          </a:p>
        </p:txBody>
      </p:sp>
      <p:grpSp>
        <p:nvGrpSpPr>
          <p:cNvPr id="30" name="Grouped trio"/>
          <p:cNvGrpSpPr/>
          <p:nvPr/>
        </p:nvGrpSpPr>
        <p:grpSpPr>
          <a:xfrm rot="1200000">
            <a:off x="9006840" y="4734560"/>
            <a:ext cx="2636520" cy="1544320"/>
            <a:chOff x="9006840" y="4734560"/>
            <a:chExt cx="2636520" cy="1544320"/>
          </a:xfrm>
        </p:grpSpPr>
        <p:sp>
          <p:nvSpPr>
            <p:cNvPr id="31" name="Leaf 1"/>
            <p:cNvSpPr/>
            <p:nvPr/>
          </p:nvSpPr>
          <p:spPr>
            <a:xfrm>
              <a:off x="9006840" y="4734560"/>
              <a:ext cx="833120" cy="1158240"/>
            </a:xfrm>
            <a:prstGeom prst="ellipse">
              <a:avLst/>
            </a:prstGeom>
            <a:solidFill>
              <a:schemeClr val="accent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Leaf 2"/>
            <p:cNvSpPr/>
            <p:nvPr/>
          </p:nvSpPr>
          <p:spPr>
            <a:xfrm>
              <a:off x="9885680" y="5120640"/>
              <a:ext cx="833120" cy="1158240"/>
            </a:xfrm>
            <a:prstGeom prst="roundRect">
              <a:avLst/>
            </a:prstGeom>
            <a:solidFill>
              <a:schemeClr val="accent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Leaf 3"/>
            <p:cNvSpPr/>
            <p:nvPr/>
          </p:nvSpPr>
          <p:spPr>
            <a:xfrm>
              <a:off x="10764520" y="4734560"/>
              <a:ext cx="833120" cy="1158240"/>
            </a:xfrm>
            <a:prstGeom prst="diamond">
              <a:avLst/>
            </a:prstGeom>
            <a:solidFill>
              <a:schemeClr val="accent4"/>
            </a:solidFill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40" name="Straight Arrow Connector 40"/>
          <p:cNvCxnSpPr>
            <a:cxnSpLocks/>
          </p:cNvCxnSpPr>
          <p:nvPr/>
        </p:nvCxnSpPr>
        <p:spPr>
          <a:xfrm>
            <a:off x="1866900" y="2824480"/>
            <a:ext cx="0" cy="18288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9" name="Slide Number 50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50}" type="slidenum">
              <a:rPr sz="1000"/>
              <a:t>50</a:t>
            </a:fld>
            <a:endParaRPr sz="1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5">
                <a:tint val="30000"/>
              </a:schemeClr>
            </a:gs>
            <a:gs pos="100000">
              <a:schemeClr val="l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pter number"/>
          <p:cNvSpPr/>
          <p:nvPr/>
        </p:nvSpPr>
        <p:spPr>
          <a:xfrm>
            <a:off x="914400" y="1828800"/>
            <a:ext cx="3657600" cy="1828800"/>
          </a:xfrm>
          <a:prstGeom prst="rect">
            <a:avLst/>
          </a:prstGeom>
          <a:noFill/>
        </p:spPr>
        <p:txBody>
          <a:bodyPr wrap="square" anchor="b"/>
          <a:lstStyle/>
          <a:p>
            <a:r>
              <a:rPr sz="6000" b="1">
                <a:solidFill>
                  <a:schemeClr val="tx1"/>
                </a:solidFill>
              </a:rPr>
              <a:t>05</a:t>
            </a:r>
          </a:p>
        </p:txBody>
      </p:sp>
      <p:sp>
        <p:nvSpPr>
          <p:cNvPr id="11" name="Chapter title"/>
          <p:cNvSpPr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600">
                <a:solidFill>
                  <a:schemeClr val="tx1"/>
                </a:solidFill>
              </a:rPr>
              <a:t>Operations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Operations: quarter on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Backlog settled at 30.7k, in line with the plan.</a:t>
            </a:r>
          </a:p>
          <a:p>
            <a:r>
              <a:rPr sz="2000"/>
              <a:t>Headcount reached 77.4d, a point under the revised model.</a:t>
            </a:r>
          </a:p>
          <a:p>
            <a:r>
              <a:rPr sz="2000"/>
              <a:t>Release cadence reached 76.9d, ahead of the industry median.</a:t>
            </a:r>
          </a:p>
          <a:p>
            <a:r>
              <a:rPr sz="2000"/>
              <a:t>Support volume closed the quarter at 64.8%, before the effect of the industry median.</a:t>
            </a:r>
          </a:p>
          <a:p>
            <a:r>
              <a:rPr sz="2000"/>
              <a:t>Revenue improved to 68.9x, ahead of the forecast.</a:t>
            </a:r>
          </a:p>
          <a:p>
            <a:r>
              <a:rPr sz="2000"/>
              <a:t>Cloud spend reached 5.9pts, a point under the industry median.</a:t>
            </a:r>
          </a:p>
        </p:txBody>
      </p:sp>
      <p:sp>
        <p:nvSpPr>
          <p:cNvPr id="9" name="Slide Number 52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52}" type="slidenum">
              <a:rPr sz="1000"/>
              <a:t>52</a:t>
            </a:fld>
            <a:endParaRPr sz="1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Operations: what changed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000"/>
              <a:t>Uptime moved to 51.5%, on the strength of the plan.</a:t>
            </a:r>
          </a:p>
          <a:p>
            <a:pPr lvl="1"/>
            <a:r>
              <a:rPr sz="1800"/>
              <a:t>Renewal rate held at 86.0%</a:t>
            </a:r>
          </a:p>
          <a:p>
            <a:pPr lvl="1"/>
            <a:r>
              <a:rPr sz="1800"/>
              <a:t>Renewal rate grew 47.6d</a:t>
            </a:r>
          </a:p>
          <a:p>
            <a:r>
              <a:rPr sz="2000"/>
              <a:t>Revenue slipped to 69.3k, against the board case.</a:t>
            </a:r>
          </a:p>
          <a:p>
            <a:pPr lvl="1"/>
            <a:r>
              <a:rPr sz="1800"/>
              <a:t>Support volume held at 53.8k</a:t>
            </a:r>
          </a:p>
          <a:p>
            <a:pPr lvl="1"/>
            <a:r>
              <a:rPr sz="1800"/>
              <a:t>Uptime held at 59.5%</a:t>
            </a:r>
          </a:p>
          <a:p>
            <a:pPr lvl="1"/>
            <a:r>
              <a:rPr sz="1800"/>
              <a:t>Deal size held at 27.2d</a:t>
            </a:r>
          </a:p>
          <a:p>
            <a:r>
              <a:rPr sz="2000"/>
              <a:t>Deal size settled at 83.4m, on the strength of the target.</a:t>
            </a:r>
          </a:p>
          <a:p>
            <a:r>
              <a:rPr sz="2000"/>
              <a:t>Release cadence closed the quarter at 43.2m, in line with the target.</a:t>
            </a:r>
          </a:p>
          <a:p>
            <a:r>
              <a:rPr sz="2000"/>
              <a:t>Cloud spend settled at 4.0m, a point under last year.</a:t>
            </a:r>
          </a:p>
        </p:txBody>
      </p:sp>
      <p:sp>
        <p:nvSpPr>
          <p:cNvPr id="9" name="Slide Number 53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53}" type="slidenum">
              <a:rPr sz="1000"/>
              <a:t>53</a:t>
            </a:fld>
            <a:endParaRPr sz="10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4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Operations: what changed</a:t>
            </a:r>
          </a:p>
        </p:txBody>
      </p:sp>
      <p:sp>
        <p:nvSpPr>
          <p:cNvPr id="10" name="Left column"/>
          <p:cNvSpPr/>
          <p:nvPr/>
        </p:nvSpPr>
        <p:spPr>
          <a:xfrm>
            <a:off x="4572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/>
              <a:t>Unit cost moved to 59.0%</a:t>
            </a:r>
            <a:r>
              <a:rPr sz="1600"/>
              <a:t> — </a:t>
            </a:r>
            <a:r>
              <a:rPr sz="1600"/>
              <a:t>Uptime improved to 70.0x, in line with the industry median.</a:t>
            </a:r>
          </a:p>
          <a:p>
            <a:r>
              <a:rPr sz="1400" i="1"/>
              <a:t>Read across: </a:t>
            </a:r>
            <a:r>
              <a:rPr sz="1400"/>
              <a:t>Unit cost slipped to 48.6k, with the prior quarter still to land.</a:t>
            </a:r>
            <a:r>
              <a:rPr sz="1400" u="sng"/>
              <a:t> Footnote</a:t>
            </a:r>
            <a:r>
              <a:rPr sz="1400" baseline="30000"/>
              <a:t>1</a:t>
            </a:r>
          </a:p>
          <a:p>
            <a:r>
              <a:rPr sz="1200" cap="all" spc="100">
                <a:solidFill>
                  <a:schemeClr val="accent2"/>
                </a:solidFill>
              </a:rPr>
              <a:t>Watch</a:t>
            </a:r>
            <a:br>
              <a:rPr sz="1200"/>
            </a:br>
            <a:r>
              <a:rPr sz="1400"/>
              <a:t>Onboarding time held at 61.6m, in line with the plan.</a:t>
            </a:r>
          </a:p>
        </p:txBody>
      </p:sp>
      <p:sp>
        <p:nvSpPr>
          <p:cNvPr id="11" name="Right column"/>
          <p:cNvSpPr/>
          <p:nvPr/>
        </p:nvSpPr>
        <p:spPr>
          <a:xfrm>
            <a:off x="62484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pPr algn="just"/>
            <a:r>
              <a:rPr sz="1400"/>
              <a:t>Backlog moved to 40.8%, with the plan still to land. Pipeline coverage reached 71.4d, against last year.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Cycle time held at 42.1x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Renewal rate moved to 84.1k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Backlog grew 10.6d</a:t>
            </a:r>
          </a:p>
        </p:txBody>
      </p:sp>
      <p:sp>
        <p:nvSpPr>
          <p:cNvPr id="9" name="Slide Number 54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54}" type="slidenum">
              <a:rPr sz="1000"/>
              <a:t>54</a:t>
            </a:fld>
            <a:endParaRPr sz="10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5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Operations: risks</a:t>
            </a:r>
          </a:p>
        </p:txBody>
      </p:sp>
      <p:pic>
        <p:nvPicPr>
          <p:cNvPr id="10" name="Chart screenshot" descr="Five bars, two colou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" name="Caption"/>
          <p:cNvSpPr/>
          <p:nvPr/>
        </p:nvSpPr>
        <p:spPr>
          <a:xfrm>
            <a:off x="457200" y="53949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i="1"/>
              <a:t>Figure 8. Cycle time grew 4.7k.</a:t>
            </a:r>
          </a:p>
        </p:txBody>
      </p:sp>
      <p:sp>
        <p:nvSpPr>
          <p:cNvPr id="12" name="Aside"/>
          <p:cNvSpPr/>
          <p:nvPr/>
        </p:nvSpPr>
        <p:spPr>
          <a:xfrm>
            <a:off x="8077200" y="1188720"/>
            <a:ext cx="36576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/>
              <a:t>Cloud spend improved to 65.0x, against the revised model.</a:t>
            </a:r>
          </a:p>
          <a:p>
            <a:r>
              <a:rPr sz="1600"/>
              <a:t>Unit cost closed the quarter at 4.1m, in line with the plan.</a:t>
            </a:r>
          </a:p>
        </p:txBody>
      </p:sp>
      <p:sp>
        <p:nvSpPr>
          <p:cNvPr id="9" name="Slide Number 55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55}" type="slidenum">
              <a:rPr sz="1000"/>
              <a:t>55</a:t>
            </a:fld>
            <a:endParaRPr sz="1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6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Operations: by region</a:t>
            </a:r>
          </a:p>
        </p:txBody>
      </p:sp>
      <p:sp>
        <p:nvSpPr>
          <p:cNvPr id="10" name="chevron 1"/>
          <p:cNvSpPr/>
          <p:nvPr/>
        </p:nvSpPr>
        <p:spPr>
          <a:xfrm>
            <a:off x="548640" y="1280160"/>
            <a:ext cx="2636520" cy="1544320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29.6% YoY</a:t>
            </a:r>
          </a:p>
        </p:txBody>
      </p:sp>
      <p:sp>
        <p:nvSpPr>
          <p:cNvPr id="11" name="cloud 2"/>
          <p:cNvSpPr/>
          <p:nvPr/>
        </p:nvSpPr>
        <p:spPr>
          <a:xfrm>
            <a:off x="3368040" y="1280160"/>
            <a:ext cx="2636520" cy="1544320"/>
          </a:xfrm>
          <a:prstGeom prst="cloud">
            <a:avLst/>
          </a:prstGeom>
          <a:gradFill rotWithShape="1">
            <a:gsLst>
              <a:gs pos="0">
                <a:schemeClr val="accent2">
                  <a:tint val="40000"/>
                </a:schemeClr>
              </a:gs>
              <a:gs pos="100000">
                <a:schemeClr val="accent2"/>
              </a:gs>
            </a:gsLst>
            <a:lin ang="5400000" scaled="0"/>
          </a:gradFill>
          <a:ln w="28575">
            <a:solidFill>
              <a:schemeClr val="accent2">
                <a:shade val="50000"/>
              </a:schemeClr>
            </a:solidFill>
            <a:prstDash val="dash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87.1m actual</a:t>
            </a:r>
          </a:p>
        </p:txBody>
      </p:sp>
      <p:sp>
        <p:nvSpPr>
          <p:cNvPr id="12" name="heart 3"/>
          <p:cNvSpPr/>
          <p:nvPr/>
        </p:nvSpPr>
        <p:spPr>
          <a:xfrm rot="1800000">
            <a:off x="6187440" y="1280160"/>
            <a:ext cx="2636520" cy="1544320"/>
          </a:xfrm>
          <a:prstGeom prst="heart">
            <a:avLst/>
          </a:prstGeom>
          <a:gradFill rotWithShape="1">
            <a:gsLst>
              <a:gs pos="0">
                <a:schemeClr val="lt1"/>
              </a:gs>
              <a:gs pos="100000">
                <a:schemeClr val="accent3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1.1% actual</a:t>
            </a:r>
          </a:p>
        </p:txBody>
      </p:sp>
      <p:sp>
        <p:nvSpPr>
          <p:cNvPr id="13" name="octagon 4"/>
          <p:cNvSpPr/>
          <p:nvPr/>
        </p:nvSpPr>
        <p:spPr>
          <a:xfrm>
            <a:off x="9006840" y="1280160"/>
            <a:ext cx="2636520" cy="1544320"/>
          </a:xfrm>
          <a:prstGeom prst="octagon">
            <a:avLst/>
          </a:prstGeom>
          <a:pattFill prst="pct25">
            <a:fgClr>
              <a:schemeClr val="accent4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36.5k target</a:t>
            </a:r>
          </a:p>
        </p:txBody>
      </p:sp>
      <p:sp>
        <p:nvSpPr>
          <p:cNvPr id="14" name="rect 5"/>
          <p:cNvSpPr/>
          <p:nvPr/>
        </p:nvSpPr>
        <p:spPr>
          <a:xfrm>
            <a:off x="548640" y="3007360"/>
            <a:ext cx="2636520" cy="15443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6.9m YoY</a:t>
            </a:r>
          </a:p>
        </p:txBody>
      </p:sp>
      <p:sp>
        <p:nvSpPr>
          <p:cNvPr id="15" name="roundRect 6"/>
          <p:cNvSpPr/>
          <p:nvPr/>
        </p:nvSpPr>
        <p:spPr>
          <a:xfrm rot="900000">
            <a:off x="3368040" y="3007360"/>
            <a:ext cx="2636520" cy="1544320"/>
          </a:xfrm>
          <a:prstGeom prst="roundRect">
            <a:avLst/>
          </a:prstGeom>
          <a:gradFill rotWithShape="1">
            <a:gsLst>
              <a:gs pos="0">
                <a:schemeClr val="accent6">
                  <a:tint val="40000"/>
                </a:schemeClr>
              </a:gs>
              <a:gs pos="100000">
                <a:schemeClr val="accent6"/>
              </a:gs>
            </a:gsLst>
            <a:lin ang="5400000" scaled="0"/>
          </a:gradFill>
          <a:ln w="28575">
            <a:solidFill>
              <a:schemeClr val="accent6">
                <a:shade val="50000"/>
              </a:schemeClr>
            </a:solidFill>
            <a:prstDash val="dash"/>
          </a:ln>
          <a:effectLst>
            <a:glow rad="63500">
              <a:schemeClr val="accent1">
                <a:alpha val="40000"/>
              </a:schemeClr>
            </a:glo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80.3pts actual</a:t>
            </a:r>
          </a:p>
        </p:txBody>
      </p:sp>
      <p:sp>
        <p:nvSpPr>
          <p:cNvPr id="16" name="ellipse 7"/>
          <p:cNvSpPr/>
          <p:nvPr/>
        </p:nvSpPr>
        <p:spPr>
          <a:xfrm>
            <a:off x="6187440" y="3007360"/>
            <a:ext cx="2636520" cy="1544320"/>
          </a:xfrm>
          <a:prstGeom prst="ellipse">
            <a:avLst/>
          </a:prstGeom>
          <a:gradFill rotWithShape="1">
            <a:gsLst>
              <a:gs pos="0">
                <a:schemeClr val="lt1"/>
              </a:gs>
              <a:gs pos="100000">
                <a:schemeClr val="accent1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75.3d target</a:t>
            </a:r>
          </a:p>
        </p:txBody>
      </p:sp>
      <p:sp>
        <p:nvSpPr>
          <p:cNvPr id="17" name="triangle 8"/>
          <p:cNvSpPr/>
          <p:nvPr/>
        </p:nvSpPr>
        <p:spPr>
          <a:xfrm flipH="1">
            <a:off x="9006840" y="3007360"/>
            <a:ext cx="2636520" cy="1544320"/>
          </a:xfrm>
          <a:prstGeom prst="triangle">
            <a:avLst/>
          </a:prstGeom>
          <a:pattFill prst="dkUpDiag">
            <a:fgClr>
              <a:schemeClr val="accent2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46.2% YoY</a:t>
            </a:r>
          </a:p>
        </p:txBody>
      </p:sp>
      <p:sp>
        <p:nvSpPr>
          <p:cNvPr id="18" name="diamond 9"/>
          <p:cNvSpPr/>
          <p:nvPr/>
        </p:nvSpPr>
        <p:spPr>
          <a:xfrm rot="0">
            <a:off x="548640" y="4734560"/>
            <a:ext cx="2636520" cy="1544320"/>
          </a:xfrm>
          <a:prstGeom prst="diamond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8.6d QoQ</a:t>
            </a:r>
          </a:p>
        </p:txBody>
      </p:sp>
      <p:sp>
        <p:nvSpPr>
          <p:cNvPr id="19" name="hexagon 10"/>
          <p:cNvSpPr/>
          <p:nvPr/>
        </p:nvSpPr>
        <p:spPr>
          <a:xfrm>
            <a:off x="3368040" y="4734560"/>
            <a:ext cx="2636520" cy="1544320"/>
          </a:xfrm>
          <a:prstGeom prst="hexagon">
            <a:avLst/>
          </a:prstGeom>
          <a:gradFill rotWithShape="1">
            <a:gsLst>
              <a:gs pos="0">
                <a:schemeClr val="accent4">
                  <a:tint val="40000"/>
                </a:schemeClr>
              </a:gs>
              <a:gs pos="100000">
                <a:schemeClr val="accent4"/>
              </a:gs>
            </a:gsLst>
            <a:lin ang="5400000" scaled="0"/>
          </a:gradFill>
          <a:ln w="28575">
            <a:solidFill>
              <a:schemeClr val="accent4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14.7k target</a:t>
            </a:r>
          </a:p>
        </p:txBody>
      </p:sp>
      <p:sp>
        <p:nvSpPr>
          <p:cNvPr id="20" name="star5 11"/>
          <p:cNvSpPr/>
          <p:nvPr/>
        </p:nvSpPr>
        <p:spPr>
          <a:xfrm>
            <a:off x="6187440" y="4734560"/>
            <a:ext cx="2636520" cy="1544320"/>
          </a:xfrm>
          <a:prstGeom prst="star5">
            <a:avLst/>
          </a:prstGeom>
          <a:gradFill rotWithShape="1">
            <a:gsLst>
              <a:gs pos="0">
                <a:schemeClr val="lt1"/>
              </a:gs>
              <a:gs pos="100000">
                <a:schemeClr val="accent5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39.2pts YoY</a:t>
            </a:r>
          </a:p>
        </p:txBody>
      </p:sp>
      <p:grpSp>
        <p:nvGrpSpPr>
          <p:cNvPr id="30" name="Grouped trio"/>
          <p:cNvGrpSpPr/>
          <p:nvPr/>
        </p:nvGrpSpPr>
        <p:grpSpPr>
          <a:xfrm rot="1200000">
            <a:off x="9006840" y="4734560"/>
            <a:ext cx="2636520" cy="1544320"/>
            <a:chOff x="9006840" y="4734560"/>
            <a:chExt cx="2636520" cy="1544320"/>
          </a:xfrm>
        </p:grpSpPr>
        <p:sp>
          <p:nvSpPr>
            <p:cNvPr id="31" name="Leaf 1"/>
            <p:cNvSpPr/>
            <p:nvPr/>
          </p:nvSpPr>
          <p:spPr>
            <a:xfrm>
              <a:off x="9006840" y="4734560"/>
              <a:ext cx="833120" cy="1158240"/>
            </a:xfrm>
            <a:prstGeom prst="ellipse">
              <a:avLst/>
            </a:prstGeom>
            <a:solidFill>
              <a:schemeClr val="accent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Leaf 2"/>
            <p:cNvSpPr/>
            <p:nvPr/>
          </p:nvSpPr>
          <p:spPr>
            <a:xfrm>
              <a:off x="9885680" y="5120640"/>
              <a:ext cx="833120" cy="1158240"/>
            </a:xfrm>
            <a:prstGeom prst="roundRect">
              <a:avLst/>
            </a:prstGeom>
            <a:solidFill>
              <a:schemeClr val="accent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Leaf 3"/>
            <p:cNvSpPr/>
            <p:nvPr/>
          </p:nvSpPr>
          <p:spPr>
            <a:xfrm>
              <a:off x="10764520" y="4734560"/>
              <a:ext cx="833120" cy="1158240"/>
            </a:xfrm>
            <a:prstGeom prst="diamond">
              <a:avLst/>
            </a:prstGeom>
            <a:solidFill>
              <a:schemeClr val="accent5"/>
            </a:solidFill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40" name="Straight Arrow Connector 40"/>
          <p:cNvCxnSpPr>
            <a:cxnSpLocks/>
          </p:cNvCxnSpPr>
          <p:nvPr/>
        </p:nvCxnSpPr>
        <p:spPr>
          <a:xfrm>
            <a:off x="1866900" y="2824480"/>
            <a:ext cx="0" cy="18288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9" name="Slide Number 56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56}" type="slidenum">
              <a:rPr sz="1000"/>
              <a:t>56</a:t>
            </a:fld>
            <a:endParaRPr sz="10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Rule"/>
          <p:cNvCxnSpPr>
            <a:cxnSpLocks/>
          </p:cNvCxnSpPr>
          <p:nvPr/>
        </p:nvCxnSpPr>
        <p:spPr>
          <a:xfrm>
            <a:off x="1828800" y="1600200"/>
            <a:ext cx="8534400" cy="0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</p:cxnSp>
      <p:sp>
        <p:nvSpPr>
          <p:cNvPr id="11" name="Quotation"/>
          <p:cNvSpPr/>
          <p:nvPr/>
        </p:nvSpPr>
        <p:spPr>
          <a:xfrm>
            <a:off x="1371600" y="1828800"/>
            <a:ext cx="9448800" cy="2743200"/>
          </a:xfrm>
          <a:prstGeom prst="rect">
            <a:avLst/>
          </a:prstGeom>
          <a:noFill/>
        </p:spPr>
        <p:txBody>
          <a:bodyPr wrap="square" lIns="360000" tIns="360000" rIns="360000" bIns="360000" anchor="ctr"/>
          <a:lstStyle/>
          <a:p>
            <a:pPr algn="ctr"/>
            <a:r>
              <a:rPr sz="2800" i="1"/>
              <a:t>“Net retention closed the quarter at 36.8x, before the effect of the plan. Support volume grew 29.0m, on the strength of the plan.”</a:t>
            </a:r>
          </a:p>
        </p:txBody>
      </p:sp>
      <p:sp>
        <p:nvSpPr>
          <p:cNvPr id="12" name="Attribution"/>
          <p:cNvSpPr/>
          <p:nvPr/>
        </p:nvSpPr>
        <p:spPr>
          <a:xfrm>
            <a:off x="1371600" y="4663440"/>
            <a:ext cx="9448800" cy="640080"/>
          </a:xfrm>
          <a:prstGeom prst="rect">
            <a:avLst/>
          </a:prstGeom>
          <a:noFill/>
        </p:spPr>
        <p:txBody>
          <a:bodyPr wrap="square" anchor="b"/>
          <a:lstStyle/>
          <a:p>
            <a:pPr algn="r"/>
            <a:r>
              <a:rPr sz="1400">
                <a:solidFill>
                  <a:schemeClr val="tx2"/>
                </a:solidFill>
              </a:rPr>
              <a:t>J. Alvarez, VP Sales</a:t>
            </a:r>
          </a:p>
        </p:txBody>
      </p:sp>
      <p:sp>
        <p:nvSpPr>
          <p:cNvPr id="9" name="Slide Number 57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57}" type="slidenum">
              <a:rPr sz="1000"/>
              <a:t>57</a:t>
            </a:fld>
            <a:endParaRPr sz="10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8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Operations: the numbers</a:t>
            </a:r>
          </a:p>
        </p:txBody>
      </p:sp>
      <p:sp>
        <p:nvSpPr>
          <p:cNvPr id="10" name="Bar 1"/>
          <p:cNvSpPr/>
          <p:nvPr/>
        </p:nvSpPr>
        <p:spPr>
          <a:xfrm>
            <a:off x="739140" y="4663440"/>
            <a:ext cx="845820" cy="6400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0" name="Value 1"/>
          <p:cNvSpPr/>
          <p:nvPr/>
        </p:nvSpPr>
        <p:spPr>
          <a:xfrm>
            <a:off x="739140" y="42976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3.4k</a:t>
            </a:r>
          </a:p>
        </p:txBody>
      </p:sp>
      <p:sp>
        <p:nvSpPr>
          <p:cNvPr id="30" name="Label 1"/>
          <p:cNvSpPr/>
          <p:nvPr/>
        </p:nvSpPr>
        <p:spPr>
          <a:xfrm>
            <a:off x="7391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25</a:t>
            </a:r>
          </a:p>
        </p:txBody>
      </p:sp>
      <p:sp>
        <p:nvSpPr>
          <p:cNvPr id="11" name="Bar 2"/>
          <p:cNvSpPr/>
          <p:nvPr/>
        </p:nvSpPr>
        <p:spPr>
          <a:xfrm>
            <a:off x="2148840" y="4663440"/>
            <a:ext cx="845820" cy="6400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1" name="Value 2"/>
          <p:cNvSpPr/>
          <p:nvPr/>
        </p:nvSpPr>
        <p:spPr>
          <a:xfrm>
            <a:off x="2148840" y="42976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30.0x</a:t>
            </a:r>
          </a:p>
        </p:txBody>
      </p:sp>
      <p:sp>
        <p:nvSpPr>
          <p:cNvPr id="31" name="Label 2"/>
          <p:cNvSpPr/>
          <p:nvPr/>
        </p:nvSpPr>
        <p:spPr>
          <a:xfrm>
            <a:off x="21488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25</a:t>
            </a:r>
          </a:p>
        </p:txBody>
      </p:sp>
      <p:sp>
        <p:nvSpPr>
          <p:cNvPr id="12" name="Bar 3"/>
          <p:cNvSpPr/>
          <p:nvPr/>
        </p:nvSpPr>
        <p:spPr>
          <a:xfrm>
            <a:off x="3558540" y="3017520"/>
            <a:ext cx="845820" cy="2286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2" name="Value 3"/>
          <p:cNvSpPr/>
          <p:nvPr/>
        </p:nvSpPr>
        <p:spPr>
          <a:xfrm>
            <a:off x="3558540" y="265176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14.2m</a:t>
            </a:r>
          </a:p>
        </p:txBody>
      </p:sp>
      <p:sp>
        <p:nvSpPr>
          <p:cNvPr id="32" name="Label 3"/>
          <p:cNvSpPr/>
          <p:nvPr/>
        </p:nvSpPr>
        <p:spPr>
          <a:xfrm>
            <a:off x="35585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25</a:t>
            </a:r>
          </a:p>
        </p:txBody>
      </p:sp>
      <p:sp>
        <p:nvSpPr>
          <p:cNvPr id="13" name="Bar 4"/>
          <p:cNvSpPr/>
          <p:nvPr/>
        </p:nvSpPr>
        <p:spPr>
          <a:xfrm>
            <a:off x="4968240" y="4206240"/>
            <a:ext cx="845820" cy="10972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3" name="Value 4"/>
          <p:cNvSpPr/>
          <p:nvPr/>
        </p:nvSpPr>
        <p:spPr>
          <a:xfrm>
            <a:off x="4968240" y="38404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81.9d</a:t>
            </a:r>
          </a:p>
        </p:txBody>
      </p:sp>
      <p:sp>
        <p:nvSpPr>
          <p:cNvPr id="33" name="Label 4"/>
          <p:cNvSpPr/>
          <p:nvPr/>
        </p:nvSpPr>
        <p:spPr>
          <a:xfrm>
            <a:off x="49682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25</a:t>
            </a:r>
          </a:p>
        </p:txBody>
      </p:sp>
      <p:sp>
        <p:nvSpPr>
          <p:cNvPr id="14" name="Bar 5"/>
          <p:cNvSpPr/>
          <p:nvPr/>
        </p:nvSpPr>
        <p:spPr>
          <a:xfrm>
            <a:off x="6377940" y="3566160"/>
            <a:ext cx="845820" cy="17373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4" name="Value 5"/>
          <p:cNvSpPr/>
          <p:nvPr/>
        </p:nvSpPr>
        <p:spPr>
          <a:xfrm>
            <a:off x="6377940" y="32004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70.5m</a:t>
            </a:r>
          </a:p>
        </p:txBody>
      </p:sp>
      <p:sp>
        <p:nvSpPr>
          <p:cNvPr id="34" name="Label 5"/>
          <p:cNvSpPr/>
          <p:nvPr/>
        </p:nvSpPr>
        <p:spPr>
          <a:xfrm>
            <a:off x="63779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26</a:t>
            </a:r>
          </a:p>
        </p:txBody>
      </p:sp>
      <p:sp>
        <p:nvSpPr>
          <p:cNvPr id="15" name="Bar 6"/>
          <p:cNvSpPr/>
          <p:nvPr/>
        </p:nvSpPr>
        <p:spPr>
          <a:xfrm>
            <a:off x="7787640" y="3383280"/>
            <a:ext cx="845820" cy="1920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5" name="Value 6"/>
          <p:cNvSpPr/>
          <p:nvPr/>
        </p:nvSpPr>
        <p:spPr>
          <a:xfrm>
            <a:off x="7787640" y="30175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51.2k</a:t>
            </a:r>
          </a:p>
        </p:txBody>
      </p:sp>
      <p:sp>
        <p:nvSpPr>
          <p:cNvPr id="35" name="Label 6"/>
          <p:cNvSpPr/>
          <p:nvPr/>
        </p:nvSpPr>
        <p:spPr>
          <a:xfrm>
            <a:off x="77876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26</a:t>
            </a:r>
          </a:p>
        </p:txBody>
      </p:sp>
      <p:sp>
        <p:nvSpPr>
          <p:cNvPr id="16" name="Bar 7"/>
          <p:cNvSpPr/>
          <p:nvPr/>
        </p:nvSpPr>
        <p:spPr>
          <a:xfrm>
            <a:off x="9197340" y="3931920"/>
            <a:ext cx="845820" cy="13716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6" name="Value 7"/>
          <p:cNvSpPr/>
          <p:nvPr/>
        </p:nvSpPr>
        <p:spPr>
          <a:xfrm>
            <a:off x="9197340" y="356616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95.0m</a:t>
            </a:r>
          </a:p>
        </p:txBody>
      </p:sp>
      <p:sp>
        <p:nvSpPr>
          <p:cNvPr id="36" name="Label 7"/>
          <p:cNvSpPr/>
          <p:nvPr/>
        </p:nvSpPr>
        <p:spPr>
          <a:xfrm>
            <a:off x="91973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26</a:t>
            </a:r>
          </a:p>
        </p:txBody>
      </p:sp>
      <p:sp>
        <p:nvSpPr>
          <p:cNvPr id="17" name="Bar 8"/>
          <p:cNvSpPr/>
          <p:nvPr/>
        </p:nvSpPr>
        <p:spPr>
          <a:xfrm>
            <a:off x="10607040" y="2011680"/>
            <a:ext cx="845820" cy="32918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7" name="Value 8"/>
          <p:cNvSpPr/>
          <p:nvPr/>
        </p:nvSpPr>
        <p:spPr>
          <a:xfrm>
            <a:off x="10607040" y="16459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27.7m</a:t>
            </a:r>
          </a:p>
        </p:txBody>
      </p:sp>
      <p:sp>
        <p:nvSpPr>
          <p:cNvPr id="37" name="Label 8"/>
          <p:cNvSpPr/>
          <p:nvPr/>
        </p:nvSpPr>
        <p:spPr>
          <a:xfrm>
            <a:off x="106070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26</a:t>
            </a:r>
          </a:p>
        </p:txBody>
      </p:sp>
      <p:cxnSp>
        <p:nvCxnSpPr>
          <p:cNvPr id="40" name="Baseline"/>
          <p:cNvCxnSpPr>
            <a:cxnSpLocks/>
          </p:cNvCxnSpPr>
          <p:nvPr/>
        </p:nvCxnSpPr>
        <p:spPr>
          <a:xfrm>
            <a:off x="457200" y="5303520"/>
            <a:ext cx="112776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</p:cxnSp>
      <p:sp>
        <p:nvSpPr>
          <p:cNvPr id="41" name="Axis title"/>
          <p:cNvSpPr/>
          <p:nvPr/>
        </p:nvSpPr>
        <p:spPr>
          <a:xfrm>
            <a:off x="457200" y="5715000"/>
            <a:ext cx="1127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i="1"/>
              <a:t>Headcount moved to 80.1x, by quarter</a:t>
            </a:r>
          </a:p>
        </p:txBody>
      </p:sp>
      <p:sp>
        <p:nvSpPr>
          <p:cNvPr id="9" name="Slide Number 58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58}" type="slidenum">
              <a:rPr sz="1000"/>
              <a:t>58</a:t>
            </a:fld>
            <a:endParaRPr sz="10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9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Operations: by segment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Backlog reached 78.5pts, before the effect of the plan.</a:t>
            </a:r>
          </a:p>
          <a:p>
            <a:r>
              <a:rPr sz="2000"/>
              <a:t>Headcount reached 27.6x, against the plan.</a:t>
            </a:r>
          </a:p>
          <a:p>
            <a:pPr lvl="1"/>
            <a:r>
              <a:rPr sz="1800"/>
              <a:t>Net retention moved to 48.2x</a:t>
            </a:r>
          </a:p>
          <a:p>
            <a:r>
              <a:rPr sz="2000"/>
              <a:t>Pipeline coverage slipped to 83.5pts, in line with the board case.</a:t>
            </a:r>
          </a:p>
          <a:p>
            <a:r>
              <a:rPr sz="2000"/>
              <a:t>Cloud spend closed the quarter at 54.8x, two points over the board case.</a:t>
            </a:r>
          </a:p>
          <a:p>
            <a:pPr lvl="1"/>
            <a:r>
              <a:rPr sz="1800"/>
              <a:t>Backlog settled at 50.7k</a:t>
            </a:r>
          </a:p>
          <a:p>
            <a:r>
              <a:rPr sz="2000"/>
              <a:t>Net retention slipped to 15.3k, on the strength of the board case.</a:t>
            </a:r>
          </a:p>
          <a:p>
            <a:pPr lvl="1"/>
            <a:r>
              <a:rPr sz="1800"/>
              <a:t>Release cadence closed the quarter at 28.6d</a:t>
            </a:r>
          </a:p>
        </p:txBody>
      </p:sp>
      <p:sp>
        <p:nvSpPr>
          <p:cNvPr id="9" name="Slide Number 59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59}" type="slidenum">
              <a:rPr sz="1000"/>
              <a:t>59</a:t>
            </a:fld>
            <a:endParaRPr sz="10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0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Operations: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Cycle time moved to 1.3x, a point under the plan.</a:t>
            </a:r>
          </a:p>
          <a:p>
            <a:r>
              <a:rPr sz="2000"/>
              <a:t>Pipeline coverage slipped to 34.4x, a point under the revised model.</a:t>
            </a:r>
          </a:p>
          <a:p>
            <a:pPr lvl="1"/>
            <a:r>
              <a:rPr sz="1800"/>
              <a:t>Backlog held at 71.9pts</a:t>
            </a:r>
          </a:p>
          <a:p>
            <a:pPr lvl="1"/>
            <a:r>
              <a:rPr sz="1800"/>
              <a:t>Support volume closed the quarter at 47.0%</a:t>
            </a:r>
          </a:p>
          <a:p>
            <a:pPr lvl="1"/>
            <a:r>
              <a:rPr sz="1800"/>
              <a:t>Onboarding time reached 19.9d</a:t>
            </a:r>
          </a:p>
          <a:p>
            <a:r>
              <a:rPr sz="2000"/>
              <a:t>Deal size closed the quarter at 17.9k, two points over the plan.</a:t>
            </a:r>
          </a:p>
          <a:p>
            <a:r>
              <a:rPr sz="2000"/>
              <a:t>Cloud spend settled at 48.9pts, with the target still to land.</a:t>
            </a:r>
          </a:p>
          <a:p>
            <a:pPr lvl="1"/>
            <a:r>
              <a:rPr sz="1800"/>
              <a:t>Deal size slipped to 76.4m</a:t>
            </a:r>
          </a:p>
          <a:p>
            <a:pPr lvl="1"/>
            <a:r>
              <a:rPr sz="1800"/>
              <a:t>Onboarding time slipped to 33.8pts</a:t>
            </a:r>
          </a:p>
          <a:p>
            <a:pPr lvl="1"/>
            <a:r>
              <a:rPr sz="1800"/>
              <a:t>Renewal rate settled at 10.9k</a:t>
            </a:r>
          </a:p>
        </p:txBody>
      </p:sp>
      <p:sp>
        <p:nvSpPr>
          <p:cNvPr id="9" name="Slide Number 60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60}" type="slidenum">
              <a:rPr sz="1000"/>
              <a:t>60</a:t>
            </a:fld>
            <a:endParaRPr sz="10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Operations: at a glance</a:t>
            </a:r>
          </a:p>
        </p:txBody>
      </p:sp>
      <p:sp>
        <p:nvSpPr>
          <p:cNvPr id="10" name="Left column"/>
          <p:cNvSpPr/>
          <p:nvPr/>
        </p:nvSpPr>
        <p:spPr>
          <a:xfrm>
            <a:off x="4572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/>
              <a:t>Churn slipped to 60.7%</a:t>
            </a:r>
            <a:r>
              <a:rPr sz="1600"/>
              <a:t> — </a:t>
            </a:r>
            <a:r>
              <a:rPr sz="1600"/>
              <a:t>Pipeline coverage held at 77.5x, ahead of the forecast.</a:t>
            </a:r>
          </a:p>
          <a:p>
            <a:r>
              <a:rPr sz="1400" i="1"/>
              <a:t>Read across: </a:t>
            </a:r>
            <a:r>
              <a:rPr sz="1400"/>
              <a:t>Uptime reached 70.1d, with the prior quarter still to land.</a:t>
            </a:r>
            <a:r>
              <a:rPr sz="1400" u="sng"/>
              <a:t> Footnote</a:t>
            </a:r>
            <a:r>
              <a:rPr sz="1400" baseline="30000"/>
              <a:t>1</a:t>
            </a:r>
          </a:p>
          <a:p>
            <a:r>
              <a:rPr sz="1200" cap="all" spc="100">
                <a:solidFill>
                  <a:schemeClr val="accent2"/>
                </a:solidFill>
              </a:rPr>
              <a:t>Risk</a:t>
            </a:r>
            <a:br>
              <a:rPr sz="1200"/>
            </a:br>
            <a:r>
              <a:rPr sz="1400"/>
              <a:t>Unit cost settled at 7.8x, ahead of last year.</a:t>
            </a:r>
          </a:p>
        </p:txBody>
      </p:sp>
      <p:sp>
        <p:nvSpPr>
          <p:cNvPr id="11" name="Right column"/>
          <p:cNvSpPr/>
          <p:nvPr/>
        </p:nvSpPr>
        <p:spPr>
          <a:xfrm>
            <a:off x="62484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pPr algn="just"/>
            <a:r>
              <a:rPr sz="1400"/>
              <a:t>Revenue improved to 47.5pts, ahead of the industry median. Renewal rate held at 31.1m, on the strength of the prior quarter.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Unit cost moved to 54.2k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Gross margin held at 89.4k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Backlog improved to 38.4x</a:t>
            </a:r>
          </a:p>
        </p:txBody>
      </p:sp>
      <p:sp>
        <p:nvSpPr>
          <p:cNvPr id="9" name="Slide Number 61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61}" type="slidenum">
              <a:rPr sz="1000"/>
              <a:t>61</a:t>
            </a:fld>
            <a:endParaRPr sz="10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Operations: at a glance</a:t>
            </a:r>
          </a:p>
        </p:txBody>
      </p:sp>
      <p:pic>
        <p:nvPicPr>
          <p:cNvPr id="10" name="Site photograph" descr="Hills under a morning sky"/>
          <p:cNvPicPr>
            <a:picLocks noChangeAspect="1"/>
          </p:cNvPicPr>
          <p:nvPr/>
        </p:nvPicPr>
        <p:blipFill>
          <a:blip r:embed="rId2"/>
          <a:srcRect l="10000" t="5000" r="20000" b="25000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" name="Caption"/>
          <p:cNvSpPr/>
          <p:nvPr/>
        </p:nvSpPr>
        <p:spPr>
          <a:xfrm>
            <a:off x="457200" y="53949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i="1"/>
              <a:t>Figure 9. Cloud spend grew 91.5k.</a:t>
            </a:r>
          </a:p>
        </p:txBody>
      </p:sp>
      <p:sp>
        <p:nvSpPr>
          <p:cNvPr id="12" name="Aside"/>
          <p:cNvSpPr/>
          <p:nvPr/>
        </p:nvSpPr>
        <p:spPr>
          <a:xfrm>
            <a:off x="8077200" y="1188720"/>
            <a:ext cx="36576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/>
              <a:t>Cycle time closed the quarter at 61.8x, with the target still to land.</a:t>
            </a:r>
          </a:p>
          <a:p>
            <a:r>
              <a:rPr sz="1600"/>
              <a:t>Release cadence grew 47.7k, ahead of the board case.</a:t>
            </a:r>
          </a:p>
        </p:txBody>
      </p:sp>
      <p:sp>
        <p:nvSpPr>
          <p:cNvPr id="9" name="Slide Number 62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62}" type="slidenum">
              <a:rPr sz="1000"/>
              <a:t>62</a:t>
            </a:fld>
            <a:endParaRPr sz="10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pter number"/>
          <p:cNvSpPr/>
          <p:nvPr/>
        </p:nvSpPr>
        <p:spPr>
          <a:xfrm>
            <a:off x="914400" y="1828800"/>
            <a:ext cx="3657600" cy="1828800"/>
          </a:xfrm>
          <a:prstGeom prst="rect">
            <a:avLst/>
          </a:prstGeom>
          <a:noFill/>
        </p:spPr>
        <p:txBody>
          <a:bodyPr wrap="square" anchor="b"/>
          <a:lstStyle/>
          <a:p>
            <a:r>
              <a:rPr sz="6000" b="1">
                <a:solidFill>
                  <a:schemeClr val="tx1"/>
                </a:solidFill>
              </a:rPr>
              <a:t>06</a:t>
            </a:r>
          </a:p>
        </p:txBody>
      </p:sp>
      <p:sp>
        <p:nvSpPr>
          <p:cNvPr id="11" name="Chapter title"/>
          <p:cNvSpPr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600">
                <a:solidFill>
                  <a:schemeClr val="tx1"/>
                </a:solidFill>
              </a:rPr>
              <a:t>Finance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4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Finance: at a glance</a:t>
            </a:r>
          </a:p>
        </p:txBody>
      </p:sp>
      <p:sp>
        <p:nvSpPr>
          <p:cNvPr id="10" name="Bar 1"/>
          <p:cNvSpPr/>
          <p:nvPr/>
        </p:nvSpPr>
        <p:spPr>
          <a:xfrm>
            <a:off x="739140" y="4389120"/>
            <a:ext cx="845820" cy="9144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0" name="Value 1"/>
          <p:cNvSpPr/>
          <p:nvPr/>
        </p:nvSpPr>
        <p:spPr>
          <a:xfrm>
            <a:off x="739140" y="402336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5.7k</a:t>
            </a:r>
          </a:p>
        </p:txBody>
      </p:sp>
      <p:sp>
        <p:nvSpPr>
          <p:cNvPr id="30" name="Label 1"/>
          <p:cNvSpPr/>
          <p:nvPr/>
        </p:nvSpPr>
        <p:spPr>
          <a:xfrm>
            <a:off x="7391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25</a:t>
            </a:r>
          </a:p>
        </p:txBody>
      </p:sp>
      <p:sp>
        <p:nvSpPr>
          <p:cNvPr id="11" name="Bar 2"/>
          <p:cNvSpPr/>
          <p:nvPr/>
        </p:nvSpPr>
        <p:spPr>
          <a:xfrm>
            <a:off x="2148840" y="4206240"/>
            <a:ext cx="845820" cy="10972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1" name="Value 2"/>
          <p:cNvSpPr/>
          <p:nvPr/>
        </p:nvSpPr>
        <p:spPr>
          <a:xfrm>
            <a:off x="2148840" y="38404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23.3x</a:t>
            </a:r>
          </a:p>
        </p:txBody>
      </p:sp>
      <p:sp>
        <p:nvSpPr>
          <p:cNvPr id="31" name="Label 2"/>
          <p:cNvSpPr/>
          <p:nvPr/>
        </p:nvSpPr>
        <p:spPr>
          <a:xfrm>
            <a:off x="21488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25</a:t>
            </a:r>
          </a:p>
        </p:txBody>
      </p:sp>
      <p:sp>
        <p:nvSpPr>
          <p:cNvPr id="12" name="Bar 3"/>
          <p:cNvSpPr/>
          <p:nvPr/>
        </p:nvSpPr>
        <p:spPr>
          <a:xfrm>
            <a:off x="3558540" y="2194560"/>
            <a:ext cx="845820" cy="31089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2" name="Value 3"/>
          <p:cNvSpPr/>
          <p:nvPr/>
        </p:nvSpPr>
        <p:spPr>
          <a:xfrm>
            <a:off x="3558540" y="18288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87.6%</a:t>
            </a:r>
          </a:p>
        </p:txBody>
      </p:sp>
      <p:sp>
        <p:nvSpPr>
          <p:cNvPr id="32" name="Label 3"/>
          <p:cNvSpPr/>
          <p:nvPr/>
        </p:nvSpPr>
        <p:spPr>
          <a:xfrm>
            <a:off x="35585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25</a:t>
            </a:r>
          </a:p>
        </p:txBody>
      </p:sp>
      <p:sp>
        <p:nvSpPr>
          <p:cNvPr id="13" name="Bar 4"/>
          <p:cNvSpPr/>
          <p:nvPr/>
        </p:nvSpPr>
        <p:spPr>
          <a:xfrm>
            <a:off x="4968240" y="3566160"/>
            <a:ext cx="845820" cy="17373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3" name="Value 4"/>
          <p:cNvSpPr/>
          <p:nvPr/>
        </p:nvSpPr>
        <p:spPr>
          <a:xfrm>
            <a:off x="4968240" y="32004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21.6%</a:t>
            </a:r>
          </a:p>
        </p:txBody>
      </p:sp>
      <p:sp>
        <p:nvSpPr>
          <p:cNvPr id="33" name="Label 4"/>
          <p:cNvSpPr/>
          <p:nvPr/>
        </p:nvSpPr>
        <p:spPr>
          <a:xfrm>
            <a:off x="49682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25</a:t>
            </a:r>
          </a:p>
        </p:txBody>
      </p:sp>
      <p:sp>
        <p:nvSpPr>
          <p:cNvPr id="14" name="Bar 5"/>
          <p:cNvSpPr/>
          <p:nvPr/>
        </p:nvSpPr>
        <p:spPr>
          <a:xfrm>
            <a:off x="6377940" y="4754880"/>
            <a:ext cx="845820" cy="5486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4" name="Value 5"/>
          <p:cNvSpPr/>
          <p:nvPr/>
        </p:nvSpPr>
        <p:spPr>
          <a:xfrm>
            <a:off x="6377940" y="43891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74.3x</a:t>
            </a:r>
          </a:p>
        </p:txBody>
      </p:sp>
      <p:sp>
        <p:nvSpPr>
          <p:cNvPr id="34" name="Label 5"/>
          <p:cNvSpPr/>
          <p:nvPr/>
        </p:nvSpPr>
        <p:spPr>
          <a:xfrm>
            <a:off x="63779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26</a:t>
            </a:r>
          </a:p>
        </p:txBody>
      </p:sp>
      <p:sp>
        <p:nvSpPr>
          <p:cNvPr id="15" name="Bar 6"/>
          <p:cNvSpPr/>
          <p:nvPr/>
        </p:nvSpPr>
        <p:spPr>
          <a:xfrm>
            <a:off x="7787640" y="1920240"/>
            <a:ext cx="845820" cy="33832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5" name="Value 6"/>
          <p:cNvSpPr/>
          <p:nvPr/>
        </p:nvSpPr>
        <p:spPr>
          <a:xfrm>
            <a:off x="7787640" y="15544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58.6%</a:t>
            </a:r>
          </a:p>
        </p:txBody>
      </p:sp>
      <p:sp>
        <p:nvSpPr>
          <p:cNvPr id="35" name="Label 6"/>
          <p:cNvSpPr/>
          <p:nvPr/>
        </p:nvSpPr>
        <p:spPr>
          <a:xfrm>
            <a:off x="77876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26</a:t>
            </a:r>
          </a:p>
        </p:txBody>
      </p:sp>
      <p:sp>
        <p:nvSpPr>
          <p:cNvPr id="16" name="Bar 7"/>
          <p:cNvSpPr/>
          <p:nvPr/>
        </p:nvSpPr>
        <p:spPr>
          <a:xfrm>
            <a:off x="9197340" y="4480560"/>
            <a:ext cx="845820" cy="8229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6" name="Value 7"/>
          <p:cNvSpPr/>
          <p:nvPr/>
        </p:nvSpPr>
        <p:spPr>
          <a:xfrm>
            <a:off x="9197340" y="41148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15.1d</a:t>
            </a:r>
          </a:p>
        </p:txBody>
      </p:sp>
      <p:sp>
        <p:nvSpPr>
          <p:cNvPr id="36" name="Label 7"/>
          <p:cNvSpPr/>
          <p:nvPr/>
        </p:nvSpPr>
        <p:spPr>
          <a:xfrm>
            <a:off x="91973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26</a:t>
            </a:r>
          </a:p>
        </p:txBody>
      </p:sp>
      <p:sp>
        <p:nvSpPr>
          <p:cNvPr id="17" name="Bar 8"/>
          <p:cNvSpPr/>
          <p:nvPr/>
        </p:nvSpPr>
        <p:spPr>
          <a:xfrm>
            <a:off x="10607040" y="3840480"/>
            <a:ext cx="845820" cy="14630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7" name="Value 8"/>
          <p:cNvSpPr/>
          <p:nvPr/>
        </p:nvSpPr>
        <p:spPr>
          <a:xfrm>
            <a:off x="10607040" y="34747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85.5pts</a:t>
            </a:r>
          </a:p>
        </p:txBody>
      </p:sp>
      <p:sp>
        <p:nvSpPr>
          <p:cNvPr id="37" name="Label 8"/>
          <p:cNvSpPr/>
          <p:nvPr/>
        </p:nvSpPr>
        <p:spPr>
          <a:xfrm>
            <a:off x="106070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26</a:t>
            </a:r>
          </a:p>
        </p:txBody>
      </p:sp>
      <p:cxnSp>
        <p:nvCxnSpPr>
          <p:cNvPr id="40" name="Baseline"/>
          <p:cNvCxnSpPr>
            <a:cxnSpLocks/>
          </p:cNvCxnSpPr>
          <p:nvPr/>
        </p:nvCxnSpPr>
        <p:spPr>
          <a:xfrm>
            <a:off x="457200" y="5303520"/>
            <a:ext cx="112776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</p:cxnSp>
      <p:sp>
        <p:nvSpPr>
          <p:cNvPr id="41" name="Axis title"/>
          <p:cNvSpPr/>
          <p:nvPr/>
        </p:nvSpPr>
        <p:spPr>
          <a:xfrm>
            <a:off x="457200" y="5715000"/>
            <a:ext cx="1127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i="1"/>
              <a:t>Cycle time improved to 95.5%, by quarter</a:t>
            </a:r>
          </a:p>
        </p:txBody>
      </p:sp>
      <p:sp>
        <p:nvSpPr>
          <p:cNvPr id="9" name="Slide Number 64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64}" type="slidenum">
              <a:rPr sz="1000"/>
              <a:t>64</a:t>
            </a:fld>
            <a:endParaRPr sz="10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5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Finance: the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Revenue reached 7.5pts, with the plan still to land.</a:t>
            </a:r>
          </a:p>
          <a:p>
            <a:r>
              <a:rPr sz="2000"/>
              <a:t>Cycle time improved to 68.9%, ahead of the forecast.</a:t>
            </a:r>
          </a:p>
          <a:p>
            <a:pPr lvl="1"/>
            <a:r>
              <a:rPr sz="1800"/>
              <a:t>Renewal rate reached 92.1k</a:t>
            </a:r>
          </a:p>
          <a:p>
            <a:pPr lvl="1"/>
            <a:r>
              <a:rPr sz="1800"/>
              <a:t>Support volume held at 46.2d</a:t>
            </a:r>
          </a:p>
          <a:p>
            <a:pPr lvl="1"/>
            <a:r>
              <a:rPr sz="1800"/>
              <a:t>Net retention reached 65.4%</a:t>
            </a:r>
          </a:p>
          <a:p>
            <a:r>
              <a:rPr sz="2000"/>
              <a:t>Pipeline coverage held at 55.7x, with the plan still to land.</a:t>
            </a:r>
          </a:p>
          <a:p>
            <a:pPr lvl="1"/>
            <a:r>
              <a:rPr sz="1800"/>
              <a:t>Cycle time held at 81.7x</a:t>
            </a:r>
          </a:p>
          <a:p>
            <a:r>
              <a:rPr sz="2000"/>
              <a:t>Unit cost grew 51.3%, with the plan still to land.</a:t>
            </a:r>
          </a:p>
          <a:p>
            <a:r>
              <a:rPr sz="2000"/>
              <a:t>Net retention settled at 2.7%, against the plan.</a:t>
            </a:r>
          </a:p>
          <a:p>
            <a:pPr lvl="1"/>
            <a:r>
              <a:rPr sz="1800"/>
              <a:t>Renewal rate held at 75.8k</a:t>
            </a:r>
          </a:p>
        </p:txBody>
      </p:sp>
      <p:sp>
        <p:nvSpPr>
          <p:cNvPr id="9" name="Slide Number 65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65}" type="slidenum">
              <a:rPr sz="1000"/>
              <a:t>65</a:t>
            </a:fld>
            <a:endParaRPr sz="10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6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Finance: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000"/>
              <a:t>Backlog moved to 28.3x, two points over the plan.</a:t>
            </a:r>
          </a:p>
          <a:p>
            <a:pPr lvl="1"/>
            <a:r>
              <a:rPr sz="1800"/>
              <a:t>Net retention reached 23.2k</a:t>
            </a:r>
          </a:p>
          <a:p>
            <a:r>
              <a:rPr sz="2000"/>
              <a:t>Release cadence settled at 69.7m, before the effect of the target.</a:t>
            </a:r>
          </a:p>
          <a:p>
            <a:pPr lvl="1"/>
            <a:r>
              <a:rPr sz="1800"/>
              <a:t>Net retention closed the quarter at 49.2%</a:t>
            </a:r>
          </a:p>
          <a:p>
            <a:pPr lvl="1"/>
            <a:r>
              <a:rPr sz="1800"/>
              <a:t>Unit cost held at 80.2k</a:t>
            </a:r>
          </a:p>
          <a:p>
            <a:r>
              <a:rPr sz="2000"/>
              <a:t>Onboarding time moved to 86.3x, on the strength of last year.</a:t>
            </a:r>
          </a:p>
          <a:p>
            <a:pPr lvl="1"/>
            <a:r>
              <a:rPr sz="1800"/>
              <a:t>Net retention closed the quarter at 68.1%</a:t>
            </a:r>
          </a:p>
          <a:p>
            <a:pPr lvl="1"/>
            <a:r>
              <a:rPr sz="1800"/>
              <a:t>Onboarding time slipped to 89.6k</a:t>
            </a:r>
          </a:p>
          <a:p>
            <a:r>
              <a:rPr sz="2000"/>
              <a:t>Gross margin moved to 64.9m, before the effect of the target.</a:t>
            </a:r>
          </a:p>
        </p:txBody>
      </p:sp>
      <p:sp>
        <p:nvSpPr>
          <p:cNvPr id="9" name="Slide Number 66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66}" type="slidenum">
              <a:rPr sz="1000"/>
              <a:t>66</a:t>
            </a:fld>
            <a:endParaRPr sz="10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7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Finance: the numbers</a:t>
            </a:r>
          </a:p>
        </p:txBody>
      </p:sp>
      <p:sp>
        <p:nvSpPr>
          <p:cNvPr id="10" name="Left column"/>
          <p:cNvSpPr/>
          <p:nvPr/>
        </p:nvSpPr>
        <p:spPr>
          <a:xfrm>
            <a:off x="4572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/>
              <a:t>Deal size grew 76.1%</a:t>
            </a:r>
            <a:r>
              <a:rPr sz="1600"/>
              <a:t> — </a:t>
            </a:r>
            <a:r>
              <a:rPr sz="1600"/>
              <a:t>Headcount improved to 97.9m, in line with last year.</a:t>
            </a:r>
          </a:p>
          <a:p>
            <a:r>
              <a:rPr sz="1400" i="1"/>
              <a:t>Read across: </a:t>
            </a:r>
            <a:r>
              <a:rPr sz="1400"/>
              <a:t>Support volume improved to 18.6d, in line with the revised model.</a:t>
            </a:r>
            <a:r>
              <a:rPr sz="1400" u="sng"/>
              <a:t> Footnote</a:t>
            </a:r>
            <a:r>
              <a:rPr sz="1400" baseline="30000"/>
              <a:t>1</a:t>
            </a:r>
          </a:p>
          <a:p>
            <a:r>
              <a:rPr sz="1200" cap="all" spc="100">
                <a:solidFill>
                  <a:schemeClr val="accent2"/>
                </a:solidFill>
              </a:rPr>
              <a:t>Note</a:t>
            </a:r>
            <a:br>
              <a:rPr sz="1200"/>
            </a:br>
            <a:r>
              <a:rPr sz="1400"/>
              <a:t>Cloud spend closed the quarter at 59.7%, in line with the plan.</a:t>
            </a:r>
          </a:p>
        </p:txBody>
      </p:sp>
      <p:sp>
        <p:nvSpPr>
          <p:cNvPr id="11" name="Right column"/>
          <p:cNvSpPr/>
          <p:nvPr/>
        </p:nvSpPr>
        <p:spPr>
          <a:xfrm>
            <a:off x="62484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pPr algn="just"/>
            <a:r>
              <a:rPr sz="1400"/>
              <a:t>Headcount moved to 67.2%, on the strength of the board case. Support volume held at 38.6d, against the plan.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Gross margin settled at 64.6%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Pipeline coverage reached 93.9k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Deal size closed the quarter at 6.2%</a:t>
            </a:r>
          </a:p>
        </p:txBody>
      </p:sp>
      <p:sp>
        <p:nvSpPr>
          <p:cNvPr id="9" name="Slide Number 67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67}" type="slidenum">
              <a:rPr sz="1000"/>
              <a:t>67</a:t>
            </a:fld>
            <a:endParaRPr sz="10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8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Finance: by segment</a:t>
            </a:r>
          </a:p>
        </p:txBody>
      </p:sp>
      <p:pic>
        <p:nvPicPr>
          <p:cNvPr id="10" name="Chart screenshot" descr="Five bars, two colou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" name="Caption"/>
          <p:cNvSpPr/>
          <p:nvPr/>
        </p:nvSpPr>
        <p:spPr>
          <a:xfrm>
            <a:off x="457200" y="53949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i="1"/>
              <a:t>Figure 10. Headcount grew 96.0x.</a:t>
            </a:r>
          </a:p>
        </p:txBody>
      </p:sp>
      <p:sp>
        <p:nvSpPr>
          <p:cNvPr id="12" name="Aside"/>
          <p:cNvSpPr/>
          <p:nvPr/>
        </p:nvSpPr>
        <p:spPr>
          <a:xfrm>
            <a:off x="8077200" y="1188720"/>
            <a:ext cx="36576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/>
              <a:t>Release cadence reached 87.1pts, before the effect of the industry median.</a:t>
            </a:r>
          </a:p>
          <a:p>
            <a:r>
              <a:rPr sz="1600"/>
              <a:t>Backlog grew 15.1pts, a point under the target.</a:t>
            </a:r>
          </a:p>
        </p:txBody>
      </p:sp>
      <p:sp>
        <p:nvSpPr>
          <p:cNvPr id="9" name="Slide Number 68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68}" type="slidenum">
              <a:rPr sz="1000"/>
              <a:t>68</a:t>
            </a:fld>
            <a:endParaRPr sz="10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9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Finance: the numbers</a:t>
            </a:r>
          </a:p>
        </p:txBody>
      </p:sp>
      <p:sp>
        <p:nvSpPr>
          <p:cNvPr id="10" name="cloud 1"/>
          <p:cNvSpPr/>
          <p:nvPr/>
        </p:nvSpPr>
        <p:spPr>
          <a:xfrm>
            <a:off x="548640" y="1280160"/>
            <a:ext cx="2636520" cy="1544320"/>
          </a:xfrm>
          <a:prstGeom prst="cloud">
            <a:avLst/>
          </a:prstGeom>
          <a:gradFill rotWithShape="1">
            <a:gsLst>
              <a:gs pos="0">
                <a:schemeClr val="accent1">
                  <a:tint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28575">
            <a:solidFill>
              <a:schemeClr val="accent1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6.8d YoY</a:t>
            </a:r>
          </a:p>
        </p:txBody>
      </p:sp>
      <p:sp>
        <p:nvSpPr>
          <p:cNvPr id="11" name="heart 2"/>
          <p:cNvSpPr/>
          <p:nvPr/>
        </p:nvSpPr>
        <p:spPr>
          <a:xfrm>
            <a:off x="3368040" y="1280160"/>
            <a:ext cx="2636520" cy="1544320"/>
          </a:xfrm>
          <a:prstGeom prst="heart">
            <a:avLst/>
          </a:prstGeom>
          <a:gradFill rotWithShape="1">
            <a:gsLst>
              <a:gs pos="0">
                <a:schemeClr val="lt1"/>
              </a:gs>
              <a:gs pos="100000">
                <a:schemeClr val="accent2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80.4k target</a:t>
            </a:r>
          </a:p>
        </p:txBody>
      </p:sp>
      <p:sp>
        <p:nvSpPr>
          <p:cNvPr id="12" name="octagon 3"/>
          <p:cNvSpPr/>
          <p:nvPr/>
        </p:nvSpPr>
        <p:spPr>
          <a:xfrm rot="2700000">
            <a:off x="6187440" y="1280160"/>
            <a:ext cx="2636520" cy="1544320"/>
          </a:xfrm>
          <a:prstGeom prst="octagon">
            <a:avLst/>
          </a:prstGeom>
          <a:pattFill prst="smGrid">
            <a:fgClr>
              <a:schemeClr val="accent3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12.0pts target</a:t>
            </a:r>
          </a:p>
        </p:txBody>
      </p:sp>
      <p:sp>
        <p:nvSpPr>
          <p:cNvPr id="13" name="rect 4"/>
          <p:cNvSpPr/>
          <p:nvPr/>
        </p:nvSpPr>
        <p:spPr>
          <a:xfrm>
            <a:off x="9006840" y="1280160"/>
            <a:ext cx="2636520" cy="15443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58.7d YoY</a:t>
            </a:r>
          </a:p>
        </p:txBody>
      </p:sp>
      <p:sp>
        <p:nvSpPr>
          <p:cNvPr id="14" name="roundRect 5"/>
          <p:cNvSpPr/>
          <p:nvPr/>
        </p:nvSpPr>
        <p:spPr>
          <a:xfrm>
            <a:off x="548640" y="3007360"/>
            <a:ext cx="2636520" cy="1544320"/>
          </a:xfrm>
          <a:prstGeom prst="roundRect">
            <a:avLst/>
          </a:prstGeom>
          <a:gradFill rotWithShape="1">
            <a:gsLst>
              <a:gs pos="0">
                <a:schemeClr val="accent5">
                  <a:tint val="40000"/>
                </a:schemeClr>
              </a:gs>
              <a:gs pos="100000">
                <a:schemeClr val="accent5"/>
              </a:gs>
            </a:gsLst>
            <a:lin ang="5400000" scaled="0"/>
          </a:gradFill>
          <a:ln w="28575">
            <a:solidFill>
              <a:schemeClr val="accent5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96.4x QoQ</a:t>
            </a:r>
          </a:p>
        </p:txBody>
      </p:sp>
      <p:sp>
        <p:nvSpPr>
          <p:cNvPr id="15" name="ellipse 6"/>
          <p:cNvSpPr/>
          <p:nvPr/>
        </p:nvSpPr>
        <p:spPr>
          <a:xfrm rot="1800000">
            <a:off x="3368040" y="3007360"/>
            <a:ext cx="2636520" cy="1544320"/>
          </a:xfrm>
          <a:prstGeom prst="ellipse">
            <a:avLst/>
          </a:prstGeom>
          <a:gradFill rotWithShape="1">
            <a:gsLst>
              <a:gs pos="0">
                <a:schemeClr val="lt1"/>
              </a:gs>
              <a:gs pos="100000">
                <a:schemeClr val="accent6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  <a:effectLst>
            <a:glow rad="63500">
              <a:schemeClr val="accent1">
                <a:alpha val="40000"/>
              </a:schemeClr>
            </a:glo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91.3d actual</a:t>
            </a:r>
          </a:p>
        </p:txBody>
      </p:sp>
      <p:sp>
        <p:nvSpPr>
          <p:cNvPr id="16" name="triangle 7"/>
          <p:cNvSpPr/>
          <p:nvPr/>
        </p:nvSpPr>
        <p:spPr>
          <a:xfrm>
            <a:off x="6187440" y="3007360"/>
            <a:ext cx="2636520" cy="1544320"/>
          </a:xfrm>
          <a:prstGeom prst="triangle">
            <a:avLst/>
          </a:prstGeom>
          <a:pattFill prst="pct25">
            <a:fgClr>
              <a:schemeClr val="accent1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88.6x YoY</a:t>
            </a:r>
          </a:p>
        </p:txBody>
      </p:sp>
      <p:sp>
        <p:nvSpPr>
          <p:cNvPr id="17" name="diamond 8"/>
          <p:cNvSpPr/>
          <p:nvPr/>
        </p:nvSpPr>
        <p:spPr>
          <a:xfrm flipH="1">
            <a:off x="9006840" y="3007360"/>
            <a:ext cx="2636520" cy="1544320"/>
          </a:xfrm>
          <a:prstGeom prst="diamond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44.3pts actual</a:t>
            </a:r>
          </a:p>
        </p:txBody>
      </p:sp>
      <p:sp>
        <p:nvSpPr>
          <p:cNvPr id="18" name="hexagon 9"/>
          <p:cNvSpPr/>
          <p:nvPr/>
        </p:nvSpPr>
        <p:spPr>
          <a:xfrm rot="900000">
            <a:off x="548640" y="4734560"/>
            <a:ext cx="2636520" cy="1544320"/>
          </a:xfrm>
          <a:prstGeom prst="hexagon">
            <a:avLst/>
          </a:prstGeom>
          <a:gradFill rotWithShape="1">
            <a:gsLst>
              <a:gs pos="0">
                <a:schemeClr val="accent3">
                  <a:tint val="40000"/>
                </a:schemeClr>
              </a:gs>
              <a:gs pos="100000">
                <a:schemeClr val="accent3"/>
              </a:gs>
            </a:gsLst>
            <a:lin ang="5400000" scaled="0"/>
          </a:gradFill>
          <a:ln w="28575">
            <a:solidFill>
              <a:schemeClr val="accent3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71.9x QoQ</a:t>
            </a:r>
          </a:p>
        </p:txBody>
      </p:sp>
      <p:sp>
        <p:nvSpPr>
          <p:cNvPr id="19" name="star5 10"/>
          <p:cNvSpPr/>
          <p:nvPr/>
        </p:nvSpPr>
        <p:spPr>
          <a:xfrm>
            <a:off x="3368040" y="4734560"/>
            <a:ext cx="2636520" cy="1544320"/>
          </a:xfrm>
          <a:prstGeom prst="star5">
            <a:avLst/>
          </a:prstGeom>
          <a:gradFill rotWithShape="1">
            <a:gsLst>
              <a:gs pos="0">
                <a:schemeClr val="lt1"/>
              </a:gs>
              <a:gs pos="100000">
                <a:schemeClr val="accent4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41.1k target</a:t>
            </a:r>
          </a:p>
        </p:txBody>
      </p:sp>
      <p:sp>
        <p:nvSpPr>
          <p:cNvPr id="20" name="rightArrow 11"/>
          <p:cNvSpPr/>
          <p:nvPr/>
        </p:nvSpPr>
        <p:spPr>
          <a:xfrm>
            <a:off x="6187440" y="4734560"/>
            <a:ext cx="2636520" cy="1544320"/>
          </a:xfrm>
          <a:prstGeom prst="rightArrow">
            <a:avLst/>
          </a:prstGeom>
          <a:pattFill prst="dkUpDiag">
            <a:fgClr>
              <a:schemeClr val="accent5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52.4pts actual</a:t>
            </a:r>
          </a:p>
        </p:txBody>
      </p:sp>
      <p:grpSp>
        <p:nvGrpSpPr>
          <p:cNvPr id="30" name="Grouped trio"/>
          <p:cNvGrpSpPr/>
          <p:nvPr/>
        </p:nvGrpSpPr>
        <p:grpSpPr>
          <a:xfrm rot="1200000">
            <a:off x="9006840" y="4734560"/>
            <a:ext cx="2636520" cy="1544320"/>
            <a:chOff x="9006840" y="4734560"/>
            <a:chExt cx="2636520" cy="1544320"/>
          </a:xfrm>
        </p:grpSpPr>
        <p:sp>
          <p:nvSpPr>
            <p:cNvPr id="31" name="Leaf 1"/>
            <p:cNvSpPr/>
            <p:nvPr/>
          </p:nvSpPr>
          <p:spPr>
            <a:xfrm>
              <a:off x="9006840" y="4734560"/>
              <a:ext cx="833120" cy="1158240"/>
            </a:xfrm>
            <a:prstGeom prst="ellipse">
              <a:avLst/>
            </a:prstGeom>
            <a:solidFill>
              <a:schemeClr val="accent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Leaf 2"/>
            <p:cNvSpPr/>
            <p:nvPr/>
          </p:nvSpPr>
          <p:spPr>
            <a:xfrm>
              <a:off x="9885680" y="5120640"/>
              <a:ext cx="833120" cy="1158240"/>
            </a:xfrm>
            <a:prstGeom prst="roundRect">
              <a:avLst/>
            </a:prstGeom>
            <a:solidFill>
              <a:schemeClr val="accent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Leaf 3"/>
            <p:cNvSpPr/>
            <p:nvPr/>
          </p:nvSpPr>
          <p:spPr>
            <a:xfrm>
              <a:off x="10764520" y="4734560"/>
              <a:ext cx="833120" cy="1158240"/>
            </a:xfrm>
            <a:prstGeom prst="diamond">
              <a:avLst/>
            </a:prstGeom>
            <a:solidFill>
              <a:schemeClr val="accent6"/>
            </a:solidFill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40" name="Straight Arrow Connector 40"/>
          <p:cNvCxnSpPr>
            <a:cxnSpLocks/>
          </p:cNvCxnSpPr>
          <p:nvPr/>
        </p:nvCxnSpPr>
        <p:spPr>
          <a:xfrm>
            <a:off x="1866900" y="2824480"/>
            <a:ext cx="0" cy="18288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9" name="Slide Number 69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69}" type="slidenum">
              <a:rPr sz="1000"/>
              <a:t>69</a:t>
            </a:fld>
            <a:endParaRPr sz="10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Rule"/>
          <p:cNvCxnSpPr>
            <a:cxnSpLocks/>
          </p:cNvCxnSpPr>
          <p:nvPr/>
        </p:nvCxnSpPr>
        <p:spPr>
          <a:xfrm>
            <a:off x="1828800" y="1600200"/>
            <a:ext cx="8534400" cy="0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</p:cxnSp>
      <p:sp>
        <p:nvSpPr>
          <p:cNvPr id="11" name="Quotation"/>
          <p:cNvSpPr/>
          <p:nvPr/>
        </p:nvSpPr>
        <p:spPr>
          <a:xfrm>
            <a:off x="1371600" y="1828800"/>
            <a:ext cx="9448800" cy="2743200"/>
          </a:xfrm>
          <a:prstGeom prst="rect">
            <a:avLst/>
          </a:prstGeom>
          <a:noFill/>
        </p:spPr>
        <p:txBody>
          <a:bodyPr wrap="square" lIns="360000" tIns="360000" rIns="360000" bIns="360000" anchor="ctr"/>
          <a:lstStyle/>
          <a:p>
            <a:pPr algn="ctr"/>
            <a:r>
              <a:rPr sz="2800" i="1"/>
              <a:t>“Support volume closed the quarter at 13.6m, two points over the plan. Churn moved to 64.2x, on the strength of the industry median.”</a:t>
            </a:r>
          </a:p>
        </p:txBody>
      </p:sp>
      <p:sp>
        <p:nvSpPr>
          <p:cNvPr id="12" name="Attribution"/>
          <p:cNvSpPr/>
          <p:nvPr/>
        </p:nvSpPr>
        <p:spPr>
          <a:xfrm>
            <a:off x="1371600" y="4663440"/>
            <a:ext cx="9448800" cy="640080"/>
          </a:xfrm>
          <a:prstGeom prst="rect">
            <a:avLst/>
          </a:prstGeom>
          <a:noFill/>
        </p:spPr>
        <p:txBody>
          <a:bodyPr wrap="square" anchor="b"/>
          <a:lstStyle/>
          <a:p>
            <a:pPr algn="r"/>
            <a:r>
              <a:rPr sz="1400">
                <a:solidFill>
                  <a:schemeClr val="tx2"/>
                </a:solidFill>
              </a:rPr>
              <a:t>M. Lindqvist, Head of Product</a:t>
            </a:r>
          </a:p>
        </p:txBody>
      </p:sp>
      <p:sp>
        <p:nvSpPr>
          <p:cNvPr id="9" name="Slide Number 70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70}" type="slidenum">
              <a:rPr sz="1000"/>
              <a:t>70</a:t>
            </a:fld>
            <a:endParaRPr sz="10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Finance: by segment</a:t>
            </a:r>
          </a:p>
        </p:txBody>
      </p:sp>
      <p:sp>
        <p:nvSpPr>
          <p:cNvPr id="10" name="Bar 1"/>
          <p:cNvSpPr/>
          <p:nvPr/>
        </p:nvSpPr>
        <p:spPr>
          <a:xfrm>
            <a:off x="739140" y="2560320"/>
            <a:ext cx="845820" cy="2743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0" name="Value 1"/>
          <p:cNvSpPr/>
          <p:nvPr/>
        </p:nvSpPr>
        <p:spPr>
          <a:xfrm>
            <a:off x="739140" y="219456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8.3%</a:t>
            </a:r>
          </a:p>
        </p:txBody>
      </p:sp>
      <p:sp>
        <p:nvSpPr>
          <p:cNvPr id="30" name="Label 1"/>
          <p:cNvSpPr/>
          <p:nvPr/>
        </p:nvSpPr>
        <p:spPr>
          <a:xfrm>
            <a:off x="7391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25</a:t>
            </a:r>
          </a:p>
        </p:txBody>
      </p:sp>
      <p:sp>
        <p:nvSpPr>
          <p:cNvPr id="11" name="Bar 2"/>
          <p:cNvSpPr/>
          <p:nvPr/>
        </p:nvSpPr>
        <p:spPr>
          <a:xfrm>
            <a:off x="2148840" y="4114800"/>
            <a:ext cx="845820" cy="11887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1" name="Value 2"/>
          <p:cNvSpPr/>
          <p:nvPr/>
        </p:nvSpPr>
        <p:spPr>
          <a:xfrm>
            <a:off x="2148840" y="37490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80.7x</a:t>
            </a:r>
          </a:p>
        </p:txBody>
      </p:sp>
      <p:sp>
        <p:nvSpPr>
          <p:cNvPr id="31" name="Label 2"/>
          <p:cNvSpPr/>
          <p:nvPr/>
        </p:nvSpPr>
        <p:spPr>
          <a:xfrm>
            <a:off x="21488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25</a:t>
            </a:r>
          </a:p>
        </p:txBody>
      </p:sp>
      <p:sp>
        <p:nvSpPr>
          <p:cNvPr id="12" name="Bar 3"/>
          <p:cNvSpPr/>
          <p:nvPr/>
        </p:nvSpPr>
        <p:spPr>
          <a:xfrm>
            <a:off x="3558540" y="3749040"/>
            <a:ext cx="845820" cy="15544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2" name="Value 3"/>
          <p:cNvSpPr/>
          <p:nvPr/>
        </p:nvSpPr>
        <p:spPr>
          <a:xfrm>
            <a:off x="3558540" y="33832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75.2k</a:t>
            </a:r>
          </a:p>
        </p:txBody>
      </p:sp>
      <p:sp>
        <p:nvSpPr>
          <p:cNvPr id="32" name="Label 3"/>
          <p:cNvSpPr/>
          <p:nvPr/>
        </p:nvSpPr>
        <p:spPr>
          <a:xfrm>
            <a:off x="35585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25</a:t>
            </a:r>
          </a:p>
        </p:txBody>
      </p:sp>
      <p:sp>
        <p:nvSpPr>
          <p:cNvPr id="13" name="Bar 4"/>
          <p:cNvSpPr/>
          <p:nvPr/>
        </p:nvSpPr>
        <p:spPr>
          <a:xfrm>
            <a:off x="4968240" y="3383280"/>
            <a:ext cx="845820" cy="1920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3" name="Value 4"/>
          <p:cNvSpPr/>
          <p:nvPr/>
        </p:nvSpPr>
        <p:spPr>
          <a:xfrm>
            <a:off x="4968240" y="30175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16.6%</a:t>
            </a:r>
          </a:p>
        </p:txBody>
      </p:sp>
      <p:sp>
        <p:nvSpPr>
          <p:cNvPr id="33" name="Label 4"/>
          <p:cNvSpPr/>
          <p:nvPr/>
        </p:nvSpPr>
        <p:spPr>
          <a:xfrm>
            <a:off x="49682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25</a:t>
            </a:r>
          </a:p>
        </p:txBody>
      </p:sp>
      <p:sp>
        <p:nvSpPr>
          <p:cNvPr id="14" name="Bar 5"/>
          <p:cNvSpPr/>
          <p:nvPr/>
        </p:nvSpPr>
        <p:spPr>
          <a:xfrm>
            <a:off x="6377940" y="2468880"/>
            <a:ext cx="845820" cy="28346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4" name="Value 5"/>
          <p:cNvSpPr/>
          <p:nvPr/>
        </p:nvSpPr>
        <p:spPr>
          <a:xfrm>
            <a:off x="6377940" y="21031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13.5%</a:t>
            </a:r>
          </a:p>
        </p:txBody>
      </p:sp>
      <p:sp>
        <p:nvSpPr>
          <p:cNvPr id="34" name="Label 5"/>
          <p:cNvSpPr/>
          <p:nvPr/>
        </p:nvSpPr>
        <p:spPr>
          <a:xfrm>
            <a:off x="63779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26</a:t>
            </a:r>
          </a:p>
        </p:txBody>
      </p:sp>
      <p:sp>
        <p:nvSpPr>
          <p:cNvPr id="15" name="Bar 6"/>
          <p:cNvSpPr/>
          <p:nvPr/>
        </p:nvSpPr>
        <p:spPr>
          <a:xfrm>
            <a:off x="7787640" y="4297680"/>
            <a:ext cx="845820" cy="10058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5" name="Value 6"/>
          <p:cNvSpPr/>
          <p:nvPr/>
        </p:nvSpPr>
        <p:spPr>
          <a:xfrm>
            <a:off x="7787640" y="39319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50.9k</a:t>
            </a:r>
          </a:p>
        </p:txBody>
      </p:sp>
      <p:sp>
        <p:nvSpPr>
          <p:cNvPr id="35" name="Label 6"/>
          <p:cNvSpPr/>
          <p:nvPr/>
        </p:nvSpPr>
        <p:spPr>
          <a:xfrm>
            <a:off x="77876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26</a:t>
            </a:r>
          </a:p>
        </p:txBody>
      </p:sp>
      <p:sp>
        <p:nvSpPr>
          <p:cNvPr id="16" name="Bar 7"/>
          <p:cNvSpPr/>
          <p:nvPr/>
        </p:nvSpPr>
        <p:spPr>
          <a:xfrm>
            <a:off x="9197340" y="4114800"/>
            <a:ext cx="845820" cy="11887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6" name="Value 7"/>
          <p:cNvSpPr/>
          <p:nvPr/>
        </p:nvSpPr>
        <p:spPr>
          <a:xfrm>
            <a:off x="9197340" y="37490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52.6k</a:t>
            </a:r>
          </a:p>
        </p:txBody>
      </p:sp>
      <p:sp>
        <p:nvSpPr>
          <p:cNvPr id="36" name="Label 7"/>
          <p:cNvSpPr/>
          <p:nvPr/>
        </p:nvSpPr>
        <p:spPr>
          <a:xfrm>
            <a:off x="91973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26</a:t>
            </a:r>
          </a:p>
        </p:txBody>
      </p:sp>
      <p:sp>
        <p:nvSpPr>
          <p:cNvPr id="17" name="Bar 8"/>
          <p:cNvSpPr/>
          <p:nvPr/>
        </p:nvSpPr>
        <p:spPr>
          <a:xfrm>
            <a:off x="10607040" y="2834640"/>
            <a:ext cx="845820" cy="24688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7" name="Value 8"/>
          <p:cNvSpPr/>
          <p:nvPr/>
        </p:nvSpPr>
        <p:spPr>
          <a:xfrm>
            <a:off x="10607040" y="24688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6.0m</a:t>
            </a:r>
          </a:p>
        </p:txBody>
      </p:sp>
      <p:sp>
        <p:nvSpPr>
          <p:cNvPr id="37" name="Label 8"/>
          <p:cNvSpPr/>
          <p:nvPr/>
        </p:nvSpPr>
        <p:spPr>
          <a:xfrm>
            <a:off x="106070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26</a:t>
            </a:r>
          </a:p>
        </p:txBody>
      </p:sp>
      <p:cxnSp>
        <p:nvCxnSpPr>
          <p:cNvPr id="40" name="Baseline"/>
          <p:cNvCxnSpPr>
            <a:cxnSpLocks/>
          </p:cNvCxnSpPr>
          <p:nvPr/>
        </p:nvCxnSpPr>
        <p:spPr>
          <a:xfrm>
            <a:off x="457200" y="5303520"/>
            <a:ext cx="112776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</p:cxnSp>
      <p:sp>
        <p:nvSpPr>
          <p:cNvPr id="41" name="Axis title"/>
          <p:cNvSpPr/>
          <p:nvPr/>
        </p:nvSpPr>
        <p:spPr>
          <a:xfrm>
            <a:off x="457200" y="5715000"/>
            <a:ext cx="1127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i="1"/>
              <a:t>Support volume slipped to 80.7x, by quarter</a:t>
            </a:r>
          </a:p>
        </p:txBody>
      </p:sp>
      <p:sp>
        <p:nvSpPr>
          <p:cNvPr id="9" name="Slide Number 71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71}" type="slidenum">
              <a:rPr sz="1000"/>
              <a:t>71</a:t>
            </a:fld>
            <a:endParaRPr sz="10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Finance: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Gross margin moved to 55.3k, on the strength of the plan.</a:t>
            </a:r>
          </a:p>
          <a:p>
            <a:r>
              <a:rPr sz="2000"/>
              <a:t>Uptime closed the quarter at 19.1pts, with the forecast still to land.</a:t>
            </a:r>
          </a:p>
          <a:p>
            <a:r>
              <a:rPr sz="2000"/>
              <a:t>Support volume settled at 71.9x, with the forecast still to land.</a:t>
            </a:r>
          </a:p>
          <a:p>
            <a:r>
              <a:rPr sz="2000"/>
              <a:t>Uptime reached 50.6x, in line with the industry median.</a:t>
            </a:r>
          </a:p>
          <a:p>
            <a:pPr lvl="1"/>
            <a:r>
              <a:rPr sz="1800"/>
              <a:t>Deal size improved to 10.5m</a:t>
            </a:r>
          </a:p>
          <a:p>
            <a:pPr lvl="1"/>
            <a:r>
              <a:rPr sz="1800"/>
              <a:t>Unit cost held at 88.9pts</a:t>
            </a:r>
          </a:p>
        </p:txBody>
      </p:sp>
      <p:sp>
        <p:nvSpPr>
          <p:cNvPr id="9" name="Slide Number 72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72}" type="slidenum">
              <a:rPr sz="1000"/>
              <a:t>72</a:t>
            </a:fld>
            <a:endParaRPr sz="10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Finance: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Backlog held at 76.1%, in line with the plan.</a:t>
            </a:r>
          </a:p>
          <a:p>
            <a:r>
              <a:rPr sz="2000"/>
              <a:t>Cloud spend moved to 26.0pts, ahead of last year.</a:t>
            </a:r>
          </a:p>
          <a:p>
            <a:r>
              <a:rPr sz="2000"/>
              <a:t>Pipeline coverage improved to 91.3pts, on the strength of the plan.</a:t>
            </a:r>
          </a:p>
          <a:p>
            <a:r>
              <a:rPr sz="2000"/>
              <a:t>Gross margin grew 20.5d, in line with the forecast.</a:t>
            </a:r>
          </a:p>
          <a:p>
            <a:r>
              <a:rPr sz="2000"/>
              <a:t>Backlog grew 46.0m, with the prior quarter still to land.</a:t>
            </a:r>
          </a:p>
          <a:p>
            <a:pPr lvl="1"/>
            <a:r>
              <a:rPr sz="1800"/>
              <a:t>Renewal rate improved to 57.9m</a:t>
            </a:r>
          </a:p>
          <a:p>
            <a:pPr lvl="1"/>
            <a:r>
              <a:rPr sz="1800"/>
              <a:t>Cloud spend grew 65.8k</a:t>
            </a:r>
          </a:p>
          <a:p>
            <a:pPr lvl="1"/>
            <a:r>
              <a:rPr sz="1800"/>
              <a:t>Headcount closed the quarter at 86.5d</a:t>
            </a:r>
          </a:p>
          <a:p>
            <a:r>
              <a:rPr sz="2000"/>
              <a:t>Revenue slipped to 5.9%, two points over the plan.</a:t>
            </a:r>
          </a:p>
        </p:txBody>
      </p:sp>
      <p:sp>
        <p:nvSpPr>
          <p:cNvPr id="9" name="Slide Number 73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73}" type="slidenum">
              <a:rPr sz="1000"/>
              <a:t>73</a:t>
            </a:fld>
            <a:endParaRPr sz="10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4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Finance: risks</a:t>
            </a:r>
          </a:p>
        </p:txBody>
      </p:sp>
      <p:sp>
        <p:nvSpPr>
          <p:cNvPr id="10" name="Left column"/>
          <p:cNvSpPr/>
          <p:nvPr/>
        </p:nvSpPr>
        <p:spPr>
          <a:xfrm>
            <a:off x="4572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/>
              <a:t>Onboarding time closed the quarter at 77.8%</a:t>
            </a:r>
            <a:r>
              <a:rPr sz="1600"/>
              <a:t> — </a:t>
            </a:r>
            <a:r>
              <a:rPr sz="1600"/>
              <a:t>Unit cost held at 7.4%, ahead of the board case.</a:t>
            </a:r>
          </a:p>
          <a:p>
            <a:r>
              <a:rPr sz="1400" i="1"/>
              <a:t>Read across: </a:t>
            </a:r>
            <a:r>
              <a:rPr sz="1400"/>
              <a:t>Gross margin moved to 40.2%, in line with the board case.</a:t>
            </a:r>
            <a:r>
              <a:rPr sz="1400" u="sng"/>
              <a:t> Footnote</a:t>
            </a:r>
            <a:r>
              <a:rPr sz="1400" baseline="30000"/>
              <a:t>1</a:t>
            </a:r>
          </a:p>
          <a:p>
            <a:r>
              <a:rPr sz="1200" cap="all" spc="100">
                <a:solidFill>
                  <a:schemeClr val="accent2"/>
                </a:solidFill>
              </a:rPr>
              <a:t>Risk</a:t>
            </a:r>
            <a:br>
              <a:rPr sz="1200"/>
            </a:br>
            <a:r>
              <a:rPr sz="1400"/>
              <a:t>Gross margin held at 5.9k, ahead of last year.</a:t>
            </a:r>
          </a:p>
        </p:txBody>
      </p:sp>
      <p:sp>
        <p:nvSpPr>
          <p:cNvPr id="11" name="Right column"/>
          <p:cNvSpPr/>
          <p:nvPr/>
        </p:nvSpPr>
        <p:spPr>
          <a:xfrm>
            <a:off x="62484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pPr algn="just"/>
            <a:r>
              <a:rPr sz="1400"/>
              <a:t>Deal size improved to 73.8pts, before the effect of the target. Unit cost slipped to 96.3m, two points over the target.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Onboarding time closed the quarter at 76.6d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Release cadence moved to 1.2x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Uptime reached 34.0d</a:t>
            </a:r>
          </a:p>
        </p:txBody>
      </p:sp>
      <p:sp>
        <p:nvSpPr>
          <p:cNvPr id="9" name="Slide Number 74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74}" type="slidenum">
              <a:rPr sz="1000"/>
              <a:t>74</a:t>
            </a:fld>
            <a:endParaRPr sz="10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accent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pter number"/>
          <p:cNvSpPr/>
          <p:nvPr/>
        </p:nvSpPr>
        <p:spPr>
          <a:xfrm>
            <a:off x="914400" y="1828800"/>
            <a:ext cx="3657600" cy="1828800"/>
          </a:xfrm>
          <a:prstGeom prst="rect">
            <a:avLst/>
          </a:prstGeom>
          <a:noFill/>
        </p:spPr>
        <p:txBody>
          <a:bodyPr wrap="square" anchor="b"/>
          <a:lstStyle/>
          <a:p>
            <a:r>
              <a:rPr sz="6000" b="1">
                <a:solidFill>
                  <a:schemeClr val="lt1"/>
                </a:solidFill>
              </a:rPr>
              <a:t>07</a:t>
            </a:r>
          </a:p>
        </p:txBody>
      </p:sp>
      <p:sp>
        <p:nvSpPr>
          <p:cNvPr id="11" name="Chapter title"/>
          <p:cNvSpPr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600">
                <a:solidFill>
                  <a:schemeClr val="lt1"/>
                </a:solidFill>
              </a:rPr>
              <a:t>People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Rule"/>
          <p:cNvCxnSpPr>
            <a:cxnSpLocks/>
          </p:cNvCxnSpPr>
          <p:nvPr/>
        </p:nvCxnSpPr>
        <p:spPr>
          <a:xfrm>
            <a:off x="1828800" y="1600200"/>
            <a:ext cx="8534400" cy="0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</p:cxnSp>
      <p:sp>
        <p:nvSpPr>
          <p:cNvPr id="11" name="Quotation"/>
          <p:cNvSpPr/>
          <p:nvPr/>
        </p:nvSpPr>
        <p:spPr>
          <a:xfrm>
            <a:off x="1371600" y="1828800"/>
            <a:ext cx="9448800" cy="2743200"/>
          </a:xfrm>
          <a:prstGeom prst="rect">
            <a:avLst/>
          </a:prstGeom>
          <a:noFill/>
        </p:spPr>
        <p:txBody>
          <a:bodyPr wrap="square" lIns="360000" tIns="360000" rIns="360000" bIns="360000" anchor="ctr"/>
          <a:lstStyle/>
          <a:p>
            <a:pPr algn="ctr"/>
            <a:r>
              <a:rPr sz="2800" i="1"/>
              <a:t>“Headcount closed the quarter at 40.6%, on the strength of the plan. Cycle time settled at 27.6pts, a point under the target.”</a:t>
            </a:r>
          </a:p>
        </p:txBody>
      </p:sp>
      <p:sp>
        <p:nvSpPr>
          <p:cNvPr id="12" name="Attribution"/>
          <p:cNvSpPr/>
          <p:nvPr/>
        </p:nvSpPr>
        <p:spPr>
          <a:xfrm>
            <a:off x="1371600" y="4663440"/>
            <a:ext cx="9448800" cy="640080"/>
          </a:xfrm>
          <a:prstGeom prst="rect">
            <a:avLst/>
          </a:prstGeom>
          <a:noFill/>
        </p:spPr>
        <p:txBody>
          <a:bodyPr wrap="square" anchor="b"/>
          <a:lstStyle/>
          <a:p>
            <a:pPr algn="r"/>
            <a:r>
              <a:rPr sz="1400">
                <a:solidFill>
                  <a:schemeClr val="tx2"/>
                </a:solidFill>
              </a:rPr>
              <a:t>R. Tanaka, Finance</a:t>
            </a:r>
          </a:p>
        </p:txBody>
      </p:sp>
      <p:sp>
        <p:nvSpPr>
          <p:cNvPr id="9" name="Slide Number 76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76}" type="slidenum">
              <a:rPr sz="1000"/>
              <a:t>76</a:t>
            </a:fld>
            <a:endParaRPr sz="10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7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People: quarter on quarter</a:t>
            </a:r>
          </a:p>
        </p:txBody>
      </p:sp>
      <p:sp>
        <p:nvSpPr>
          <p:cNvPr id="10" name="Bar 1"/>
          <p:cNvSpPr/>
          <p:nvPr/>
        </p:nvSpPr>
        <p:spPr>
          <a:xfrm>
            <a:off x="739140" y="2377440"/>
            <a:ext cx="845820" cy="29260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0" name="Value 1"/>
          <p:cNvSpPr/>
          <p:nvPr/>
        </p:nvSpPr>
        <p:spPr>
          <a:xfrm>
            <a:off x="739140" y="20116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10.6m</a:t>
            </a:r>
          </a:p>
        </p:txBody>
      </p:sp>
      <p:sp>
        <p:nvSpPr>
          <p:cNvPr id="30" name="Label 1"/>
          <p:cNvSpPr/>
          <p:nvPr/>
        </p:nvSpPr>
        <p:spPr>
          <a:xfrm>
            <a:off x="7391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25</a:t>
            </a:r>
          </a:p>
        </p:txBody>
      </p:sp>
      <p:sp>
        <p:nvSpPr>
          <p:cNvPr id="11" name="Bar 2"/>
          <p:cNvSpPr/>
          <p:nvPr/>
        </p:nvSpPr>
        <p:spPr>
          <a:xfrm>
            <a:off x="2148840" y="3657600"/>
            <a:ext cx="845820" cy="16459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1" name="Value 2"/>
          <p:cNvSpPr/>
          <p:nvPr/>
        </p:nvSpPr>
        <p:spPr>
          <a:xfrm>
            <a:off x="2148840" y="32918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74.0x</a:t>
            </a:r>
          </a:p>
        </p:txBody>
      </p:sp>
      <p:sp>
        <p:nvSpPr>
          <p:cNvPr id="31" name="Label 2"/>
          <p:cNvSpPr/>
          <p:nvPr/>
        </p:nvSpPr>
        <p:spPr>
          <a:xfrm>
            <a:off x="21488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25</a:t>
            </a:r>
          </a:p>
        </p:txBody>
      </p:sp>
      <p:sp>
        <p:nvSpPr>
          <p:cNvPr id="12" name="Bar 3"/>
          <p:cNvSpPr/>
          <p:nvPr/>
        </p:nvSpPr>
        <p:spPr>
          <a:xfrm>
            <a:off x="3558540" y="2926080"/>
            <a:ext cx="845820" cy="23774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2" name="Value 3"/>
          <p:cNvSpPr/>
          <p:nvPr/>
        </p:nvSpPr>
        <p:spPr>
          <a:xfrm>
            <a:off x="3558540" y="25603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50.6%</a:t>
            </a:r>
          </a:p>
        </p:txBody>
      </p:sp>
      <p:sp>
        <p:nvSpPr>
          <p:cNvPr id="32" name="Label 3"/>
          <p:cNvSpPr/>
          <p:nvPr/>
        </p:nvSpPr>
        <p:spPr>
          <a:xfrm>
            <a:off x="35585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25</a:t>
            </a:r>
          </a:p>
        </p:txBody>
      </p:sp>
      <p:sp>
        <p:nvSpPr>
          <p:cNvPr id="13" name="Bar 4"/>
          <p:cNvSpPr/>
          <p:nvPr/>
        </p:nvSpPr>
        <p:spPr>
          <a:xfrm>
            <a:off x="4968240" y="2743200"/>
            <a:ext cx="845820" cy="25603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3" name="Value 4"/>
          <p:cNvSpPr/>
          <p:nvPr/>
        </p:nvSpPr>
        <p:spPr>
          <a:xfrm>
            <a:off x="4968240" y="23774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54.2m</a:t>
            </a:r>
          </a:p>
        </p:txBody>
      </p:sp>
      <p:sp>
        <p:nvSpPr>
          <p:cNvPr id="33" name="Label 4"/>
          <p:cNvSpPr/>
          <p:nvPr/>
        </p:nvSpPr>
        <p:spPr>
          <a:xfrm>
            <a:off x="49682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25</a:t>
            </a:r>
          </a:p>
        </p:txBody>
      </p:sp>
      <p:sp>
        <p:nvSpPr>
          <p:cNvPr id="14" name="Bar 5"/>
          <p:cNvSpPr/>
          <p:nvPr/>
        </p:nvSpPr>
        <p:spPr>
          <a:xfrm>
            <a:off x="6377940" y="3657600"/>
            <a:ext cx="845820" cy="16459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4" name="Value 5"/>
          <p:cNvSpPr/>
          <p:nvPr/>
        </p:nvSpPr>
        <p:spPr>
          <a:xfrm>
            <a:off x="6377940" y="32918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17.4x</a:t>
            </a:r>
          </a:p>
        </p:txBody>
      </p:sp>
      <p:sp>
        <p:nvSpPr>
          <p:cNvPr id="34" name="Label 5"/>
          <p:cNvSpPr/>
          <p:nvPr/>
        </p:nvSpPr>
        <p:spPr>
          <a:xfrm>
            <a:off x="63779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26</a:t>
            </a:r>
          </a:p>
        </p:txBody>
      </p:sp>
      <p:sp>
        <p:nvSpPr>
          <p:cNvPr id="15" name="Bar 6"/>
          <p:cNvSpPr/>
          <p:nvPr/>
        </p:nvSpPr>
        <p:spPr>
          <a:xfrm>
            <a:off x="7787640" y="2834640"/>
            <a:ext cx="845820" cy="24688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5" name="Value 6"/>
          <p:cNvSpPr/>
          <p:nvPr/>
        </p:nvSpPr>
        <p:spPr>
          <a:xfrm>
            <a:off x="7787640" y="24688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58.3%</a:t>
            </a:r>
          </a:p>
        </p:txBody>
      </p:sp>
      <p:sp>
        <p:nvSpPr>
          <p:cNvPr id="35" name="Label 6"/>
          <p:cNvSpPr/>
          <p:nvPr/>
        </p:nvSpPr>
        <p:spPr>
          <a:xfrm>
            <a:off x="77876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26</a:t>
            </a:r>
          </a:p>
        </p:txBody>
      </p:sp>
      <p:sp>
        <p:nvSpPr>
          <p:cNvPr id="16" name="Bar 7"/>
          <p:cNvSpPr/>
          <p:nvPr/>
        </p:nvSpPr>
        <p:spPr>
          <a:xfrm>
            <a:off x="9197340" y="4663440"/>
            <a:ext cx="845820" cy="6400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6" name="Value 7"/>
          <p:cNvSpPr/>
          <p:nvPr/>
        </p:nvSpPr>
        <p:spPr>
          <a:xfrm>
            <a:off x="9197340" y="42976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70.7pts</a:t>
            </a:r>
          </a:p>
        </p:txBody>
      </p:sp>
      <p:sp>
        <p:nvSpPr>
          <p:cNvPr id="36" name="Label 7"/>
          <p:cNvSpPr/>
          <p:nvPr/>
        </p:nvSpPr>
        <p:spPr>
          <a:xfrm>
            <a:off x="91973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26</a:t>
            </a:r>
          </a:p>
        </p:txBody>
      </p:sp>
      <p:sp>
        <p:nvSpPr>
          <p:cNvPr id="17" name="Bar 8"/>
          <p:cNvSpPr/>
          <p:nvPr/>
        </p:nvSpPr>
        <p:spPr>
          <a:xfrm>
            <a:off x="10607040" y="4663440"/>
            <a:ext cx="845820" cy="6400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7" name="Value 8"/>
          <p:cNvSpPr/>
          <p:nvPr/>
        </p:nvSpPr>
        <p:spPr>
          <a:xfrm>
            <a:off x="10607040" y="42976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63.9d</a:t>
            </a:r>
          </a:p>
        </p:txBody>
      </p:sp>
      <p:sp>
        <p:nvSpPr>
          <p:cNvPr id="37" name="Label 8"/>
          <p:cNvSpPr/>
          <p:nvPr/>
        </p:nvSpPr>
        <p:spPr>
          <a:xfrm>
            <a:off x="106070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26</a:t>
            </a:r>
          </a:p>
        </p:txBody>
      </p:sp>
      <p:cxnSp>
        <p:nvCxnSpPr>
          <p:cNvPr id="40" name="Baseline"/>
          <p:cNvCxnSpPr>
            <a:cxnSpLocks/>
          </p:cNvCxnSpPr>
          <p:nvPr/>
        </p:nvCxnSpPr>
        <p:spPr>
          <a:xfrm>
            <a:off x="457200" y="5303520"/>
            <a:ext cx="112776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</p:cxnSp>
      <p:sp>
        <p:nvSpPr>
          <p:cNvPr id="41" name="Axis title"/>
          <p:cNvSpPr/>
          <p:nvPr/>
        </p:nvSpPr>
        <p:spPr>
          <a:xfrm>
            <a:off x="457200" y="5715000"/>
            <a:ext cx="1127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i="1"/>
              <a:t>Headcount reached 96.1%, by quarter</a:t>
            </a:r>
          </a:p>
        </p:txBody>
      </p:sp>
      <p:sp>
        <p:nvSpPr>
          <p:cNvPr id="9" name="Slide Number 77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77}" type="slidenum">
              <a:rPr sz="1000"/>
              <a:t>77</a:t>
            </a:fld>
            <a:endParaRPr sz="10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8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People: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Pipeline coverage reached 82.3k, before the effect of the plan.</a:t>
            </a:r>
          </a:p>
          <a:p>
            <a:r>
              <a:rPr sz="2000"/>
              <a:t>Unit cost grew 60.4k, on the strength of the prior quarter.</a:t>
            </a:r>
          </a:p>
          <a:p>
            <a:r>
              <a:rPr sz="2000"/>
              <a:t>Release cadence moved to 90.0%, a point under the revised model.</a:t>
            </a:r>
          </a:p>
          <a:p>
            <a:r>
              <a:rPr sz="2000"/>
              <a:t>Backlog grew 65.9%, on the strength of last year.</a:t>
            </a:r>
          </a:p>
          <a:p>
            <a:pPr lvl="1"/>
            <a:r>
              <a:rPr sz="1800"/>
              <a:t>Net retention moved to 55.9m</a:t>
            </a:r>
          </a:p>
        </p:txBody>
      </p:sp>
      <p:sp>
        <p:nvSpPr>
          <p:cNvPr id="9" name="Slide Number 78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78}" type="slidenum">
              <a:rPr sz="1000"/>
              <a:t>78</a:t>
            </a:fld>
            <a:endParaRPr sz="10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9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People: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000"/>
              <a:t>Gross margin held at 5.1%, against the plan.</a:t>
            </a:r>
          </a:p>
          <a:p>
            <a:pPr lvl="1"/>
            <a:r>
              <a:rPr sz="1800"/>
              <a:t>Cloud spend closed the quarter at 58.3d</a:t>
            </a:r>
          </a:p>
          <a:p>
            <a:pPr lvl="1"/>
            <a:r>
              <a:rPr sz="1800"/>
              <a:t>Deal size improved to 69.6%</a:t>
            </a:r>
          </a:p>
          <a:p>
            <a:pPr lvl="1"/>
            <a:r>
              <a:rPr sz="1800"/>
              <a:t>Onboarding time closed the quarter at 11.4m</a:t>
            </a:r>
          </a:p>
          <a:p>
            <a:r>
              <a:rPr sz="2000"/>
              <a:t>Renewal rate moved to 14.8x, before the effect of the industry median.</a:t>
            </a:r>
          </a:p>
          <a:p>
            <a:pPr lvl="1"/>
            <a:r>
              <a:rPr sz="1800"/>
              <a:t>Deal size grew 6.4k</a:t>
            </a:r>
          </a:p>
          <a:p>
            <a:r>
              <a:rPr sz="2000"/>
              <a:t>Cloud spend grew 85.3x, on the strength of the prior quarter.</a:t>
            </a:r>
          </a:p>
          <a:p>
            <a:pPr lvl="1"/>
            <a:r>
              <a:rPr sz="1800"/>
              <a:t>Support volume grew 59.5m</a:t>
            </a:r>
          </a:p>
          <a:p>
            <a:pPr lvl="1"/>
            <a:r>
              <a:rPr sz="1800"/>
              <a:t>Gross margin reached 26.4x</a:t>
            </a:r>
          </a:p>
          <a:p>
            <a:pPr lvl="1"/>
            <a:r>
              <a:rPr sz="1800"/>
              <a:t>Unit cost moved to 82.0pts</a:t>
            </a:r>
          </a:p>
          <a:p>
            <a:r>
              <a:rPr sz="2000"/>
              <a:t>Renewal rate moved to 5.8pts, with the target still to land.</a:t>
            </a:r>
          </a:p>
          <a:p>
            <a:r>
              <a:rPr sz="2000"/>
              <a:t>Revenue slipped to 42.1k, two points over the plan.</a:t>
            </a:r>
          </a:p>
          <a:p>
            <a:pPr lvl="1"/>
            <a:r>
              <a:rPr sz="1800"/>
              <a:t>Churn grew 64.9x</a:t>
            </a:r>
          </a:p>
          <a:p>
            <a:pPr lvl="1"/>
            <a:r>
              <a:rPr sz="1800"/>
              <a:t>Deal size closed the quarter at 71.3d</a:t>
            </a:r>
          </a:p>
          <a:p>
            <a:pPr lvl="1"/>
            <a:r>
              <a:rPr sz="1800"/>
              <a:t>Churn moved to 31.5pts</a:t>
            </a:r>
          </a:p>
          <a:p>
            <a:r>
              <a:rPr sz="2000"/>
              <a:t>Revenue moved to 2.5%, two points over the forecast.</a:t>
            </a:r>
          </a:p>
        </p:txBody>
      </p:sp>
      <p:sp>
        <p:nvSpPr>
          <p:cNvPr id="9" name="Slide Number 79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79}" type="slidenum">
              <a:rPr sz="1000"/>
              <a:t>79</a:t>
            </a:fld>
            <a:endParaRPr sz="10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0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People: quarter on quarter</a:t>
            </a:r>
          </a:p>
        </p:txBody>
      </p:sp>
      <p:sp>
        <p:nvSpPr>
          <p:cNvPr id="10" name="Left column"/>
          <p:cNvSpPr/>
          <p:nvPr/>
        </p:nvSpPr>
        <p:spPr>
          <a:xfrm>
            <a:off x="4572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/>
              <a:t>Support volume improved to 93.2%</a:t>
            </a:r>
            <a:r>
              <a:rPr sz="1600"/>
              <a:t> — </a:t>
            </a:r>
            <a:r>
              <a:rPr sz="1600"/>
              <a:t>Onboarding time slipped to 27.8pts, ahead of the industry median.</a:t>
            </a:r>
          </a:p>
          <a:p>
            <a:r>
              <a:rPr sz="1400" i="1"/>
              <a:t>Read across: </a:t>
            </a:r>
            <a:r>
              <a:rPr sz="1400"/>
              <a:t>Uptime improved to 86.7m, a point under last year.</a:t>
            </a:r>
            <a:r>
              <a:rPr sz="1400" u="sng"/>
              <a:t> Footnote</a:t>
            </a:r>
            <a:r>
              <a:rPr sz="1400" baseline="30000"/>
              <a:t>1</a:t>
            </a:r>
          </a:p>
          <a:p>
            <a:r>
              <a:rPr sz="1200" cap="all" spc="100">
                <a:solidFill>
                  <a:schemeClr val="accent2"/>
                </a:solidFill>
              </a:rPr>
              <a:t>Note</a:t>
            </a:r>
            <a:br>
              <a:rPr sz="1200"/>
            </a:br>
            <a:r>
              <a:rPr sz="1400"/>
              <a:t>Headcount moved to 57.8d, in line with the revised model.</a:t>
            </a:r>
          </a:p>
        </p:txBody>
      </p:sp>
      <p:sp>
        <p:nvSpPr>
          <p:cNvPr id="11" name="Right column"/>
          <p:cNvSpPr/>
          <p:nvPr/>
        </p:nvSpPr>
        <p:spPr>
          <a:xfrm>
            <a:off x="62484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pPr algn="just"/>
            <a:r>
              <a:rPr sz="1400"/>
              <a:t>Pipeline coverage held at 93.6%, a point under the industry median. Release cadence slipped to 5.8d, against the revised model.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Release cadence slipped to 87.0x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Headcount reached 5.7k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Release cadence reached 1.9m</a:t>
            </a:r>
          </a:p>
        </p:txBody>
      </p:sp>
      <p:sp>
        <p:nvSpPr>
          <p:cNvPr id="9" name="Slide Number 80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80}" type="slidenum">
              <a:rPr sz="1000"/>
              <a:t>80</a:t>
            </a:fld>
            <a:endParaRPr sz="10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People: by region</a:t>
            </a:r>
          </a:p>
        </p:txBody>
      </p:sp>
      <p:pic>
        <p:nvPicPr>
          <p:cNvPr id="10" name="Site photograph" descr="Hills under a morning 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" name="Caption"/>
          <p:cNvSpPr/>
          <p:nvPr/>
        </p:nvSpPr>
        <p:spPr>
          <a:xfrm>
            <a:off x="457200" y="53949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i="1"/>
              <a:t>Figure 11. Support volume grew 89.2d.</a:t>
            </a:r>
          </a:p>
        </p:txBody>
      </p:sp>
      <p:sp>
        <p:nvSpPr>
          <p:cNvPr id="12" name="Aside"/>
          <p:cNvSpPr/>
          <p:nvPr/>
        </p:nvSpPr>
        <p:spPr>
          <a:xfrm>
            <a:off x="8077200" y="1188720"/>
            <a:ext cx="36576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/>
              <a:t>Churn grew 11.3%, against the target.</a:t>
            </a:r>
          </a:p>
          <a:p>
            <a:r>
              <a:rPr sz="1600"/>
              <a:t>Renewal rate settled at 26.1x, before the effect of the board case.</a:t>
            </a:r>
          </a:p>
        </p:txBody>
      </p:sp>
      <p:sp>
        <p:nvSpPr>
          <p:cNvPr id="9" name="Slide Number 81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81}" type="slidenum">
              <a:rPr sz="1000"/>
              <a:t>81</a:t>
            </a:fld>
            <a:endParaRPr sz="10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People: the numbers</a:t>
            </a:r>
          </a:p>
        </p:txBody>
      </p:sp>
      <p:sp>
        <p:nvSpPr>
          <p:cNvPr id="10" name="heart 1"/>
          <p:cNvSpPr/>
          <p:nvPr/>
        </p:nvSpPr>
        <p:spPr>
          <a:xfrm>
            <a:off x="548640" y="1280160"/>
            <a:ext cx="2636520" cy="1544320"/>
          </a:xfrm>
          <a:prstGeom prst="heart">
            <a:avLst/>
          </a:prstGeom>
          <a:gradFill rotWithShape="1">
            <a:gsLst>
              <a:gs pos="0">
                <a:schemeClr val="lt1"/>
              </a:gs>
              <a:gs pos="100000">
                <a:schemeClr val="accent1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82.0k YoY</a:t>
            </a:r>
          </a:p>
        </p:txBody>
      </p:sp>
      <p:sp>
        <p:nvSpPr>
          <p:cNvPr id="11" name="octagon 2"/>
          <p:cNvSpPr/>
          <p:nvPr/>
        </p:nvSpPr>
        <p:spPr>
          <a:xfrm>
            <a:off x="3368040" y="1280160"/>
            <a:ext cx="2636520" cy="1544320"/>
          </a:xfrm>
          <a:prstGeom prst="octagon">
            <a:avLst/>
          </a:prstGeom>
          <a:pattFill prst="dkUpDiag">
            <a:fgClr>
              <a:schemeClr val="accent2"/>
            </a:fgClr>
            <a:bgClr>
              <a:schemeClr val="lt1"/>
            </a:bgClr>
          </a:pattFill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73.6d YoY</a:t>
            </a:r>
          </a:p>
        </p:txBody>
      </p:sp>
      <p:sp>
        <p:nvSpPr>
          <p:cNvPr id="12" name="rect 3"/>
          <p:cNvSpPr/>
          <p:nvPr/>
        </p:nvSpPr>
        <p:spPr>
          <a:xfrm rot="0">
            <a:off x="6187440" y="1280160"/>
            <a:ext cx="2636520" cy="15443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22.9d YoY</a:t>
            </a:r>
          </a:p>
        </p:txBody>
      </p:sp>
      <p:sp>
        <p:nvSpPr>
          <p:cNvPr id="13" name="roundRect 4"/>
          <p:cNvSpPr/>
          <p:nvPr/>
        </p:nvSpPr>
        <p:spPr>
          <a:xfrm>
            <a:off x="9006840" y="1280160"/>
            <a:ext cx="2636520" cy="1544320"/>
          </a:xfrm>
          <a:prstGeom prst="roundRect">
            <a:avLst/>
          </a:prstGeom>
          <a:gradFill rotWithShape="1">
            <a:gsLst>
              <a:gs pos="0">
                <a:schemeClr val="accent4">
                  <a:tint val="40000"/>
                </a:schemeClr>
              </a:gs>
              <a:gs pos="100000">
                <a:schemeClr val="accent4"/>
              </a:gs>
            </a:gsLst>
            <a:lin ang="5400000" scaled="0"/>
          </a:gradFill>
          <a:ln w="28575">
            <a:solidFill>
              <a:schemeClr val="accent4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80.9% QoQ</a:t>
            </a:r>
          </a:p>
        </p:txBody>
      </p:sp>
      <p:sp>
        <p:nvSpPr>
          <p:cNvPr id="14" name="ellipse 5"/>
          <p:cNvSpPr/>
          <p:nvPr/>
        </p:nvSpPr>
        <p:spPr>
          <a:xfrm>
            <a:off x="548640" y="3007360"/>
            <a:ext cx="2636520" cy="1544320"/>
          </a:xfrm>
          <a:prstGeom prst="ellipse">
            <a:avLst/>
          </a:prstGeom>
          <a:gradFill rotWithShape="1">
            <a:gsLst>
              <a:gs pos="0">
                <a:schemeClr val="lt1"/>
              </a:gs>
              <a:gs pos="100000">
                <a:schemeClr val="accent5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87.9pts actual</a:t>
            </a:r>
          </a:p>
        </p:txBody>
      </p:sp>
      <p:sp>
        <p:nvSpPr>
          <p:cNvPr id="15" name="triangle 6"/>
          <p:cNvSpPr/>
          <p:nvPr/>
        </p:nvSpPr>
        <p:spPr>
          <a:xfrm rot="2700000">
            <a:off x="3368040" y="3007360"/>
            <a:ext cx="2636520" cy="1544320"/>
          </a:xfrm>
          <a:prstGeom prst="triangle">
            <a:avLst/>
          </a:prstGeom>
          <a:pattFill prst="smGrid">
            <a:fgClr>
              <a:schemeClr val="accent6"/>
            </a:fgClr>
            <a:bgClr>
              <a:schemeClr val="lt1"/>
            </a:bgClr>
          </a:pattFill>
          <a:effectLst>
            <a:glow rad="63500">
              <a:schemeClr val="accent1">
                <a:alpha val="40000"/>
              </a:schemeClr>
            </a:glo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4.3k actual</a:t>
            </a:r>
          </a:p>
        </p:txBody>
      </p:sp>
      <p:sp>
        <p:nvSpPr>
          <p:cNvPr id="16" name="diamond 7"/>
          <p:cNvSpPr/>
          <p:nvPr/>
        </p:nvSpPr>
        <p:spPr>
          <a:xfrm>
            <a:off x="6187440" y="3007360"/>
            <a:ext cx="2636520" cy="1544320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4.0x target</a:t>
            </a:r>
          </a:p>
        </p:txBody>
      </p:sp>
      <p:sp>
        <p:nvSpPr>
          <p:cNvPr id="17" name="hexagon 8"/>
          <p:cNvSpPr/>
          <p:nvPr/>
        </p:nvSpPr>
        <p:spPr>
          <a:xfrm flipH="1">
            <a:off x="9006840" y="3007360"/>
            <a:ext cx="2636520" cy="1544320"/>
          </a:xfrm>
          <a:prstGeom prst="hexagon">
            <a:avLst/>
          </a:prstGeom>
          <a:gradFill rotWithShape="1">
            <a:gsLst>
              <a:gs pos="0">
                <a:schemeClr val="accent2">
                  <a:tint val="40000"/>
                </a:schemeClr>
              </a:gs>
              <a:gs pos="100000">
                <a:schemeClr val="accent2"/>
              </a:gs>
            </a:gsLst>
            <a:lin ang="5400000" scaled="0"/>
          </a:gradFill>
          <a:ln w="28575">
            <a:solidFill>
              <a:schemeClr val="accent2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42.4x target</a:t>
            </a:r>
          </a:p>
        </p:txBody>
      </p:sp>
      <p:sp>
        <p:nvSpPr>
          <p:cNvPr id="18" name="star5 9"/>
          <p:cNvSpPr/>
          <p:nvPr/>
        </p:nvSpPr>
        <p:spPr>
          <a:xfrm rot="1800000">
            <a:off x="548640" y="4734560"/>
            <a:ext cx="2636520" cy="1544320"/>
          </a:xfrm>
          <a:prstGeom prst="star5">
            <a:avLst/>
          </a:prstGeom>
          <a:gradFill rotWithShape="1">
            <a:gsLst>
              <a:gs pos="0">
                <a:schemeClr val="lt1"/>
              </a:gs>
              <a:gs pos="100000">
                <a:schemeClr val="accent3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37.3k QoQ</a:t>
            </a:r>
          </a:p>
        </p:txBody>
      </p:sp>
      <p:sp>
        <p:nvSpPr>
          <p:cNvPr id="19" name="rightArrow 10"/>
          <p:cNvSpPr/>
          <p:nvPr/>
        </p:nvSpPr>
        <p:spPr>
          <a:xfrm>
            <a:off x="3368040" y="4734560"/>
            <a:ext cx="2636520" cy="1544320"/>
          </a:xfrm>
          <a:prstGeom prst="rightArrow">
            <a:avLst/>
          </a:prstGeom>
          <a:pattFill prst="pct25">
            <a:fgClr>
              <a:schemeClr val="accent4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67.5k QoQ</a:t>
            </a:r>
          </a:p>
        </p:txBody>
      </p:sp>
      <p:sp>
        <p:nvSpPr>
          <p:cNvPr id="20" name="chevron 11"/>
          <p:cNvSpPr/>
          <p:nvPr/>
        </p:nvSpPr>
        <p:spPr>
          <a:xfrm>
            <a:off x="6187440" y="4734560"/>
            <a:ext cx="2636520" cy="1544320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65.7d target</a:t>
            </a:r>
          </a:p>
        </p:txBody>
      </p:sp>
      <p:grpSp>
        <p:nvGrpSpPr>
          <p:cNvPr id="30" name="Grouped trio"/>
          <p:cNvGrpSpPr/>
          <p:nvPr/>
        </p:nvGrpSpPr>
        <p:grpSpPr>
          <a:xfrm rot="1200000">
            <a:off x="9006840" y="4734560"/>
            <a:ext cx="2636520" cy="1544320"/>
            <a:chOff x="9006840" y="4734560"/>
            <a:chExt cx="2636520" cy="1544320"/>
          </a:xfrm>
        </p:grpSpPr>
        <p:sp>
          <p:nvSpPr>
            <p:cNvPr id="31" name="Leaf 1"/>
            <p:cNvSpPr/>
            <p:nvPr/>
          </p:nvSpPr>
          <p:spPr>
            <a:xfrm>
              <a:off x="9006840" y="4734560"/>
              <a:ext cx="833120" cy="1158240"/>
            </a:xfrm>
            <a:prstGeom prst="ellipse">
              <a:avLst/>
            </a:prstGeom>
            <a:solidFill>
              <a:schemeClr val="accent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Leaf 2"/>
            <p:cNvSpPr/>
            <p:nvPr/>
          </p:nvSpPr>
          <p:spPr>
            <a:xfrm>
              <a:off x="9885680" y="5120640"/>
              <a:ext cx="833120" cy="1158240"/>
            </a:xfrm>
            <a:prstGeom prst="roundRect">
              <a:avLst/>
            </a:prstGeom>
            <a:solidFill>
              <a:schemeClr val="accent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Leaf 3"/>
            <p:cNvSpPr/>
            <p:nvPr/>
          </p:nvSpPr>
          <p:spPr>
            <a:xfrm>
              <a:off x="10764520" y="4734560"/>
              <a:ext cx="833120" cy="1158240"/>
            </a:xfrm>
            <a:prstGeom prst="diamond">
              <a:avLst/>
            </a:prstGeom>
            <a:solidFill>
              <a:schemeClr val="accent1"/>
            </a:solidFill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40" name="Straight Arrow Connector 40"/>
          <p:cNvCxnSpPr>
            <a:cxnSpLocks/>
          </p:cNvCxnSpPr>
          <p:nvPr/>
        </p:nvCxnSpPr>
        <p:spPr>
          <a:xfrm>
            <a:off x="1866900" y="2824480"/>
            <a:ext cx="0" cy="18288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9" name="Slide Number 82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82}" type="slidenum">
              <a:rPr sz="1000"/>
              <a:t>82</a:t>
            </a:fld>
            <a:endParaRPr sz="10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Rule"/>
          <p:cNvCxnSpPr>
            <a:cxnSpLocks/>
          </p:cNvCxnSpPr>
          <p:nvPr/>
        </p:nvCxnSpPr>
        <p:spPr>
          <a:xfrm>
            <a:off x="1828800" y="1600200"/>
            <a:ext cx="8534400" cy="0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</p:cxnSp>
      <p:sp>
        <p:nvSpPr>
          <p:cNvPr id="11" name="Quotation"/>
          <p:cNvSpPr/>
          <p:nvPr/>
        </p:nvSpPr>
        <p:spPr>
          <a:xfrm>
            <a:off x="1371600" y="1828800"/>
            <a:ext cx="9448800" cy="2743200"/>
          </a:xfrm>
          <a:prstGeom prst="rect">
            <a:avLst/>
          </a:prstGeom>
          <a:noFill/>
        </p:spPr>
        <p:txBody>
          <a:bodyPr wrap="square" lIns="360000" tIns="360000" rIns="360000" bIns="360000" anchor="ctr"/>
          <a:lstStyle/>
          <a:p>
            <a:pPr algn="ctr"/>
            <a:r>
              <a:rPr sz="2800" i="1"/>
              <a:t>“Headcount settled at 88.5d, against last year. Backlog settled at 1.3pts, before the effect of the forecast.”</a:t>
            </a:r>
          </a:p>
        </p:txBody>
      </p:sp>
      <p:sp>
        <p:nvSpPr>
          <p:cNvPr id="12" name="Attribution"/>
          <p:cNvSpPr/>
          <p:nvPr/>
        </p:nvSpPr>
        <p:spPr>
          <a:xfrm>
            <a:off x="1371600" y="4663440"/>
            <a:ext cx="9448800" cy="640080"/>
          </a:xfrm>
          <a:prstGeom prst="rect">
            <a:avLst/>
          </a:prstGeom>
          <a:noFill/>
        </p:spPr>
        <p:txBody>
          <a:bodyPr wrap="square" anchor="b"/>
          <a:lstStyle/>
          <a:p>
            <a:pPr algn="r"/>
            <a:r>
              <a:rPr sz="1400">
                <a:solidFill>
                  <a:schemeClr val="tx2"/>
                </a:solidFill>
              </a:rPr>
              <a:t>K. Osei, Design</a:t>
            </a:r>
          </a:p>
        </p:txBody>
      </p:sp>
      <p:sp>
        <p:nvSpPr>
          <p:cNvPr id="9" name="Slide Number 83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83}" type="slidenum">
              <a:rPr sz="1000"/>
              <a:t>83</a:t>
            </a:fld>
            <a:endParaRPr sz="10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4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People: what changed</a:t>
            </a:r>
          </a:p>
        </p:txBody>
      </p:sp>
      <p:sp>
        <p:nvSpPr>
          <p:cNvPr id="10" name="Bar 1"/>
          <p:cNvSpPr/>
          <p:nvPr/>
        </p:nvSpPr>
        <p:spPr>
          <a:xfrm>
            <a:off x="739140" y="3566160"/>
            <a:ext cx="845820" cy="17373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0" name="Value 1"/>
          <p:cNvSpPr/>
          <p:nvPr/>
        </p:nvSpPr>
        <p:spPr>
          <a:xfrm>
            <a:off x="739140" y="32004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13.2pts</a:t>
            </a:r>
          </a:p>
        </p:txBody>
      </p:sp>
      <p:sp>
        <p:nvSpPr>
          <p:cNvPr id="30" name="Label 1"/>
          <p:cNvSpPr/>
          <p:nvPr/>
        </p:nvSpPr>
        <p:spPr>
          <a:xfrm>
            <a:off x="7391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25</a:t>
            </a:r>
          </a:p>
        </p:txBody>
      </p:sp>
      <p:sp>
        <p:nvSpPr>
          <p:cNvPr id="11" name="Bar 2"/>
          <p:cNvSpPr/>
          <p:nvPr/>
        </p:nvSpPr>
        <p:spPr>
          <a:xfrm>
            <a:off x="2148840" y="3657600"/>
            <a:ext cx="845820" cy="16459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1" name="Value 2"/>
          <p:cNvSpPr/>
          <p:nvPr/>
        </p:nvSpPr>
        <p:spPr>
          <a:xfrm>
            <a:off x="2148840" y="32918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33.4k</a:t>
            </a:r>
          </a:p>
        </p:txBody>
      </p:sp>
      <p:sp>
        <p:nvSpPr>
          <p:cNvPr id="31" name="Label 2"/>
          <p:cNvSpPr/>
          <p:nvPr/>
        </p:nvSpPr>
        <p:spPr>
          <a:xfrm>
            <a:off x="21488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25</a:t>
            </a:r>
          </a:p>
        </p:txBody>
      </p:sp>
      <p:sp>
        <p:nvSpPr>
          <p:cNvPr id="12" name="Bar 3"/>
          <p:cNvSpPr/>
          <p:nvPr/>
        </p:nvSpPr>
        <p:spPr>
          <a:xfrm>
            <a:off x="3558540" y="4480560"/>
            <a:ext cx="845820" cy="8229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2" name="Value 3"/>
          <p:cNvSpPr/>
          <p:nvPr/>
        </p:nvSpPr>
        <p:spPr>
          <a:xfrm>
            <a:off x="3558540" y="41148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38.2k</a:t>
            </a:r>
          </a:p>
        </p:txBody>
      </p:sp>
      <p:sp>
        <p:nvSpPr>
          <p:cNvPr id="32" name="Label 3"/>
          <p:cNvSpPr/>
          <p:nvPr/>
        </p:nvSpPr>
        <p:spPr>
          <a:xfrm>
            <a:off x="35585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25</a:t>
            </a:r>
          </a:p>
        </p:txBody>
      </p:sp>
      <p:sp>
        <p:nvSpPr>
          <p:cNvPr id="13" name="Bar 4"/>
          <p:cNvSpPr/>
          <p:nvPr/>
        </p:nvSpPr>
        <p:spPr>
          <a:xfrm>
            <a:off x="4968240" y="2560320"/>
            <a:ext cx="845820" cy="2743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3" name="Value 4"/>
          <p:cNvSpPr/>
          <p:nvPr/>
        </p:nvSpPr>
        <p:spPr>
          <a:xfrm>
            <a:off x="4968240" y="219456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49.2m</a:t>
            </a:r>
          </a:p>
        </p:txBody>
      </p:sp>
      <p:sp>
        <p:nvSpPr>
          <p:cNvPr id="33" name="Label 4"/>
          <p:cNvSpPr/>
          <p:nvPr/>
        </p:nvSpPr>
        <p:spPr>
          <a:xfrm>
            <a:off x="49682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25</a:t>
            </a:r>
          </a:p>
        </p:txBody>
      </p:sp>
      <p:sp>
        <p:nvSpPr>
          <p:cNvPr id="14" name="Bar 5"/>
          <p:cNvSpPr/>
          <p:nvPr/>
        </p:nvSpPr>
        <p:spPr>
          <a:xfrm>
            <a:off x="6377940" y="4480560"/>
            <a:ext cx="845820" cy="8229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4" name="Value 5"/>
          <p:cNvSpPr/>
          <p:nvPr/>
        </p:nvSpPr>
        <p:spPr>
          <a:xfrm>
            <a:off x="6377940" y="41148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54.6%</a:t>
            </a:r>
          </a:p>
        </p:txBody>
      </p:sp>
      <p:sp>
        <p:nvSpPr>
          <p:cNvPr id="34" name="Label 5"/>
          <p:cNvSpPr/>
          <p:nvPr/>
        </p:nvSpPr>
        <p:spPr>
          <a:xfrm>
            <a:off x="63779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26</a:t>
            </a:r>
          </a:p>
        </p:txBody>
      </p:sp>
      <p:sp>
        <p:nvSpPr>
          <p:cNvPr id="15" name="Bar 6"/>
          <p:cNvSpPr/>
          <p:nvPr/>
        </p:nvSpPr>
        <p:spPr>
          <a:xfrm>
            <a:off x="7787640" y="2194560"/>
            <a:ext cx="845820" cy="31089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5" name="Value 6"/>
          <p:cNvSpPr/>
          <p:nvPr/>
        </p:nvSpPr>
        <p:spPr>
          <a:xfrm>
            <a:off x="7787640" y="18288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50.6x</a:t>
            </a:r>
          </a:p>
        </p:txBody>
      </p:sp>
      <p:sp>
        <p:nvSpPr>
          <p:cNvPr id="35" name="Label 6"/>
          <p:cNvSpPr/>
          <p:nvPr/>
        </p:nvSpPr>
        <p:spPr>
          <a:xfrm>
            <a:off x="77876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26</a:t>
            </a:r>
          </a:p>
        </p:txBody>
      </p:sp>
      <p:sp>
        <p:nvSpPr>
          <p:cNvPr id="16" name="Bar 7"/>
          <p:cNvSpPr/>
          <p:nvPr/>
        </p:nvSpPr>
        <p:spPr>
          <a:xfrm>
            <a:off x="9197340" y="4297680"/>
            <a:ext cx="845820" cy="10058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6" name="Value 7"/>
          <p:cNvSpPr/>
          <p:nvPr/>
        </p:nvSpPr>
        <p:spPr>
          <a:xfrm>
            <a:off x="9197340" y="39319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10.1x</a:t>
            </a:r>
          </a:p>
        </p:txBody>
      </p:sp>
      <p:sp>
        <p:nvSpPr>
          <p:cNvPr id="36" name="Label 7"/>
          <p:cNvSpPr/>
          <p:nvPr/>
        </p:nvSpPr>
        <p:spPr>
          <a:xfrm>
            <a:off x="91973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26</a:t>
            </a:r>
          </a:p>
        </p:txBody>
      </p:sp>
      <p:sp>
        <p:nvSpPr>
          <p:cNvPr id="17" name="Bar 8"/>
          <p:cNvSpPr/>
          <p:nvPr/>
        </p:nvSpPr>
        <p:spPr>
          <a:xfrm>
            <a:off x="10607040" y="3657600"/>
            <a:ext cx="845820" cy="16459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7" name="Value 8"/>
          <p:cNvSpPr/>
          <p:nvPr/>
        </p:nvSpPr>
        <p:spPr>
          <a:xfrm>
            <a:off x="10607040" y="32918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82.4m</a:t>
            </a:r>
          </a:p>
        </p:txBody>
      </p:sp>
      <p:sp>
        <p:nvSpPr>
          <p:cNvPr id="37" name="Label 8"/>
          <p:cNvSpPr/>
          <p:nvPr/>
        </p:nvSpPr>
        <p:spPr>
          <a:xfrm>
            <a:off x="106070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26</a:t>
            </a:r>
          </a:p>
        </p:txBody>
      </p:sp>
      <p:cxnSp>
        <p:nvCxnSpPr>
          <p:cNvPr id="40" name="Baseline"/>
          <p:cNvCxnSpPr>
            <a:cxnSpLocks/>
          </p:cNvCxnSpPr>
          <p:nvPr/>
        </p:nvCxnSpPr>
        <p:spPr>
          <a:xfrm>
            <a:off x="457200" y="5303520"/>
            <a:ext cx="112776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</p:cxnSp>
      <p:sp>
        <p:nvSpPr>
          <p:cNvPr id="41" name="Axis title"/>
          <p:cNvSpPr/>
          <p:nvPr/>
        </p:nvSpPr>
        <p:spPr>
          <a:xfrm>
            <a:off x="457200" y="5715000"/>
            <a:ext cx="1127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i="1"/>
              <a:t>Gross margin settled at 81.3x, by quarter</a:t>
            </a:r>
          </a:p>
        </p:txBody>
      </p:sp>
      <p:sp>
        <p:nvSpPr>
          <p:cNvPr id="9" name="Slide Number 84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84}" type="slidenum">
              <a:rPr sz="1000"/>
              <a:t>84</a:t>
            </a:fld>
            <a:endParaRPr sz="10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5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People: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Pipeline coverage moved to 32.1pts, a point under last year.</a:t>
            </a:r>
          </a:p>
          <a:p>
            <a:pPr lvl="1"/>
            <a:r>
              <a:rPr sz="1800"/>
              <a:t>Churn slipped to 21.8%</a:t>
            </a:r>
          </a:p>
          <a:p>
            <a:pPr lvl="1"/>
            <a:r>
              <a:rPr sz="1800"/>
              <a:t>Gross margin slipped to 37.0x</a:t>
            </a:r>
          </a:p>
          <a:p>
            <a:r>
              <a:rPr sz="2000"/>
              <a:t>Cycle time moved to 19.4m, against the target.</a:t>
            </a:r>
          </a:p>
          <a:p>
            <a:r>
              <a:rPr sz="2000"/>
              <a:t>Churn settled at 33.0m, a point under last year.</a:t>
            </a:r>
          </a:p>
          <a:p>
            <a:r>
              <a:rPr sz="2000"/>
              <a:t>Gross margin settled at 24.2x, with the plan still to land.</a:t>
            </a:r>
          </a:p>
          <a:p>
            <a:pPr lvl="1"/>
            <a:r>
              <a:rPr sz="1800"/>
              <a:t>Release cadence slipped to 9.5m</a:t>
            </a:r>
          </a:p>
          <a:p>
            <a:pPr lvl="1"/>
            <a:r>
              <a:rPr sz="1800"/>
              <a:t>Unit cost settled at 7.7x</a:t>
            </a:r>
          </a:p>
          <a:p>
            <a:pPr lvl="1"/>
            <a:r>
              <a:rPr sz="1800"/>
              <a:t>Support volume closed the quarter at 65.3m</a:t>
            </a:r>
          </a:p>
          <a:p>
            <a:r>
              <a:rPr sz="2000"/>
              <a:t>Renewal rate improved to 90.5%, on the strength of the board case.</a:t>
            </a:r>
          </a:p>
          <a:p>
            <a:pPr lvl="1"/>
            <a:r>
              <a:rPr sz="1800"/>
              <a:t>Gross margin reached 93.6%</a:t>
            </a:r>
          </a:p>
          <a:p>
            <a:pPr lvl="1"/>
            <a:r>
              <a:rPr sz="1800"/>
              <a:t>Release cadence settled at 10.6x</a:t>
            </a:r>
          </a:p>
          <a:p>
            <a:pPr lvl="1"/>
            <a:r>
              <a:rPr sz="1800"/>
              <a:t>Gross margin improved to 88.9pts</a:t>
            </a:r>
          </a:p>
          <a:p>
            <a:r>
              <a:rPr sz="2000"/>
              <a:t>Onboarding time moved to 30.0%, with the plan still to land.</a:t>
            </a:r>
          </a:p>
          <a:p>
            <a:pPr lvl="1"/>
            <a:r>
              <a:rPr sz="1800"/>
              <a:t>Cycle time grew 76.5m</a:t>
            </a:r>
          </a:p>
          <a:p>
            <a:pPr lvl="1"/>
            <a:r>
              <a:rPr sz="1800"/>
              <a:t>Deal size improved to 67.1x</a:t>
            </a:r>
          </a:p>
          <a:p>
            <a:pPr lvl="1"/>
            <a:r>
              <a:rPr sz="1800"/>
              <a:t>Support volume improved to 53.7m</a:t>
            </a:r>
          </a:p>
        </p:txBody>
      </p:sp>
      <p:sp>
        <p:nvSpPr>
          <p:cNvPr id="9" name="Slide Number 85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85}" type="slidenum">
              <a:rPr sz="1000"/>
              <a:t>85</a:t>
            </a:fld>
            <a:endParaRPr sz="10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6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People: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Gross margin grew 52.9x, with last year still to land.</a:t>
            </a:r>
          </a:p>
          <a:p>
            <a:r>
              <a:rPr sz="2000"/>
              <a:t>Deal size closed the quarter at 17.5m, on the strength of the target.</a:t>
            </a:r>
          </a:p>
          <a:p>
            <a:pPr lvl="1"/>
            <a:r>
              <a:rPr sz="1800"/>
              <a:t>Net retention held at 0.5d</a:t>
            </a:r>
          </a:p>
          <a:p>
            <a:pPr lvl="1"/>
            <a:r>
              <a:rPr sz="1800"/>
              <a:t>Release cadence held at 3.7%</a:t>
            </a:r>
          </a:p>
          <a:p>
            <a:r>
              <a:rPr sz="2000"/>
              <a:t>Deal size held at 93.0%, before the effect of the industry median.</a:t>
            </a:r>
          </a:p>
          <a:p>
            <a:r>
              <a:rPr sz="2000"/>
              <a:t>Net retention held at 11.8x, ahead of the board case.</a:t>
            </a:r>
          </a:p>
          <a:p>
            <a:pPr lvl="1"/>
            <a:r>
              <a:rPr sz="1800"/>
              <a:t>Deal size closed the quarter at 10.2k</a:t>
            </a:r>
          </a:p>
          <a:p>
            <a:pPr lvl="1"/>
            <a:r>
              <a:rPr sz="1800"/>
              <a:t>Pipeline coverage moved to 67.7pts</a:t>
            </a:r>
          </a:p>
          <a:p>
            <a:pPr lvl="1"/>
            <a:r>
              <a:rPr sz="1800"/>
              <a:t>Gross margin slipped to 70.5k</a:t>
            </a:r>
          </a:p>
          <a:p>
            <a:r>
              <a:rPr sz="2000"/>
              <a:t>Unit cost grew 84.1k, against last year.</a:t>
            </a:r>
          </a:p>
        </p:txBody>
      </p:sp>
      <p:sp>
        <p:nvSpPr>
          <p:cNvPr id="9" name="Slide Number 86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86}" type="slidenum">
              <a:rPr sz="1000"/>
              <a:t>86</a:t>
            </a:fld>
            <a:endParaRPr sz="10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2">
                <a:tint val="30000"/>
              </a:schemeClr>
            </a:gs>
            <a:gs pos="100000">
              <a:schemeClr val="l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pter number"/>
          <p:cNvSpPr/>
          <p:nvPr/>
        </p:nvSpPr>
        <p:spPr>
          <a:xfrm>
            <a:off x="914400" y="1828800"/>
            <a:ext cx="3657600" cy="1828800"/>
          </a:xfrm>
          <a:prstGeom prst="rect">
            <a:avLst/>
          </a:prstGeom>
          <a:noFill/>
        </p:spPr>
        <p:txBody>
          <a:bodyPr wrap="square" anchor="b"/>
          <a:lstStyle/>
          <a:p>
            <a:r>
              <a:rPr sz="6000" b="1">
                <a:solidFill>
                  <a:schemeClr val="tx1"/>
                </a:solidFill>
              </a:rPr>
              <a:t>08</a:t>
            </a:r>
          </a:p>
        </p:txBody>
      </p:sp>
      <p:sp>
        <p:nvSpPr>
          <p:cNvPr id="11" name="Chapter title"/>
          <p:cNvSpPr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600">
                <a:solidFill>
                  <a:schemeClr val="tx1"/>
                </a:solidFill>
              </a:rPr>
              <a:t>Roadmap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8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Roadmap: quarter on quarter</a:t>
            </a:r>
          </a:p>
        </p:txBody>
      </p:sp>
      <p:sp>
        <p:nvSpPr>
          <p:cNvPr id="10" name="octagon 1"/>
          <p:cNvSpPr/>
          <p:nvPr/>
        </p:nvSpPr>
        <p:spPr>
          <a:xfrm>
            <a:off x="548640" y="1280160"/>
            <a:ext cx="2636520" cy="1544320"/>
          </a:xfrm>
          <a:prstGeom prst="octagon">
            <a:avLst/>
          </a:prstGeom>
          <a:pattFill prst="pct25">
            <a:fgClr>
              <a:schemeClr val="accent1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94.1k YoY</a:t>
            </a:r>
          </a:p>
        </p:txBody>
      </p:sp>
      <p:sp>
        <p:nvSpPr>
          <p:cNvPr id="11" name="rect 2"/>
          <p:cNvSpPr/>
          <p:nvPr/>
        </p:nvSpPr>
        <p:spPr>
          <a:xfrm>
            <a:off x="3368040" y="1280160"/>
            <a:ext cx="2636520" cy="15443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78.0d actual</a:t>
            </a:r>
          </a:p>
        </p:txBody>
      </p:sp>
      <p:sp>
        <p:nvSpPr>
          <p:cNvPr id="12" name="roundRect 3"/>
          <p:cNvSpPr/>
          <p:nvPr/>
        </p:nvSpPr>
        <p:spPr>
          <a:xfrm rot="900000">
            <a:off x="6187440" y="1280160"/>
            <a:ext cx="2636520" cy="1544320"/>
          </a:xfrm>
          <a:prstGeom prst="roundRect">
            <a:avLst/>
          </a:prstGeom>
          <a:gradFill rotWithShape="1">
            <a:gsLst>
              <a:gs pos="0">
                <a:schemeClr val="accent3">
                  <a:tint val="40000"/>
                </a:schemeClr>
              </a:gs>
              <a:gs pos="100000">
                <a:schemeClr val="accent3"/>
              </a:gs>
            </a:gsLst>
            <a:lin ang="5400000" scaled="0"/>
          </a:gradFill>
          <a:ln w="28575">
            <a:solidFill>
              <a:schemeClr val="accent3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95.8pts actual</a:t>
            </a:r>
          </a:p>
        </p:txBody>
      </p:sp>
      <p:sp>
        <p:nvSpPr>
          <p:cNvPr id="13" name="ellipse 4"/>
          <p:cNvSpPr/>
          <p:nvPr/>
        </p:nvSpPr>
        <p:spPr>
          <a:xfrm>
            <a:off x="9006840" y="1280160"/>
            <a:ext cx="2636520" cy="1544320"/>
          </a:xfrm>
          <a:prstGeom prst="ellipse">
            <a:avLst/>
          </a:prstGeom>
          <a:gradFill rotWithShape="1">
            <a:gsLst>
              <a:gs pos="0">
                <a:schemeClr val="lt1"/>
              </a:gs>
              <a:gs pos="100000">
                <a:schemeClr val="accent4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8.2m actual</a:t>
            </a:r>
          </a:p>
        </p:txBody>
      </p:sp>
      <p:sp>
        <p:nvSpPr>
          <p:cNvPr id="14" name="triangle 5"/>
          <p:cNvSpPr/>
          <p:nvPr/>
        </p:nvSpPr>
        <p:spPr>
          <a:xfrm>
            <a:off x="548640" y="3007360"/>
            <a:ext cx="2636520" cy="1544320"/>
          </a:xfrm>
          <a:prstGeom prst="triangle">
            <a:avLst/>
          </a:prstGeom>
          <a:pattFill prst="dkUpDiag">
            <a:fgClr>
              <a:schemeClr val="accent5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31.2x actual</a:t>
            </a:r>
          </a:p>
        </p:txBody>
      </p:sp>
      <p:sp>
        <p:nvSpPr>
          <p:cNvPr id="15" name="diamond 6"/>
          <p:cNvSpPr/>
          <p:nvPr/>
        </p:nvSpPr>
        <p:spPr>
          <a:xfrm rot="0">
            <a:off x="3368040" y="3007360"/>
            <a:ext cx="2636520" cy="1544320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glow rad="63500">
              <a:schemeClr val="accent1">
                <a:alpha val="40000"/>
              </a:schemeClr>
            </a:glo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69.7pts actual</a:t>
            </a:r>
          </a:p>
        </p:txBody>
      </p:sp>
      <p:sp>
        <p:nvSpPr>
          <p:cNvPr id="16" name="hexagon 7"/>
          <p:cNvSpPr/>
          <p:nvPr/>
        </p:nvSpPr>
        <p:spPr>
          <a:xfrm>
            <a:off x="6187440" y="3007360"/>
            <a:ext cx="2636520" cy="1544320"/>
          </a:xfrm>
          <a:prstGeom prst="hexagon">
            <a:avLst/>
          </a:prstGeom>
          <a:gradFill rotWithShape="1">
            <a:gsLst>
              <a:gs pos="0">
                <a:schemeClr val="accent1">
                  <a:tint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28575">
            <a:solidFill>
              <a:schemeClr val="accent1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47.8k actual</a:t>
            </a:r>
          </a:p>
        </p:txBody>
      </p:sp>
      <p:sp>
        <p:nvSpPr>
          <p:cNvPr id="17" name="star5 8"/>
          <p:cNvSpPr/>
          <p:nvPr/>
        </p:nvSpPr>
        <p:spPr>
          <a:xfrm flipH="1">
            <a:off x="9006840" y="3007360"/>
            <a:ext cx="2636520" cy="1544320"/>
          </a:xfrm>
          <a:prstGeom prst="star5">
            <a:avLst/>
          </a:prstGeom>
          <a:gradFill rotWithShape="1">
            <a:gsLst>
              <a:gs pos="0">
                <a:schemeClr val="lt1"/>
              </a:gs>
              <a:gs pos="100000">
                <a:schemeClr val="accent2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94.3pts YoY</a:t>
            </a:r>
          </a:p>
        </p:txBody>
      </p:sp>
      <p:sp>
        <p:nvSpPr>
          <p:cNvPr id="18" name="rightArrow 9"/>
          <p:cNvSpPr/>
          <p:nvPr/>
        </p:nvSpPr>
        <p:spPr>
          <a:xfrm rot="2700000">
            <a:off x="548640" y="4734560"/>
            <a:ext cx="2636520" cy="1544320"/>
          </a:xfrm>
          <a:prstGeom prst="rightArrow">
            <a:avLst/>
          </a:prstGeom>
          <a:pattFill prst="smGrid">
            <a:fgClr>
              <a:schemeClr val="accent3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89.1x actual</a:t>
            </a:r>
          </a:p>
        </p:txBody>
      </p:sp>
      <p:sp>
        <p:nvSpPr>
          <p:cNvPr id="19" name="chevron 10"/>
          <p:cNvSpPr/>
          <p:nvPr/>
        </p:nvSpPr>
        <p:spPr>
          <a:xfrm>
            <a:off x="3368040" y="4734560"/>
            <a:ext cx="2636520" cy="1544320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87.2x YoY</a:t>
            </a:r>
          </a:p>
        </p:txBody>
      </p:sp>
      <p:sp>
        <p:nvSpPr>
          <p:cNvPr id="20" name="cloud 11"/>
          <p:cNvSpPr/>
          <p:nvPr/>
        </p:nvSpPr>
        <p:spPr>
          <a:xfrm>
            <a:off x="6187440" y="4734560"/>
            <a:ext cx="2636520" cy="1544320"/>
          </a:xfrm>
          <a:prstGeom prst="cloud">
            <a:avLst/>
          </a:prstGeom>
          <a:gradFill rotWithShape="1">
            <a:gsLst>
              <a:gs pos="0">
                <a:schemeClr val="accent5">
                  <a:tint val="40000"/>
                </a:schemeClr>
              </a:gs>
              <a:gs pos="100000">
                <a:schemeClr val="accent5"/>
              </a:gs>
            </a:gsLst>
            <a:lin ang="5400000" scaled="0"/>
          </a:gradFill>
          <a:ln w="28575">
            <a:solidFill>
              <a:schemeClr val="accent5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19.1m QoQ</a:t>
            </a:r>
          </a:p>
        </p:txBody>
      </p:sp>
      <p:grpSp>
        <p:nvGrpSpPr>
          <p:cNvPr id="30" name="Grouped trio"/>
          <p:cNvGrpSpPr/>
          <p:nvPr/>
        </p:nvGrpSpPr>
        <p:grpSpPr>
          <a:xfrm rot="1200000">
            <a:off x="9006840" y="4734560"/>
            <a:ext cx="2636520" cy="1544320"/>
            <a:chOff x="9006840" y="4734560"/>
            <a:chExt cx="2636520" cy="1544320"/>
          </a:xfrm>
        </p:grpSpPr>
        <p:sp>
          <p:nvSpPr>
            <p:cNvPr id="31" name="Leaf 1"/>
            <p:cNvSpPr/>
            <p:nvPr/>
          </p:nvSpPr>
          <p:spPr>
            <a:xfrm>
              <a:off x="9006840" y="4734560"/>
              <a:ext cx="833120" cy="1158240"/>
            </a:xfrm>
            <a:prstGeom prst="ellipse">
              <a:avLst/>
            </a:prstGeom>
            <a:solidFill>
              <a:schemeClr val="accent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Leaf 2"/>
            <p:cNvSpPr/>
            <p:nvPr/>
          </p:nvSpPr>
          <p:spPr>
            <a:xfrm>
              <a:off x="9885680" y="5120640"/>
              <a:ext cx="833120" cy="1158240"/>
            </a:xfrm>
            <a:prstGeom prst="roundRect">
              <a:avLst/>
            </a:prstGeom>
            <a:solidFill>
              <a:schemeClr val="accent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Leaf 3"/>
            <p:cNvSpPr/>
            <p:nvPr/>
          </p:nvSpPr>
          <p:spPr>
            <a:xfrm>
              <a:off x="10764520" y="4734560"/>
              <a:ext cx="833120" cy="1158240"/>
            </a:xfrm>
            <a:prstGeom prst="diamond">
              <a:avLst/>
            </a:prstGeom>
            <a:solidFill>
              <a:schemeClr val="accent2"/>
            </a:solidFill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40" name="Straight Arrow Connector 40"/>
          <p:cNvCxnSpPr>
            <a:cxnSpLocks/>
          </p:cNvCxnSpPr>
          <p:nvPr/>
        </p:nvCxnSpPr>
        <p:spPr>
          <a:xfrm>
            <a:off x="1866900" y="2824480"/>
            <a:ext cx="0" cy="18288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9" name="Slide Number 88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88}" type="slidenum">
              <a:rPr sz="1000"/>
              <a:t>88</a:t>
            </a:fld>
            <a:endParaRPr sz="10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Rule"/>
          <p:cNvCxnSpPr>
            <a:cxnSpLocks/>
          </p:cNvCxnSpPr>
          <p:nvPr/>
        </p:nvCxnSpPr>
        <p:spPr>
          <a:xfrm>
            <a:off x="1828800" y="1600200"/>
            <a:ext cx="8534400" cy="0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</p:cxnSp>
      <p:sp>
        <p:nvSpPr>
          <p:cNvPr id="11" name="Quotation"/>
          <p:cNvSpPr/>
          <p:nvPr/>
        </p:nvSpPr>
        <p:spPr>
          <a:xfrm>
            <a:off x="1371600" y="1828800"/>
            <a:ext cx="9448800" cy="2743200"/>
          </a:xfrm>
          <a:prstGeom prst="rect">
            <a:avLst/>
          </a:prstGeom>
          <a:noFill/>
        </p:spPr>
        <p:txBody>
          <a:bodyPr wrap="square" lIns="360000" tIns="360000" rIns="360000" bIns="360000" anchor="ctr"/>
          <a:lstStyle/>
          <a:p>
            <a:pPr algn="ctr"/>
            <a:r>
              <a:rPr sz="2800" i="1"/>
              <a:t>“Deal size closed the quarter at 17.4x, a point under last year. Gross margin improved to 62.7m, two points over the plan.”</a:t>
            </a:r>
          </a:p>
        </p:txBody>
      </p:sp>
      <p:sp>
        <p:nvSpPr>
          <p:cNvPr id="12" name="Attribution"/>
          <p:cNvSpPr/>
          <p:nvPr/>
        </p:nvSpPr>
        <p:spPr>
          <a:xfrm>
            <a:off x="1371600" y="4663440"/>
            <a:ext cx="9448800" cy="640080"/>
          </a:xfrm>
          <a:prstGeom prst="rect">
            <a:avLst/>
          </a:prstGeom>
          <a:noFill/>
        </p:spPr>
        <p:txBody>
          <a:bodyPr wrap="square" anchor="b"/>
          <a:lstStyle/>
          <a:p>
            <a:pPr algn="r"/>
            <a:r>
              <a:rPr sz="1400">
                <a:solidFill>
                  <a:schemeClr val="tx2"/>
                </a:solidFill>
              </a:rPr>
              <a:t>K. Osei, Finance</a:t>
            </a:r>
          </a:p>
        </p:txBody>
      </p:sp>
      <p:sp>
        <p:nvSpPr>
          <p:cNvPr id="9" name="Slide Number 89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89}" type="slidenum">
              <a:rPr sz="1000"/>
              <a:t>89</a:t>
            </a:fld>
            <a:endParaRPr sz="10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0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Roadmap: risks</a:t>
            </a:r>
          </a:p>
        </p:txBody>
      </p:sp>
      <p:sp>
        <p:nvSpPr>
          <p:cNvPr id="10" name="Bar 1"/>
          <p:cNvSpPr/>
          <p:nvPr/>
        </p:nvSpPr>
        <p:spPr>
          <a:xfrm>
            <a:off x="739140" y="3291840"/>
            <a:ext cx="845820" cy="20116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0" name="Value 1"/>
          <p:cNvSpPr/>
          <p:nvPr/>
        </p:nvSpPr>
        <p:spPr>
          <a:xfrm>
            <a:off x="739140" y="29260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15.5%</a:t>
            </a:r>
          </a:p>
        </p:txBody>
      </p:sp>
      <p:sp>
        <p:nvSpPr>
          <p:cNvPr id="30" name="Label 1"/>
          <p:cNvSpPr/>
          <p:nvPr/>
        </p:nvSpPr>
        <p:spPr>
          <a:xfrm>
            <a:off x="7391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25</a:t>
            </a:r>
          </a:p>
        </p:txBody>
      </p:sp>
      <p:sp>
        <p:nvSpPr>
          <p:cNvPr id="11" name="Bar 2"/>
          <p:cNvSpPr/>
          <p:nvPr/>
        </p:nvSpPr>
        <p:spPr>
          <a:xfrm>
            <a:off x="2148840" y="3108960"/>
            <a:ext cx="845820" cy="21945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1" name="Value 2"/>
          <p:cNvSpPr/>
          <p:nvPr/>
        </p:nvSpPr>
        <p:spPr>
          <a:xfrm>
            <a:off x="2148840" y="27432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26.6k</a:t>
            </a:r>
          </a:p>
        </p:txBody>
      </p:sp>
      <p:sp>
        <p:nvSpPr>
          <p:cNvPr id="31" name="Label 2"/>
          <p:cNvSpPr/>
          <p:nvPr/>
        </p:nvSpPr>
        <p:spPr>
          <a:xfrm>
            <a:off x="21488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25</a:t>
            </a:r>
          </a:p>
        </p:txBody>
      </p:sp>
      <p:sp>
        <p:nvSpPr>
          <p:cNvPr id="12" name="Bar 3"/>
          <p:cNvSpPr/>
          <p:nvPr/>
        </p:nvSpPr>
        <p:spPr>
          <a:xfrm>
            <a:off x="3558540" y="3657600"/>
            <a:ext cx="845820" cy="16459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2" name="Value 3"/>
          <p:cNvSpPr/>
          <p:nvPr/>
        </p:nvSpPr>
        <p:spPr>
          <a:xfrm>
            <a:off x="3558540" y="32918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13.6m</a:t>
            </a:r>
          </a:p>
        </p:txBody>
      </p:sp>
      <p:sp>
        <p:nvSpPr>
          <p:cNvPr id="32" name="Label 3"/>
          <p:cNvSpPr/>
          <p:nvPr/>
        </p:nvSpPr>
        <p:spPr>
          <a:xfrm>
            <a:off x="35585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25</a:t>
            </a:r>
          </a:p>
        </p:txBody>
      </p:sp>
      <p:sp>
        <p:nvSpPr>
          <p:cNvPr id="13" name="Bar 4"/>
          <p:cNvSpPr/>
          <p:nvPr/>
        </p:nvSpPr>
        <p:spPr>
          <a:xfrm>
            <a:off x="4968240" y="1920240"/>
            <a:ext cx="845820" cy="33832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3" name="Value 4"/>
          <p:cNvSpPr/>
          <p:nvPr/>
        </p:nvSpPr>
        <p:spPr>
          <a:xfrm>
            <a:off x="4968240" y="15544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86.8x</a:t>
            </a:r>
          </a:p>
        </p:txBody>
      </p:sp>
      <p:sp>
        <p:nvSpPr>
          <p:cNvPr id="33" name="Label 4"/>
          <p:cNvSpPr/>
          <p:nvPr/>
        </p:nvSpPr>
        <p:spPr>
          <a:xfrm>
            <a:off x="49682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25</a:t>
            </a:r>
          </a:p>
        </p:txBody>
      </p:sp>
      <p:sp>
        <p:nvSpPr>
          <p:cNvPr id="14" name="Bar 5"/>
          <p:cNvSpPr/>
          <p:nvPr/>
        </p:nvSpPr>
        <p:spPr>
          <a:xfrm>
            <a:off x="6377940" y="2560320"/>
            <a:ext cx="845820" cy="2743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4" name="Value 5"/>
          <p:cNvSpPr/>
          <p:nvPr/>
        </p:nvSpPr>
        <p:spPr>
          <a:xfrm>
            <a:off x="6377940" y="219456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58.4k</a:t>
            </a:r>
          </a:p>
        </p:txBody>
      </p:sp>
      <p:sp>
        <p:nvSpPr>
          <p:cNvPr id="34" name="Label 5"/>
          <p:cNvSpPr/>
          <p:nvPr/>
        </p:nvSpPr>
        <p:spPr>
          <a:xfrm>
            <a:off x="63779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26</a:t>
            </a:r>
          </a:p>
        </p:txBody>
      </p:sp>
      <p:sp>
        <p:nvSpPr>
          <p:cNvPr id="15" name="Bar 6"/>
          <p:cNvSpPr/>
          <p:nvPr/>
        </p:nvSpPr>
        <p:spPr>
          <a:xfrm>
            <a:off x="7787640" y="3749040"/>
            <a:ext cx="845820" cy="15544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5" name="Value 6"/>
          <p:cNvSpPr/>
          <p:nvPr/>
        </p:nvSpPr>
        <p:spPr>
          <a:xfrm>
            <a:off x="7787640" y="33832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58.0m</a:t>
            </a:r>
          </a:p>
        </p:txBody>
      </p:sp>
      <p:sp>
        <p:nvSpPr>
          <p:cNvPr id="35" name="Label 6"/>
          <p:cNvSpPr/>
          <p:nvPr/>
        </p:nvSpPr>
        <p:spPr>
          <a:xfrm>
            <a:off x="77876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26</a:t>
            </a:r>
          </a:p>
        </p:txBody>
      </p:sp>
      <p:sp>
        <p:nvSpPr>
          <p:cNvPr id="16" name="Bar 7"/>
          <p:cNvSpPr/>
          <p:nvPr/>
        </p:nvSpPr>
        <p:spPr>
          <a:xfrm>
            <a:off x="9197340" y="1828800"/>
            <a:ext cx="845820" cy="34747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6" name="Value 7"/>
          <p:cNvSpPr/>
          <p:nvPr/>
        </p:nvSpPr>
        <p:spPr>
          <a:xfrm>
            <a:off x="9197340" y="14630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28.2pts</a:t>
            </a:r>
          </a:p>
        </p:txBody>
      </p:sp>
      <p:sp>
        <p:nvSpPr>
          <p:cNvPr id="36" name="Label 7"/>
          <p:cNvSpPr/>
          <p:nvPr/>
        </p:nvSpPr>
        <p:spPr>
          <a:xfrm>
            <a:off x="91973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26</a:t>
            </a:r>
          </a:p>
        </p:txBody>
      </p:sp>
      <p:sp>
        <p:nvSpPr>
          <p:cNvPr id="17" name="Bar 8"/>
          <p:cNvSpPr/>
          <p:nvPr/>
        </p:nvSpPr>
        <p:spPr>
          <a:xfrm>
            <a:off x="10607040" y="2468880"/>
            <a:ext cx="845820" cy="28346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7" name="Value 8"/>
          <p:cNvSpPr/>
          <p:nvPr/>
        </p:nvSpPr>
        <p:spPr>
          <a:xfrm>
            <a:off x="10607040" y="21031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42.3d</a:t>
            </a:r>
          </a:p>
        </p:txBody>
      </p:sp>
      <p:sp>
        <p:nvSpPr>
          <p:cNvPr id="37" name="Label 8"/>
          <p:cNvSpPr/>
          <p:nvPr/>
        </p:nvSpPr>
        <p:spPr>
          <a:xfrm>
            <a:off x="106070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26</a:t>
            </a:r>
          </a:p>
        </p:txBody>
      </p:sp>
      <p:cxnSp>
        <p:nvCxnSpPr>
          <p:cNvPr id="40" name="Baseline"/>
          <p:cNvCxnSpPr>
            <a:cxnSpLocks/>
          </p:cNvCxnSpPr>
          <p:nvPr/>
        </p:nvCxnSpPr>
        <p:spPr>
          <a:xfrm>
            <a:off x="457200" y="5303520"/>
            <a:ext cx="112776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</p:cxnSp>
      <p:sp>
        <p:nvSpPr>
          <p:cNvPr id="41" name="Axis title"/>
          <p:cNvSpPr/>
          <p:nvPr/>
        </p:nvSpPr>
        <p:spPr>
          <a:xfrm>
            <a:off x="457200" y="5715000"/>
            <a:ext cx="1127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i="1"/>
              <a:t>Support volume grew 96.6pts, by quarter</a:t>
            </a:r>
          </a:p>
        </p:txBody>
      </p:sp>
      <p:sp>
        <p:nvSpPr>
          <p:cNvPr id="9" name="Slide Number 90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90}" type="slidenum">
              <a:rPr sz="1000"/>
              <a:t>90</a:t>
            </a:fld>
            <a:endParaRPr sz="10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Roadmap: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Cloud spend moved to 59.1pts, two points over last year.</a:t>
            </a:r>
          </a:p>
          <a:p>
            <a:r>
              <a:rPr sz="2000"/>
              <a:t>Pipeline coverage reached 51.9pts, against the board case.</a:t>
            </a:r>
          </a:p>
          <a:p>
            <a:r>
              <a:rPr sz="2000"/>
              <a:t>Cloud spend moved to 47.6m, ahead of the plan.</a:t>
            </a:r>
          </a:p>
          <a:p>
            <a:r>
              <a:rPr sz="2000"/>
              <a:t>Deal size closed the quarter at 66.5%, on the strength of the plan.</a:t>
            </a:r>
          </a:p>
        </p:txBody>
      </p:sp>
      <p:sp>
        <p:nvSpPr>
          <p:cNvPr id="9" name="Slide Number 91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91}" type="slidenum">
              <a:rPr sz="1000"/>
              <a:t>91</a:t>
            </a:fld>
            <a:endParaRPr sz="10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Roadmap: quarter on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000"/>
              <a:t>Onboarding time held at 79.9x, ahead of last year.</a:t>
            </a:r>
          </a:p>
          <a:p>
            <a:r>
              <a:rPr sz="2000"/>
              <a:t>Backlog grew 58.8pts, a point under the industry median.</a:t>
            </a:r>
          </a:p>
          <a:p>
            <a:pPr lvl="1"/>
            <a:r>
              <a:rPr sz="1800"/>
              <a:t>Renewal rate moved to 44.4x</a:t>
            </a:r>
          </a:p>
          <a:p>
            <a:pPr lvl="1"/>
            <a:r>
              <a:rPr sz="1800"/>
              <a:t>Deal size settled at 61.6x</a:t>
            </a:r>
          </a:p>
          <a:p>
            <a:pPr lvl="1"/>
            <a:r>
              <a:rPr sz="1800"/>
              <a:t>Revenue moved to 36.4%</a:t>
            </a:r>
          </a:p>
          <a:p>
            <a:r>
              <a:rPr sz="2000"/>
              <a:t>Unit cost settled at 63.6d, against the prior quarter.</a:t>
            </a:r>
          </a:p>
          <a:p>
            <a:pPr lvl="1"/>
            <a:r>
              <a:rPr sz="1800"/>
              <a:t>Support volume grew 70.5%</a:t>
            </a:r>
          </a:p>
          <a:p>
            <a:pPr lvl="1"/>
            <a:r>
              <a:rPr sz="1800"/>
              <a:t>Backlog reached 96.5%</a:t>
            </a:r>
          </a:p>
          <a:p>
            <a:pPr lvl="1"/>
            <a:r>
              <a:rPr sz="1800"/>
              <a:t>Onboarding time moved to 90.8k</a:t>
            </a:r>
          </a:p>
          <a:p>
            <a:r>
              <a:rPr sz="2000"/>
              <a:t>Revenue grew 77.0%, against the industry median.</a:t>
            </a:r>
          </a:p>
          <a:p>
            <a:pPr lvl="1"/>
            <a:r>
              <a:rPr sz="1800"/>
              <a:t>Release cadence grew 44.4k</a:t>
            </a:r>
          </a:p>
          <a:p>
            <a:pPr lvl="1"/>
            <a:r>
              <a:rPr sz="1800"/>
              <a:t>Backlog slipped to 89.7k</a:t>
            </a:r>
          </a:p>
          <a:p>
            <a:r>
              <a:rPr sz="2000"/>
              <a:t>Net retention held at 49.4k, in line with the prior quarter.</a:t>
            </a:r>
          </a:p>
        </p:txBody>
      </p:sp>
      <p:sp>
        <p:nvSpPr>
          <p:cNvPr id="9" name="Slide Number 92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92}" type="slidenum">
              <a:rPr sz="1000"/>
              <a:t>92</a:t>
            </a:fld>
            <a:endParaRPr sz="10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Roadmap: next steps</a:t>
            </a:r>
          </a:p>
        </p:txBody>
      </p:sp>
      <p:sp>
        <p:nvSpPr>
          <p:cNvPr id="10" name="Left column"/>
          <p:cNvSpPr/>
          <p:nvPr/>
        </p:nvSpPr>
        <p:spPr>
          <a:xfrm>
            <a:off x="4572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/>
              <a:t>Revenue settled at 12.3m</a:t>
            </a:r>
            <a:r>
              <a:rPr sz="1600"/>
              <a:t> — </a:t>
            </a:r>
            <a:r>
              <a:rPr sz="1600"/>
              <a:t>Revenue grew 55.7x, ahead of last year.</a:t>
            </a:r>
          </a:p>
          <a:p>
            <a:r>
              <a:rPr sz="1400" i="1"/>
              <a:t>Read across: </a:t>
            </a:r>
            <a:r>
              <a:rPr sz="1400"/>
              <a:t>Revenue closed the quarter at 56.8x, on the strength of the prior quarter.</a:t>
            </a:r>
            <a:r>
              <a:rPr sz="1400" u="sng"/>
              <a:t> Footnote</a:t>
            </a:r>
            <a:r>
              <a:rPr sz="1400" baseline="30000"/>
              <a:t>1</a:t>
            </a:r>
          </a:p>
          <a:p>
            <a:r>
              <a:rPr sz="1200" cap="all" spc="100">
                <a:solidFill>
                  <a:schemeClr val="accent2"/>
                </a:solidFill>
              </a:rPr>
              <a:t>Note</a:t>
            </a:r>
            <a:br>
              <a:rPr sz="1200"/>
            </a:br>
            <a:r>
              <a:rPr sz="1400"/>
              <a:t>Uptime slipped to 55.9k, in line with the revised model.</a:t>
            </a:r>
          </a:p>
        </p:txBody>
      </p:sp>
      <p:sp>
        <p:nvSpPr>
          <p:cNvPr id="11" name="Right column"/>
          <p:cNvSpPr/>
          <p:nvPr/>
        </p:nvSpPr>
        <p:spPr>
          <a:xfrm>
            <a:off x="62484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pPr algn="just"/>
            <a:r>
              <a:rPr sz="1400"/>
              <a:t>Renewal rate held at 21.9%, in line with the target. Deal size settled at 70.9d, in line with the revised model.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Cycle time held at 11.4%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Backlog settled at 15.5x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Onboarding time grew 95.5x</a:t>
            </a:r>
          </a:p>
        </p:txBody>
      </p:sp>
      <p:sp>
        <p:nvSpPr>
          <p:cNvPr id="9" name="Slide Number 93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93}" type="slidenum">
              <a:rPr sz="1000"/>
              <a:t>93</a:t>
            </a:fld>
            <a:endParaRPr sz="10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4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Roadmap: risks</a:t>
            </a:r>
          </a:p>
        </p:txBody>
      </p:sp>
      <p:pic>
        <p:nvPicPr>
          <p:cNvPr id="10" name="Chart screenshot" descr="Five bars, two colours"/>
          <p:cNvPicPr>
            <a:picLocks noChangeAspect="1"/>
          </p:cNvPicPr>
          <p:nvPr/>
        </p:nvPicPr>
        <p:blipFill>
          <a:blip r:embed="rId3"/>
          <a:srcRect l="10000" t="5000" r="20000" b="25000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" name="Caption"/>
          <p:cNvSpPr/>
          <p:nvPr/>
        </p:nvSpPr>
        <p:spPr>
          <a:xfrm>
            <a:off x="457200" y="53949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i="1"/>
              <a:t>Figure 12. Gross margin held at 82.5pts.</a:t>
            </a:r>
          </a:p>
        </p:txBody>
      </p:sp>
      <p:sp>
        <p:nvSpPr>
          <p:cNvPr id="12" name="Aside"/>
          <p:cNvSpPr/>
          <p:nvPr/>
        </p:nvSpPr>
        <p:spPr>
          <a:xfrm>
            <a:off x="8077200" y="1188720"/>
            <a:ext cx="36576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/>
              <a:t>Uptime closed the quarter at 33.5k, with last year still to land.</a:t>
            </a:r>
          </a:p>
          <a:p>
            <a:r>
              <a:rPr sz="1600"/>
              <a:t>Uptime slipped to 37.1m, in line with last year.</a:t>
            </a:r>
          </a:p>
        </p:txBody>
      </p:sp>
      <p:sp>
        <p:nvSpPr>
          <p:cNvPr id="9" name="Slide Number 94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94}" type="slidenum">
              <a:rPr sz="1000"/>
              <a:t>94</a:t>
            </a:fld>
            <a:endParaRPr sz="10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5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Roadmap: the numbers</a:t>
            </a:r>
          </a:p>
        </p:txBody>
      </p:sp>
      <p:sp>
        <p:nvSpPr>
          <p:cNvPr id="10" name="rect 1"/>
          <p:cNvSpPr/>
          <p:nvPr/>
        </p:nvSpPr>
        <p:spPr>
          <a:xfrm>
            <a:off x="548640" y="1280160"/>
            <a:ext cx="2636520" cy="15443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59.2% YoY</a:t>
            </a:r>
          </a:p>
        </p:txBody>
      </p:sp>
      <p:sp>
        <p:nvSpPr>
          <p:cNvPr id="11" name="roundRect 2"/>
          <p:cNvSpPr/>
          <p:nvPr/>
        </p:nvSpPr>
        <p:spPr>
          <a:xfrm>
            <a:off x="3368040" y="1280160"/>
            <a:ext cx="2636520" cy="1544320"/>
          </a:xfrm>
          <a:prstGeom prst="roundRect">
            <a:avLst/>
          </a:prstGeom>
          <a:gradFill rotWithShape="1">
            <a:gsLst>
              <a:gs pos="0">
                <a:schemeClr val="accent2">
                  <a:tint val="40000"/>
                </a:schemeClr>
              </a:gs>
              <a:gs pos="100000">
                <a:schemeClr val="accent2"/>
              </a:gs>
            </a:gsLst>
            <a:lin ang="5400000" scaled="0"/>
          </a:gradFill>
          <a:ln w="28575">
            <a:solidFill>
              <a:schemeClr val="accent2">
                <a:shade val="50000"/>
              </a:schemeClr>
            </a:solidFill>
            <a:prstDash val="dash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66.9pts target</a:t>
            </a:r>
          </a:p>
        </p:txBody>
      </p:sp>
      <p:sp>
        <p:nvSpPr>
          <p:cNvPr id="12" name="ellipse 3"/>
          <p:cNvSpPr/>
          <p:nvPr/>
        </p:nvSpPr>
        <p:spPr>
          <a:xfrm rot="1800000">
            <a:off x="6187440" y="1280160"/>
            <a:ext cx="2636520" cy="1544320"/>
          </a:xfrm>
          <a:prstGeom prst="ellipse">
            <a:avLst/>
          </a:prstGeom>
          <a:gradFill rotWithShape="1">
            <a:gsLst>
              <a:gs pos="0">
                <a:schemeClr val="lt1"/>
              </a:gs>
              <a:gs pos="100000">
                <a:schemeClr val="accent3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33.8k actual</a:t>
            </a:r>
          </a:p>
        </p:txBody>
      </p:sp>
      <p:sp>
        <p:nvSpPr>
          <p:cNvPr id="13" name="triangle 4"/>
          <p:cNvSpPr/>
          <p:nvPr/>
        </p:nvSpPr>
        <p:spPr>
          <a:xfrm>
            <a:off x="9006840" y="1280160"/>
            <a:ext cx="2636520" cy="1544320"/>
          </a:xfrm>
          <a:prstGeom prst="triangle">
            <a:avLst/>
          </a:prstGeom>
          <a:pattFill prst="pct25">
            <a:fgClr>
              <a:schemeClr val="accent4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5.1m target</a:t>
            </a:r>
          </a:p>
        </p:txBody>
      </p:sp>
      <p:sp>
        <p:nvSpPr>
          <p:cNvPr id="14" name="diamond 5"/>
          <p:cNvSpPr/>
          <p:nvPr/>
        </p:nvSpPr>
        <p:spPr>
          <a:xfrm>
            <a:off x="548640" y="3007360"/>
            <a:ext cx="2636520" cy="1544320"/>
          </a:xfrm>
          <a:prstGeom prst="diamond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79.4m QoQ</a:t>
            </a:r>
          </a:p>
        </p:txBody>
      </p:sp>
      <p:sp>
        <p:nvSpPr>
          <p:cNvPr id="15" name="hexagon 6"/>
          <p:cNvSpPr/>
          <p:nvPr/>
        </p:nvSpPr>
        <p:spPr>
          <a:xfrm rot="900000">
            <a:off x="3368040" y="3007360"/>
            <a:ext cx="2636520" cy="1544320"/>
          </a:xfrm>
          <a:prstGeom prst="hexagon">
            <a:avLst/>
          </a:prstGeom>
          <a:gradFill rotWithShape="1">
            <a:gsLst>
              <a:gs pos="0">
                <a:schemeClr val="accent6">
                  <a:tint val="40000"/>
                </a:schemeClr>
              </a:gs>
              <a:gs pos="100000">
                <a:schemeClr val="accent6"/>
              </a:gs>
            </a:gsLst>
            <a:lin ang="5400000" scaled="0"/>
          </a:gradFill>
          <a:ln w="28575">
            <a:solidFill>
              <a:schemeClr val="accent6">
                <a:shade val="50000"/>
              </a:schemeClr>
            </a:solidFill>
            <a:prstDash val="dash"/>
          </a:ln>
          <a:effectLst>
            <a:glow rad="63500">
              <a:schemeClr val="accent1">
                <a:alpha val="40000"/>
              </a:schemeClr>
            </a:glow>
          </a:effectLst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15.3% actual</a:t>
            </a:r>
          </a:p>
        </p:txBody>
      </p:sp>
      <p:sp>
        <p:nvSpPr>
          <p:cNvPr id="16" name="star5 7"/>
          <p:cNvSpPr/>
          <p:nvPr/>
        </p:nvSpPr>
        <p:spPr>
          <a:xfrm>
            <a:off x="6187440" y="3007360"/>
            <a:ext cx="2636520" cy="1544320"/>
          </a:xfrm>
          <a:prstGeom prst="star5">
            <a:avLst/>
          </a:prstGeom>
          <a:gradFill rotWithShape="1">
            <a:gsLst>
              <a:gs pos="0">
                <a:schemeClr val="lt1"/>
              </a:gs>
              <a:gs pos="100000">
                <a:schemeClr val="accent1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17.3k QoQ</a:t>
            </a:r>
          </a:p>
        </p:txBody>
      </p:sp>
      <p:sp>
        <p:nvSpPr>
          <p:cNvPr id="17" name="rightArrow 8"/>
          <p:cNvSpPr/>
          <p:nvPr/>
        </p:nvSpPr>
        <p:spPr>
          <a:xfrm flipH="1">
            <a:off x="9006840" y="3007360"/>
            <a:ext cx="2636520" cy="1544320"/>
          </a:xfrm>
          <a:prstGeom prst="rightArrow">
            <a:avLst/>
          </a:prstGeom>
          <a:pattFill prst="dkUpDiag">
            <a:fgClr>
              <a:schemeClr val="accent2"/>
            </a:fgClr>
            <a:bgClr>
              <a:schemeClr val="lt1"/>
            </a:bgClr>
          </a:pattFill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40.5m QoQ</a:t>
            </a:r>
          </a:p>
        </p:txBody>
      </p:sp>
      <p:sp>
        <p:nvSpPr>
          <p:cNvPr id="18" name="chevron 9"/>
          <p:cNvSpPr/>
          <p:nvPr/>
        </p:nvSpPr>
        <p:spPr>
          <a:xfrm rot="0">
            <a:off x="548640" y="4734560"/>
            <a:ext cx="2636520" cy="1544320"/>
          </a:xfrm>
          <a:prstGeom prst="chevron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2.6% QoQ</a:t>
            </a:r>
          </a:p>
        </p:txBody>
      </p:sp>
      <p:sp>
        <p:nvSpPr>
          <p:cNvPr id="19" name="cloud 10"/>
          <p:cNvSpPr/>
          <p:nvPr/>
        </p:nvSpPr>
        <p:spPr>
          <a:xfrm>
            <a:off x="3368040" y="4734560"/>
            <a:ext cx="2636520" cy="1544320"/>
          </a:xfrm>
          <a:prstGeom prst="cloud">
            <a:avLst/>
          </a:prstGeom>
          <a:gradFill rotWithShape="1">
            <a:gsLst>
              <a:gs pos="0">
                <a:schemeClr val="accent4">
                  <a:tint val="40000"/>
                </a:schemeClr>
              </a:gs>
              <a:gs pos="100000">
                <a:schemeClr val="accent4"/>
              </a:gs>
            </a:gsLst>
            <a:lin ang="5400000" scaled="0"/>
          </a:gradFill>
          <a:ln w="28575">
            <a:solidFill>
              <a:schemeClr val="accent4">
                <a:shade val="50000"/>
              </a:schemeClr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93.9k QoQ</a:t>
            </a:r>
          </a:p>
        </p:txBody>
      </p:sp>
      <p:sp>
        <p:nvSpPr>
          <p:cNvPr id="20" name="heart 11"/>
          <p:cNvSpPr/>
          <p:nvPr/>
        </p:nvSpPr>
        <p:spPr>
          <a:xfrm>
            <a:off x="6187440" y="4734560"/>
            <a:ext cx="2636520" cy="1544320"/>
          </a:xfrm>
          <a:prstGeom prst="heart">
            <a:avLst/>
          </a:prstGeom>
          <a:gradFill rotWithShape="1">
            <a:gsLst>
              <a:gs pos="0">
                <a:schemeClr val="lt1"/>
              </a:gs>
              <a:gs pos="100000">
                <a:schemeClr val="accent5">
                  <a:tint val="60000"/>
                </a:schemeClr>
              </a:gs>
            </a:gsLst>
            <a:path path="circle">
              <a:fillToRect l="50000" t="50000" r="50000" b="50000"/>
            </a:path>
          </a:gradFill>
          <a:ln w="9525">
            <a:solidFill>
              <a:schemeClr val="tx1"/>
            </a:solidFill>
            <a:prstDash val="sysDot"/>
          </a:ln>
        </p:spPr>
        <p:txBody>
          <a:bodyPr wrap="square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79.0d QoQ</a:t>
            </a:r>
          </a:p>
        </p:txBody>
      </p:sp>
      <p:grpSp>
        <p:nvGrpSpPr>
          <p:cNvPr id="30" name="Grouped trio"/>
          <p:cNvGrpSpPr/>
          <p:nvPr/>
        </p:nvGrpSpPr>
        <p:grpSpPr>
          <a:xfrm rot="1200000">
            <a:off x="9006840" y="4734560"/>
            <a:ext cx="2636520" cy="1544320"/>
            <a:chOff x="9006840" y="4734560"/>
            <a:chExt cx="2636520" cy="1544320"/>
          </a:xfrm>
        </p:grpSpPr>
        <p:sp>
          <p:nvSpPr>
            <p:cNvPr id="31" name="Leaf 1"/>
            <p:cNvSpPr/>
            <p:nvPr/>
          </p:nvSpPr>
          <p:spPr>
            <a:xfrm>
              <a:off x="9006840" y="4734560"/>
              <a:ext cx="833120" cy="1158240"/>
            </a:xfrm>
            <a:prstGeom prst="ellipse">
              <a:avLst/>
            </a:prstGeom>
            <a:solidFill>
              <a:schemeClr val="accent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Leaf 2"/>
            <p:cNvSpPr/>
            <p:nvPr/>
          </p:nvSpPr>
          <p:spPr>
            <a:xfrm>
              <a:off x="9885680" y="5120640"/>
              <a:ext cx="833120" cy="1158240"/>
            </a:xfrm>
            <a:prstGeom prst="roundRect">
              <a:avLst/>
            </a:prstGeom>
            <a:solidFill>
              <a:schemeClr val="accent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Leaf 3"/>
            <p:cNvSpPr/>
            <p:nvPr/>
          </p:nvSpPr>
          <p:spPr>
            <a:xfrm>
              <a:off x="10764520" y="4734560"/>
              <a:ext cx="833120" cy="1158240"/>
            </a:xfrm>
            <a:prstGeom prst="diamond">
              <a:avLst/>
            </a:prstGeom>
            <a:solidFill>
              <a:schemeClr val="accent3"/>
            </a:solidFill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40" name="Straight Arrow Connector 40"/>
          <p:cNvCxnSpPr>
            <a:cxnSpLocks/>
          </p:cNvCxnSpPr>
          <p:nvPr/>
        </p:nvCxnSpPr>
        <p:spPr>
          <a:xfrm>
            <a:off x="1866900" y="2824480"/>
            <a:ext cx="0" cy="18288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9" name="Slide Number 95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95}" type="slidenum">
              <a:rPr sz="1000"/>
              <a:t>95</a:t>
            </a:fld>
            <a:endParaRPr sz="10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Rule"/>
          <p:cNvCxnSpPr>
            <a:cxnSpLocks/>
          </p:cNvCxnSpPr>
          <p:nvPr/>
        </p:nvCxnSpPr>
        <p:spPr>
          <a:xfrm>
            <a:off x="1828800" y="1600200"/>
            <a:ext cx="8534400" cy="0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</p:cxnSp>
      <p:sp>
        <p:nvSpPr>
          <p:cNvPr id="11" name="Quotation"/>
          <p:cNvSpPr/>
          <p:nvPr/>
        </p:nvSpPr>
        <p:spPr>
          <a:xfrm>
            <a:off x="1371600" y="1828800"/>
            <a:ext cx="9448800" cy="2743200"/>
          </a:xfrm>
          <a:prstGeom prst="rect">
            <a:avLst/>
          </a:prstGeom>
          <a:noFill/>
        </p:spPr>
        <p:txBody>
          <a:bodyPr wrap="square" lIns="360000" tIns="360000" rIns="360000" bIns="360000" anchor="ctr"/>
          <a:lstStyle/>
          <a:p>
            <a:pPr algn="ctr"/>
            <a:r>
              <a:rPr sz="2800" i="1"/>
              <a:t>“Uptime settled at 65.3m, ahead of last year. Net retention improved to 36.4m, with the revised model still to land.”</a:t>
            </a:r>
          </a:p>
        </p:txBody>
      </p:sp>
      <p:sp>
        <p:nvSpPr>
          <p:cNvPr id="12" name="Attribution"/>
          <p:cNvSpPr/>
          <p:nvPr/>
        </p:nvSpPr>
        <p:spPr>
          <a:xfrm>
            <a:off x="1371600" y="4663440"/>
            <a:ext cx="9448800" cy="640080"/>
          </a:xfrm>
          <a:prstGeom prst="rect">
            <a:avLst/>
          </a:prstGeom>
          <a:noFill/>
        </p:spPr>
        <p:txBody>
          <a:bodyPr wrap="square" anchor="b"/>
          <a:lstStyle/>
          <a:p>
            <a:pPr algn="r"/>
            <a:r>
              <a:rPr sz="1400">
                <a:solidFill>
                  <a:schemeClr val="tx2"/>
                </a:solidFill>
              </a:rPr>
              <a:t>J. Alvarez, Design</a:t>
            </a:r>
          </a:p>
        </p:txBody>
      </p:sp>
      <p:sp>
        <p:nvSpPr>
          <p:cNvPr id="9" name="Slide Number 96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96}" type="slidenum">
              <a:rPr sz="1000"/>
              <a:t>96</a:t>
            </a:fld>
            <a:endParaRPr sz="10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7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Roadmap: next steps</a:t>
            </a:r>
          </a:p>
        </p:txBody>
      </p:sp>
      <p:sp>
        <p:nvSpPr>
          <p:cNvPr id="10" name="Bar 1"/>
          <p:cNvSpPr/>
          <p:nvPr/>
        </p:nvSpPr>
        <p:spPr>
          <a:xfrm>
            <a:off x="739140" y="4572000"/>
            <a:ext cx="845820" cy="73152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0" name="Value 1"/>
          <p:cNvSpPr/>
          <p:nvPr/>
        </p:nvSpPr>
        <p:spPr>
          <a:xfrm>
            <a:off x="739140" y="4206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18.1x</a:t>
            </a:r>
          </a:p>
        </p:txBody>
      </p:sp>
      <p:sp>
        <p:nvSpPr>
          <p:cNvPr id="30" name="Label 1"/>
          <p:cNvSpPr/>
          <p:nvPr/>
        </p:nvSpPr>
        <p:spPr>
          <a:xfrm>
            <a:off x="7391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25</a:t>
            </a:r>
          </a:p>
        </p:txBody>
      </p:sp>
      <p:sp>
        <p:nvSpPr>
          <p:cNvPr id="11" name="Bar 2"/>
          <p:cNvSpPr/>
          <p:nvPr/>
        </p:nvSpPr>
        <p:spPr>
          <a:xfrm>
            <a:off x="2148840" y="3108960"/>
            <a:ext cx="845820" cy="21945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1" name="Value 2"/>
          <p:cNvSpPr/>
          <p:nvPr/>
        </p:nvSpPr>
        <p:spPr>
          <a:xfrm>
            <a:off x="2148840" y="27432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84.1k</a:t>
            </a:r>
          </a:p>
        </p:txBody>
      </p:sp>
      <p:sp>
        <p:nvSpPr>
          <p:cNvPr id="31" name="Label 2"/>
          <p:cNvSpPr/>
          <p:nvPr/>
        </p:nvSpPr>
        <p:spPr>
          <a:xfrm>
            <a:off x="21488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25</a:t>
            </a:r>
          </a:p>
        </p:txBody>
      </p:sp>
      <p:sp>
        <p:nvSpPr>
          <p:cNvPr id="12" name="Bar 3"/>
          <p:cNvSpPr/>
          <p:nvPr/>
        </p:nvSpPr>
        <p:spPr>
          <a:xfrm>
            <a:off x="3558540" y="2194560"/>
            <a:ext cx="845820" cy="31089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2" name="Value 3"/>
          <p:cNvSpPr/>
          <p:nvPr/>
        </p:nvSpPr>
        <p:spPr>
          <a:xfrm>
            <a:off x="3558540" y="18288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1.2x</a:t>
            </a:r>
          </a:p>
        </p:txBody>
      </p:sp>
      <p:sp>
        <p:nvSpPr>
          <p:cNvPr id="32" name="Label 3"/>
          <p:cNvSpPr/>
          <p:nvPr/>
        </p:nvSpPr>
        <p:spPr>
          <a:xfrm>
            <a:off x="35585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25</a:t>
            </a:r>
          </a:p>
        </p:txBody>
      </p:sp>
      <p:sp>
        <p:nvSpPr>
          <p:cNvPr id="13" name="Bar 4"/>
          <p:cNvSpPr/>
          <p:nvPr/>
        </p:nvSpPr>
        <p:spPr>
          <a:xfrm>
            <a:off x="4968240" y="4663440"/>
            <a:ext cx="845820" cy="64008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3" name="Value 4"/>
          <p:cNvSpPr/>
          <p:nvPr/>
        </p:nvSpPr>
        <p:spPr>
          <a:xfrm>
            <a:off x="4968240" y="429768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81.8k</a:t>
            </a:r>
          </a:p>
        </p:txBody>
      </p:sp>
      <p:sp>
        <p:nvSpPr>
          <p:cNvPr id="33" name="Label 4"/>
          <p:cNvSpPr/>
          <p:nvPr/>
        </p:nvSpPr>
        <p:spPr>
          <a:xfrm>
            <a:off x="49682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25</a:t>
            </a:r>
          </a:p>
        </p:txBody>
      </p:sp>
      <p:sp>
        <p:nvSpPr>
          <p:cNvPr id="14" name="Bar 5"/>
          <p:cNvSpPr/>
          <p:nvPr/>
        </p:nvSpPr>
        <p:spPr>
          <a:xfrm>
            <a:off x="6377940" y="3383280"/>
            <a:ext cx="845820" cy="1920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4" name="Value 5"/>
          <p:cNvSpPr/>
          <p:nvPr/>
        </p:nvSpPr>
        <p:spPr>
          <a:xfrm>
            <a:off x="6377940" y="301752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95.6pts</a:t>
            </a:r>
          </a:p>
        </p:txBody>
      </p:sp>
      <p:sp>
        <p:nvSpPr>
          <p:cNvPr id="34" name="Label 5"/>
          <p:cNvSpPr/>
          <p:nvPr/>
        </p:nvSpPr>
        <p:spPr>
          <a:xfrm>
            <a:off x="63779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Q1 26</a:t>
            </a:r>
          </a:p>
        </p:txBody>
      </p:sp>
      <p:sp>
        <p:nvSpPr>
          <p:cNvPr id="15" name="Bar 6"/>
          <p:cNvSpPr/>
          <p:nvPr/>
        </p:nvSpPr>
        <p:spPr>
          <a:xfrm>
            <a:off x="7787640" y="3108960"/>
            <a:ext cx="845820" cy="21945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5" name="Value 6"/>
          <p:cNvSpPr/>
          <p:nvPr/>
        </p:nvSpPr>
        <p:spPr>
          <a:xfrm>
            <a:off x="7787640" y="27432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50.2d</a:t>
            </a:r>
          </a:p>
        </p:txBody>
      </p:sp>
      <p:sp>
        <p:nvSpPr>
          <p:cNvPr id="35" name="Label 6"/>
          <p:cNvSpPr/>
          <p:nvPr/>
        </p:nvSpPr>
        <p:spPr>
          <a:xfrm>
            <a:off x="77876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Q2 26</a:t>
            </a:r>
          </a:p>
        </p:txBody>
      </p:sp>
      <p:sp>
        <p:nvSpPr>
          <p:cNvPr id="16" name="Bar 7"/>
          <p:cNvSpPr/>
          <p:nvPr/>
        </p:nvSpPr>
        <p:spPr>
          <a:xfrm>
            <a:off x="9197340" y="4480560"/>
            <a:ext cx="845820" cy="8229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6" name="Value 7"/>
          <p:cNvSpPr/>
          <p:nvPr/>
        </p:nvSpPr>
        <p:spPr>
          <a:xfrm>
            <a:off x="9197340" y="41148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65.7x</a:t>
            </a:r>
          </a:p>
        </p:txBody>
      </p:sp>
      <p:sp>
        <p:nvSpPr>
          <p:cNvPr id="36" name="Label 7"/>
          <p:cNvSpPr/>
          <p:nvPr/>
        </p:nvSpPr>
        <p:spPr>
          <a:xfrm>
            <a:off x="91973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Q3 26</a:t>
            </a:r>
          </a:p>
        </p:txBody>
      </p:sp>
      <p:sp>
        <p:nvSpPr>
          <p:cNvPr id="17" name="Bar 8"/>
          <p:cNvSpPr/>
          <p:nvPr/>
        </p:nvSpPr>
        <p:spPr>
          <a:xfrm>
            <a:off x="10607040" y="4480560"/>
            <a:ext cx="845820" cy="82296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shade val="60000"/>
                </a:schemeClr>
              </a:gs>
            </a:gsLst>
            <a:lin ang="5400000" scaled="0"/>
          </a:gradFill>
        </p:spPr>
        <p:txBody>
          <a:bodyPr/>
          <a:lstStyle/>
          <a:p>
            <a:endParaRPr lang="en-GB"/>
          </a:p>
        </p:txBody>
      </p:sp>
      <p:sp>
        <p:nvSpPr>
          <p:cNvPr id="27" name="Value 8"/>
          <p:cNvSpPr/>
          <p:nvPr/>
        </p:nvSpPr>
        <p:spPr>
          <a:xfrm>
            <a:off x="10607040" y="411480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60.8m</a:t>
            </a:r>
          </a:p>
        </p:txBody>
      </p:sp>
      <p:sp>
        <p:nvSpPr>
          <p:cNvPr id="37" name="Label 8"/>
          <p:cNvSpPr/>
          <p:nvPr/>
        </p:nvSpPr>
        <p:spPr>
          <a:xfrm>
            <a:off x="10607040" y="5349240"/>
            <a:ext cx="8458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/>
              <a:t>Q4 26</a:t>
            </a:r>
          </a:p>
        </p:txBody>
      </p:sp>
      <p:cxnSp>
        <p:nvCxnSpPr>
          <p:cNvPr id="40" name="Baseline"/>
          <p:cNvCxnSpPr>
            <a:cxnSpLocks/>
          </p:cNvCxnSpPr>
          <p:nvPr/>
        </p:nvCxnSpPr>
        <p:spPr>
          <a:xfrm>
            <a:off x="457200" y="5303520"/>
            <a:ext cx="112776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</p:cxnSp>
      <p:sp>
        <p:nvSpPr>
          <p:cNvPr id="41" name="Axis title"/>
          <p:cNvSpPr/>
          <p:nvPr/>
        </p:nvSpPr>
        <p:spPr>
          <a:xfrm>
            <a:off x="457200" y="5715000"/>
            <a:ext cx="1127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i="1"/>
              <a:t>Backlog held at 81.8k, by quarter</a:t>
            </a:r>
          </a:p>
        </p:txBody>
      </p:sp>
      <p:sp>
        <p:nvSpPr>
          <p:cNvPr id="9" name="Slide Number 97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97}" type="slidenum">
              <a:rPr sz="1000"/>
              <a:t>97</a:t>
            </a:fld>
            <a:endParaRPr sz="10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8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Roadmap: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Cloud spend held at 8.9x, in line with last year.</a:t>
            </a:r>
          </a:p>
          <a:p>
            <a:pPr lvl="1"/>
            <a:r>
              <a:rPr sz="1800"/>
              <a:t>Backlog held at 56.9k</a:t>
            </a:r>
          </a:p>
          <a:p>
            <a:r>
              <a:rPr sz="2000"/>
              <a:t>Onboarding time reached 39.5k, ahead of the forecast.</a:t>
            </a:r>
          </a:p>
          <a:p>
            <a:r>
              <a:rPr sz="2000"/>
              <a:t>Net retention held at 77.5m, before the effect of the revised model.</a:t>
            </a:r>
          </a:p>
          <a:p>
            <a:r>
              <a:rPr sz="2000"/>
              <a:t>Onboarding time reached 73.1%, two points over the prior quarter.</a:t>
            </a:r>
          </a:p>
          <a:p>
            <a:pPr lvl="1"/>
            <a:r>
              <a:rPr sz="1800"/>
              <a:t>Backlog settled at 20.1d</a:t>
            </a:r>
          </a:p>
          <a:p>
            <a:r>
              <a:rPr sz="2000"/>
              <a:t>Support volume held at 23.1d, before the effect of the plan.</a:t>
            </a:r>
          </a:p>
        </p:txBody>
      </p:sp>
      <p:sp>
        <p:nvSpPr>
          <p:cNvPr id="9" name="Slide Number 98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98}" type="slidenum">
              <a:rPr sz="1000"/>
              <a:t>98</a:t>
            </a:fld>
            <a:endParaRPr sz="10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9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Appendix: risks</a:t>
            </a:r>
          </a:p>
        </p:txBody>
      </p:sp>
      <p:sp>
        <p:nvSpPr>
          <p:cNvPr id="10" name="Left column"/>
          <p:cNvSpPr/>
          <p:nvPr/>
        </p:nvSpPr>
        <p:spPr>
          <a:xfrm>
            <a:off x="4572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/>
              <a:t>Gross margin closed the quarter at 27.8m</a:t>
            </a:r>
            <a:r>
              <a:rPr sz="1600"/>
              <a:t> — </a:t>
            </a:r>
            <a:r>
              <a:rPr sz="1600"/>
              <a:t>Onboarding time improved to 76.1m, ahead of last year.</a:t>
            </a:r>
          </a:p>
          <a:p>
            <a:r>
              <a:rPr sz="1400" i="1"/>
              <a:t>Read across: </a:t>
            </a:r>
            <a:r>
              <a:rPr sz="1400"/>
              <a:t>Deal size grew 5.3x, with the revised model still to land.</a:t>
            </a:r>
            <a:r>
              <a:rPr sz="1400" u="sng"/>
              <a:t> Footnote</a:t>
            </a:r>
            <a:r>
              <a:rPr sz="1400" baseline="30000"/>
              <a:t>1</a:t>
            </a:r>
          </a:p>
          <a:p>
            <a:r>
              <a:rPr sz="1200" cap="all" spc="100">
                <a:solidFill>
                  <a:schemeClr val="accent2"/>
                </a:solidFill>
              </a:rPr>
              <a:t>Watch</a:t>
            </a:r>
            <a:br>
              <a:rPr sz="1200"/>
            </a:br>
            <a:r>
              <a:rPr sz="1400"/>
              <a:t>Net retention grew 9.8pts, in line with the industry median.</a:t>
            </a:r>
          </a:p>
        </p:txBody>
      </p:sp>
      <p:sp>
        <p:nvSpPr>
          <p:cNvPr id="11" name="Right column"/>
          <p:cNvSpPr/>
          <p:nvPr/>
        </p:nvSpPr>
        <p:spPr>
          <a:xfrm>
            <a:off x="6248400" y="1188720"/>
            <a:ext cx="5486400" cy="5181600"/>
          </a:xfrm>
          <a:prstGeom prst="rect">
            <a:avLst/>
          </a:prstGeom>
          <a:noFill/>
        </p:spPr>
        <p:txBody>
          <a:bodyPr wrap="square"/>
          <a:lstStyle/>
          <a:p>
            <a:pPr algn="just"/>
            <a:r>
              <a:rPr sz="1400"/>
              <a:t>Cloud spend closed the quarter at 41.7m, before the effect of the prior quarter. Net retention settled at 78.4m, with the forecast still to land.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Backlog reached 21.8d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Unit cost improved to 20.0x</a:t>
            </a:r>
          </a:p>
          <a:p>
            <a:pPr marL="285750" indent="-285750">
              <a:buFont typeface="Arial"/>
              <a:buChar char="•"/>
            </a:pPr>
            <a:r>
              <a:rPr sz="1400"/>
              <a:t>Revenue grew 63.3%</a:t>
            </a:r>
          </a:p>
        </p:txBody>
      </p:sp>
      <p:sp>
        <p:nvSpPr>
          <p:cNvPr id="9" name="Slide Number 99"/>
          <p:cNvSpPr/>
          <p:nvPr/>
        </p:nvSpPr>
        <p:spPr>
          <a:xfrm>
            <a:off x="10515600" y="6356350"/>
            <a:ext cx="1219200" cy="365125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fld id="{A4600000-0000-4000-8000-000000000099}" type="slidenum">
              <a:rPr sz="1000"/>
              <a:t>99</a:t>
            </a:fld>
            <a:endParaRPr sz="100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hank you"/>
          <p:cNvSpPr/>
          <p:nvPr/>
        </p:nvSpPr>
        <p:spPr>
          <a:xfrm>
            <a:off x="9144000" y="914400"/>
            <a:ext cx="1828800" cy="5029200"/>
          </a:xfrm>
          <a:prstGeom prst="rect">
            <a:avLst/>
          </a:prstGeom>
          <a:noFill/>
        </p:spPr>
        <p:txBody>
          <a:bodyPr vert="vert270" wrap="square" anchor="ctr"/>
          <a:lstStyle/>
          <a:p>
            <a:pPr algn="ctr"/>
            <a:r>
              <a:rPr sz="4000" b="1">
                <a:solidFill>
                  <a:schemeClr val="lt1"/>
                </a:solidFill>
              </a:rPr>
              <a:t>Thank you</a:t>
            </a:r>
          </a:p>
        </p:txBody>
      </p:sp>
      <p:sp>
        <p:nvSpPr>
          <p:cNvPr id="11" name="Contact"/>
          <p:cNvSpPr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400">
                <a:solidFill>
                  <a:schemeClr val="lt1"/>
                </a:solidFill>
              </a:rPr>
              <a:t>northwind.example — analytics@northwind.example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100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a46 hundred slides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