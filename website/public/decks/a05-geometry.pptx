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a05 — the six a:path commands, and path space</a:t>
            </a:r>
          </a:p>
        </p:txBody>
      </p:sp>
      <p:sp>
        <p:nvSpPr>
          <p:cNvPr id="10" name="moveTo lnTo close"/>
          <p:cNvSpPr/>
          <p:nvPr/>
        </p:nvSpPr>
        <p:spPr>
          <a:xfrm>
            <a:off x="502920" y="1234440"/>
            <a:ext cx="3667760" cy="2499360"/>
          </a:xfrm>
          <a:custGeom>
            <a:avLst/>
            <a:gdLst/>
            <a:ahLst/>
            <a:cxnLst/>
            <a:pathLst>
              <a:path w="100" h="100">
                <a:moveTo>
                  <a:pt x="50" y="0"/>
                </a:move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moveTo lnTo close</a:t>
            </a:r>
          </a:p>
        </p:txBody>
      </p:sp>
      <p:sp>
        <p:nvSpPr>
          <p:cNvPr id="11" name="cubicBezTo"/>
          <p:cNvSpPr/>
          <p:nvPr/>
        </p:nvSpPr>
        <p:spPr>
          <a:xfrm>
            <a:off x="4262120" y="1234440"/>
            <a:ext cx="3667760" cy="2499360"/>
          </a:xfrm>
          <a:custGeom>
            <a:avLst/>
            <a:gdLst/>
            <a:ahLst/>
            <a:cxnLst/>
            <a:pathLst>
              <a:path w="100" h="100">
                <a:moveTo>
                  <a:pt x="0" y="100"/>
                </a:moveTo>
                <a:cubicBezTo>
                  <a:pt x="0" y="0"/>
                  <a:pt x="100" y="100"/>
                  <a:pt x="100" y="0"/>
                </a:cubicBezTo>
                <a:lnTo>
                  <a:pt x="100" y="1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cubicBezTo</a:t>
            </a:r>
          </a:p>
        </p:txBody>
      </p:sp>
      <p:sp>
        <p:nvSpPr>
          <p:cNvPr id="12" name="quadBezTo"/>
          <p:cNvSpPr/>
          <p:nvPr/>
        </p:nvSpPr>
        <p:spPr>
          <a:xfrm>
            <a:off x="8021320" y="1234440"/>
            <a:ext cx="3667760" cy="2499360"/>
          </a:xfrm>
          <a:custGeom>
            <a:avLst/>
            <a:gdLst/>
            <a:ahLst/>
            <a:cxnLst/>
            <a:pathLst>
              <a:path w="100" h="100">
                <a:moveTo>
                  <a:pt x="0" y="100"/>
                </a:moveTo>
                <a:quadBezTo>
                  <a:pt x="50" y="-40"/>
                  <a:pt x="100" y="100"/>
                </a:quad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quadBezTo</a:t>
            </a:r>
          </a:p>
        </p:txBody>
      </p:sp>
      <p:sp>
        <p:nvSpPr>
          <p:cNvPr id="13" name="arcTo"/>
          <p:cNvSpPr/>
          <p:nvPr/>
        </p:nvSpPr>
        <p:spPr>
          <a:xfrm>
            <a:off x="502920" y="3825240"/>
            <a:ext cx="3667760" cy="2499360"/>
          </a:xfrm>
          <a:custGeom>
            <a:avLst/>
            <a:gdLst/>
            <a:ahLst/>
            <a:cxnLst/>
            <a:pathLst>
              <a:path w="100" h="100">
                <a:moveTo>
                  <a:pt x="50" y="50"/>
                </a:moveTo>
                <a:lnTo>
                  <a:pt x="100" y="50"/>
                </a:lnTo>
                <a:arcTo wR="50" hR="50" stAng="0" swAng="10800000"/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arcTo</a:t>
            </a:r>
          </a:p>
        </p:txBody>
      </p:sp>
      <p:sp>
        <p:nvSpPr>
          <p:cNvPr id="14" name="two paths, per-path fill and stroke"/>
          <p:cNvSpPr/>
          <p:nvPr/>
        </p:nvSpPr>
        <p:spPr>
          <a:xfrm>
            <a:off x="4262120" y="3825240"/>
            <a:ext cx="3667760" cy="2499360"/>
          </a:xfrm>
          <a:custGeom>
            <a:avLst/>
            <a:gdLst/>
            <a:ahLst/>
            <a:cxnLst/>
            <a:pathLst>
              <a:path w="100" h="100" fill="norm" stroke="1">
                <a:moveTo>
                  <a:pt x="0" y="0"/>
                </a:moveTo>
                <a:lnTo>
                  <a:pt x="100" y="0"/>
                </a:lnTo>
                <a:lnTo>
                  <a:pt x="100" y="100"/>
                </a:lnTo>
                <a:lnTo>
                  <a:pt x="0" y="100"/>
                </a:lnTo>
                <a:close/>
              </a:path>
              <a:path w="100" h="100" fill="darken" stroke="0">
                <a:moveTo>
                  <a:pt x="50" y="20"/>
                </a:moveTo>
                <a:lnTo>
                  <a:pt x="80" y="50"/>
                </a:lnTo>
                <a:lnTo>
                  <a:pt x="50" y="80"/>
                </a:lnTo>
                <a:lnTo>
                  <a:pt x="20" y="5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two paths, per-path fill and stroke</a:t>
            </a:r>
          </a:p>
        </p:txBody>
      </p:sp>
      <p:sp>
        <p:nvSpPr>
          <p:cNvPr id="15" name="no path space, EMU coordinates"/>
          <p:cNvSpPr/>
          <p:nvPr/>
        </p:nvSpPr>
        <p:spPr>
          <a:xfrm>
            <a:off x="8021320" y="3825240"/>
            <a:ext cx="3667760" cy="2499360"/>
          </a:xfrm>
          <a:custGeom>
            <a:avLst/>
            <a:gdLst/>
            <a:ahLst/>
            <a:cxnLst/>
            <a:pathLst>
              <a:path>
                <a:moveTo>
                  <a:pt x="0" y="0"/>
                </a:moveTo>
                <a:lnTo>
                  <a:pt x="3667760" y="0"/>
                </a:lnTo>
                <a:lnTo>
                  <a:pt x="1833880" y="249936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 path space, EMU coordinates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a05 — gdLst, ahXY, ahPolar, cxnLst and the a:rect text rectangle</a:t>
            </a:r>
          </a:p>
        </p:txBody>
      </p:sp>
      <p:sp>
        <p:nvSpPr>
          <p:cNvPr id="40" name="custGeom arrow with an XY handle"/>
          <p:cNvSpPr/>
          <p:nvPr/>
        </p:nvSpPr>
        <p:spPr>
          <a:xfrm>
            <a:off x="502920" y="1234440"/>
            <a:ext cx="5547360" cy="5090160"/>
          </a:xfrm>
          <a:custGeom>
            <a:avLst>
              <a:gd name="adj1" fmla="val 50000"/>
              <a:gd name="adj2" fmla="val 40000"/>
            </a:avLst>
            <a:gdLst>
              <a:gd name="maxAdj2" fmla="*/ 100000 w ss"/>
              <a:gd name="a1" fmla="pin 0 adj1 100000"/>
              <a:gd name="a2" fmla="pin 0 adj2 maxAdj2"/>
              <a:gd name="dx1" fmla="*/ ss a2 100000"/>
              <a:gd name="x1" fmla="+- r 0 dx1"/>
              <a:gd name="dy1" fmla="*/ h a1 200000"/>
              <a:gd name="y1" fmla="+- vc 0 dy1"/>
              <a:gd name="y2" fmla="+- vc dy1 0"/>
            </a:gdLst>
            <a:ahLst>
              <a:ahXY gdRefX="adj2" minX="0" maxX="maxAdj2" gdRefY="adj1" minY="0" maxY="100000">
                <a:pos x="x1" y="y1"/>
              </a:ahXY>
            </a:ahLst>
            <a:cxnLst>
              <a:cxn ang="16200000">
                <a:pos x="hc" y="t"/>
              </a:cxn>
              <a:cxn ang="10800000">
                <a:pos x="l" y="vc"/>
              </a:cxn>
              <a:cxn ang="5400000">
                <a:pos x="hc" y="b"/>
              </a:cxn>
              <a:cxn ang="0">
                <a:pos x="r" y="vc"/>
              </a:cxn>
            </a:cxnLst>
            <a:rect l="l" t="y1" r="x1" b="y2"/>
            <a:pathLst>
              <a:path>
                <a:moveTo>
                  <a:pt x="l" y="y1"/>
                </a:moveTo>
                <a:lnTo>
                  <a:pt x="x1" y="y1"/>
                </a:lnTo>
                <a:lnTo>
                  <a:pt x="x1" y="t"/>
                </a:lnTo>
                <a:lnTo>
                  <a:pt x="r" y="vc"/>
                </a:lnTo>
                <a:lnTo>
                  <a:pt x="x1" y="b"/>
                </a:lnTo>
                <a:lnTo>
                  <a:pt x="x1" y="y2"/>
                </a:lnTo>
                <a:lnTo>
                  <a:pt x="l" y="y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custGeom arrow with an XY handle</a:t>
            </a:r>
          </a:p>
        </p:txBody>
      </p:sp>
      <p:sp>
        <p:nvSpPr>
          <p:cNvPr id="41" name="custGeom dial with a polar handle"/>
          <p:cNvSpPr/>
          <p:nvPr/>
        </p:nvSpPr>
        <p:spPr>
          <a:xfrm>
            <a:off x="6141720" y="1234440"/>
            <a:ext cx="5547360" cy="5090160"/>
          </a:xfrm>
          <a:custGeom>
            <a:avLst>
              <a:gd name="adj1" fmla="val 25000"/>
              <a:gd name="adj2" fmla="val 3600000"/>
            </a:avLst>
            <a:gdLst>
              <a:gd name="r1" fmla="pin 0 adj1 50000"/>
              <a:gd name="ang1" fmla="pin 0 adj2 21600000"/>
              <a:gd name="dr" fmla="*/ ss r1 100000"/>
              <a:gd name="ry" fmla="+- vc 0 dr"/>
            </a:gdLst>
            <a:ahLst>
              <a:ahPolar gdRefR="adj1" minR="0" maxR="50000" gdRefAng="adj2" minAng="0" maxAng="21600000">
                <a:pos x="hc" y="ry"/>
              </a:ahPolar>
            </a:ahLst>
            <a:cxnLst>
              <a:cxn ang="0">
                <a:pos x="r" y="vc"/>
              </a:cxn>
            </a:cxnLst>
            <a:rect l="l" t="t" r="r" b="b"/>
            <a:pathLst>
              <a:path>
                <a:moveTo>
                  <a:pt x="l" y="vc"/>
                </a:moveTo>
                <a:arcTo wR="hc" hR="vc" stAng="10800000" swAng="21600000"/>
                <a:close/>
              </a:path>
              <a:path fill="none" stroke="1">
                <a:moveTo>
                  <a:pt x="hc" y="vc"/>
                </a:moveTo>
                <a:lnTo>
                  <a:pt x="hc" y="ry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custGeom dial with a polar handle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a05 — 24 presets with their a:avLst moved off default</a:t>
            </a:r>
          </a:p>
        </p:txBody>
      </p:sp>
      <p:sp>
        <p:nvSpPr>
          <p:cNvPr id="70" name="roundRect"/>
          <p:cNvSpPr/>
          <p:nvPr/>
        </p:nvSpPr>
        <p:spPr>
          <a:xfrm>
            <a:off x="502920" y="1234440"/>
            <a:ext cx="1318260" cy="1635760"/>
          </a:xfrm>
          <a:prstGeom prst="roundRect">
            <a:avLst>
              <a:gd name="adj" fmla="val 4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roundRect</a:t>
            </a:r>
          </a:p>
        </p:txBody>
      </p:sp>
      <p:sp>
        <p:nvSpPr>
          <p:cNvPr id="71" name="round1Rect"/>
          <p:cNvSpPr/>
          <p:nvPr/>
        </p:nvSpPr>
        <p:spPr>
          <a:xfrm>
            <a:off x="1912620" y="1234440"/>
            <a:ext cx="1318260" cy="1635760"/>
          </a:xfrm>
          <a:prstGeom prst="round1Rect">
            <a:avLst>
              <a:gd name="adj" fmla="val 35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round1Rect</a:t>
            </a:r>
          </a:p>
        </p:txBody>
      </p:sp>
      <p:sp>
        <p:nvSpPr>
          <p:cNvPr id="72" name="snip1Rect"/>
          <p:cNvSpPr/>
          <p:nvPr/>
        </p:nvSpPr>
        <p:spPr>
          <a:xfrm>
            <a:off x="3322320" y="1234440"/>
            <a:ext cx="1318260" cy="1635760"/>
          </a:xfrm>
          <a:prstGeom prst="snip1Rect">
            <a:avLst>
              <a:gd name="adj" fmla="val 35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snip1Rect</a:t>
            </a:r>
          </a:p>
        </p:txBody>
      </p:sp>
      <p:sp>
        <p:nvSpPr>
          <p:cNvPr id="73" name="plaque"/>
          <p:cNvSpPr/>
          <p:nvPr/>
        </p:nvSpPr>
        <p:spPr>
          <a:xfrm>
            <a:off x="4732020" y="1234440"/>
            <a:ext cx="1318260" cy="1635760"/>
          </a:xfrm>
          <a:prstGeom prst="plaque">
            <a:avLst>
              <a:gd name="adj" fmla="val 25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plaque</a:t>
            </a:r>
          </a:p>
        </p:txBody>
      </p:sp>
      <p:sp>
        <p:nvSpPr>
          <p:cNvPr id="74" name="bevel"/>
          <p:cNvSpPr/>
          <p:nvPr/>
        </p:nvSpPr>
        <p:spPr>
          <a:xfrm>
            <a:off x="6141720" y="1234440"/>
            <a:ext cx="1318260" cy="1635760"/>
          </a:xfrm>
          <a:prstGeom prst="bevel">
            <a:avLst>
              <a:gd name="adj" fmla="val 2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bevel</a:t>
            </a:r>
          </a:p>
        </p:txBody>
      </p:sp>
      <p:sp>
        <p:nvSpPr>
          <p:cNvPr id="75" name="frame"/>
          <p:cNvSpPr/>
          <p:nvPr/>
        </p:nvSpPr>
        <p:spPr>
          <a:xfrm>
            <a:off x="7551420" y="1234440"/>
            <a:ext cx="1318260" cy="1635760"/>
          </a:xfrm>
          <a:prstGeom prst="frame">
            <a:avLst>
              <a:gd name="adj1" fmla="val 2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frame</a:t>
            </a:r>
          </a:p>
        </p:txBody>
      </p:sp>
      <p:sp>
        <p:nvSpPr>
          <p:cNvPr id="76" name="halfFrame"/>
          <p:cNvSpPr/>
          <p:nvPr/>
        </p:nvSpPr>
        <p:spPr>
          <a:xfrm>
            <a:off x="8961120" y="1234440"/>
            <a:ext cx="1318260" cy="1635760"/>
          </a:xfrm>
          <a:prstGeom prst="halfFrame">
            <a:avLst>
              <a:gd name="adj1" fmla="val 40000"/>
              <a:gd name="adj2" fmla="val 3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halfFrame</a:t>
            </a:r>
          </a:p>
        </p:txBody>
      </p:sp>
      <p:sp>
        <p:nvSpPr>
          <p:cNvPr id="77" name="corner"/>
          <p:cNvSpPr/>
          <p:nvPr/>
        </p:nvSpPr>
        <p:spPr>
          <a:xfrm>
            <a:off x="10370820" y="1234440"/>
            <a:ext cx="1318260" cy="1635760"/>
          </a:xfrm>
          <a:prstGeom prst="corner">
            <a:avLst>
              <a:gd name="adj1" fmla="val 40000"/>
              <a:gd name="adj2" fmla="val 4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corner</a:t>
            </a:r>
          </a:p>
        </p:txBody>
      </p:sp>
      <p:sp>
        <p:nvSpPr>
          <p:cNvPr id="78" name="triangle"/>
          <p:cNvSpPr/>
          <p:nvPr/>
        </p:nvSpPr>
        <p:spPr>
          <a:xfrm>
            <a:off x="502920" y="2961640"/>
            <a:ext cx="1318260" cy="1635760"/>
          </a:xfrm>
          <a:prstGeom prst="triangle">
            <a:avLst>
              <a:gd name="adj" fmla="val 2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triangle</a:t>
            </a:r>
          </a:p>
        </p:txBody>
      </p:sp>
      <p:sp>
        <p:nvSpPr>
          <p:cNvPr id="79" name="parallelogram"/>
          <p:cNvSpPr/>
          <p:nvPr/>
        </p:nvSpPr>
        <p:spPr>
          <a:xfrm>
            <a:off x="1912620" y="2961640"/>
            <a:ext cx="1318260" cy="1635760"/>
          </a:xfrm>
          <a:prstGeom prst="parallelogram">
            <a:avLst>
              <a:gd name="adj" fmla="val 35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parallelogram</a:t>
            </a:r>
          </a:p>
        </p:txBody>
      </p:sp>
      <p:sp>
        <p:nvSpPr>
          <p:cNvPr id="80" name="trapezoid"/>
          <p:cNvSpPr/>
          <p:nvPr/>
        </p:nvSpPr>
        <p:spPr>
          <a:xfrm>
            <a:off x="3322320" y="2961640"/>
            <a:ext cx="1318260" cy="1635760"/>
          </a:xfrm>
          <a:prstGeom prst="trapezoid">
            <a:avLst>
              <a:gd name="adj" fmla="val 3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trapezoid</a:t>
            </a:r>
          </a:p>
        </p:txBody>
      </p:sp>
      <p:sp>
        <p:nvSpPr>
          <p:cNvPr id="81" name="hexagon"/>
          <p:cNvSpPr/>
          <p:nvPr/>
        </p:nvSpPr>
        <p:spPr>
          <a:xfrm>
            <a:off x="4732020" y="2961640"/>
            <a:ext cx="1318260" cy="1635760"/>
          </a:xfrm>
          <a:prstGeom prst="hexagon">
            <a:avLst>
              <a:gd name="adj" fmla="val 30000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hexagon</a:t>
            </a:r>
          </a:p>
        </p:txBody>
      </p:sp>
      <p:sp>
        <p:nvSpPr>
          <p:cNvPr id="82" name="pentagon"/>
          <p:cNvSpPr/>
          <p:nvPr/>
        </p:nvSpPr>
        <p:spPr>
          <a:xfrm>
            <a:off x="6141720" y="2961640"/>
            <a:ext cx="1318260" cy="163576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pentagon</a:t>
            </a:r>
          </a:p>
        </p:txBody>
      </p:sp>
      <p:sp>
        <p:nvSpPr>
          <p:cNvPr id="83" name="star5"/>
          <p:cNvSpPr/>
          <p:nvPr/>
        </p:nvSpPr>
        <p:spPr>
          <a:xfrm>
            <a:off x="7551420" y="2961640"/>
            <a:ext cx="1318260" cy="163576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star5</a:t>
            </a:r>
          </a:p>
        </p:txBody>
      </p:sp>
      <p:sp>
        <p:nvSpPr>
          <p:cNvPr id="84" name="donut"/>
          <p:cNvSpPr/>
          <p:nvPr/>
        </p:nvSpPr>
        <p:spPr>
          <a:xfrm>
            <a:off x="8961120" y="2961640"/>
            <a:ext cx="1318260" cy="1635760"/>
          </a:xfrm>
          <a:prstGeom prst="donut">
            <a:avLst>
              <a:gd name="adj" fmla="val 3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donut</a:t>
            </a:r>
          </a:p>
        </p:txBody>
      </p:sp>
      <p:sp>
        <p:nvSpPr>
          <p:cNvPr id="85" name="pie"/>
          <p:cNvSpPr/>
          <p:nvPr/>
        </p:nvSpPr>
        <p:spPr>
          <a:xfrm>
            <a:off x="10370820" y="2961640"/>
            <a:ext cx="1318260" cy="1635760"/>
          </a:xfrm>
          <a:prstGeom prst="pie">
            <a:avLst>
              <a:gd name="adj1" fmla="val 1800000"/>
              <a:gd name="adj2" fmla="val 1440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pie</a:t>
            </a:r>
          </a:p>
        </p:txBody>
      </p:sp>
      <p:sp>
        <p:nvSpPr>
          <p:cNvPr id="86" name="arc"/>
          <p:cNvSpPr/>
          <p:nvPr/>
        </p:nvSpPr>
        <p:spPr>
          <a:xfrm>
            <a:off x="502920" y="4688840"/>
            <a:ext cx="1318260" cy="163576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arc</a:t>
            </a:r>
          </a:p>
        </p:txBody>
      </p:sp>
      <p:sp>
        <p:nvSpPr>
          <p:cNvPr id="87" name="chord"/>
          <p:cNvSpPr/>
          <p:nvPr/>
        </p:nvSpPr>
        <p:spPr>
          <a:xfrm>
            <a:off x="1912620" y="4688840"/>
            <a:ext cx="1318260" cy="163576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chord</a:t>
            </a:r>
          </a:p>
        </p:txBody>
      </p:sp>
      <p:sp>
        <p:nvSpPr>
          <p:cNvPr id="88" name="blockArc"/>
          <p:cNvSpPr/>
          <p:nvPr/>
        </p:nvSpPr>
        <p:spPr>
          <a:xfrm>
            <a:off x="3322320" y="4688840"/>
            <a:ext cx="1318260" cy="1635760"/>
          </a:xfrm>
          <a:prstGeom prst="blockArc">
            <a:avLst>
              <a:gd name="adj1" fmla="val 10800000"/>
              <a:gd name="adj2" fmla="val 5400000"/>
              <a:gd name="adj3" fmla="val 25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blockArc</a:t>
            </a:r>
          </a:p>
        </p:txBody>
      </p:sp>
      <p:sp>
        <p:nvSpPr>
          <p:cNvPr id="89" name="moon"/>
          <p:cNvSpPr/>
          <p:nvPr/>
        </p:nvSpPr>
        <p:spPr>
          <a:xfrm>
            <a:off x="4732020" y="4688840"/>
            <a:ext cx="1318260" cy="1635760"/>
          </a:xfrm>
          <a:prstGeom prst="moon">
            <a:avLst>
              <a:gd name="adj" fmla="val 60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moon</a:t>
            </a:r>
          </a:p>
        </p:txBody>
      </p:sp>
      <p:sp>
        <p:nvSpPr>
          <p:cNvPr id="90" name="smileyFace"/>
          <p:cNvSpPr/>
          <p:nvPr/>
        </p:nvSpPr>
        <p:spPr>
          <a:xfrm>
            <a:off x="6141720" y="4688840"/>
            <a:ext cx="1318260" cy="1635760"/>
          </a:xfrm>
          <a:prstGeom prst="smileyFace">
            <a:avLst>
              <a:gd name="adj" fmla="val -20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smileyFace</a:t>
            </a:r>
          </a:p>
        </p:txBody>
      </p:sp>
      <p:sp>
        <p:nvSpPr>
          <p:cNvPr id="91" name="circularArrow"/>
          <p:cNvSpPr/>
          <p:nvPr/>
        </p:nvSpPr>
        <p:spPr>
          <a:xfrm>
            <a:off x="7551420" y="4688840"/>
            <a:ext cx="1318260" cy="16357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250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circularArrow</a:t>
            </a:r>
          </a:p>
        </p:txBody>
      </p:sp>
      <p:sp>
        <p:nvSpPr>
          <p:cNvPr id="92" name="actionButtonSound"/>
          <p:cNvSpPr/>
          <p:nvPr/>
        </p:nvSpPr>
        <p:spPr>
          <a:xfrm>
            <a:off x="8961120" y="4688840"/>
            <a:ext cx="1318260" cy="1635760"/>
          </a:xfrm>
          <a:prstGeom prst="actionButtonSound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actionButtonSound</a:t>
            </a:r>
          </a:p>
        </p:txBody>
      </p:sp>
      <p:sp>
        <p:nvSpPr>
          <p:cNvPr id="93" name="wedgeRoundRectCallout"/>
          <p:cNvSpPr/>
          <p:nvPr/>
        </p:nvSpPr>
        <p:spPr>
          <a:xfrm>
            <a:off x="10370820" y="4688840"/>
            <a:ext cx="1318260" cy="163576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wedgeRoundRectCallout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a05 geometry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