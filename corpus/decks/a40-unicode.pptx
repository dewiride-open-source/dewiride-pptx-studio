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%201.png"/><Relationship Id="rId3" Type="http://schemas.openxmlformats.org/officeDocument/2006/relationships/image" Target="../media/image+2,~!()$@'.png"/><Relationship Id="rId4" Type="http://schemas.openxmlformats.org/officeDocument/2006/relationships/image" Target="../media/IMAGE-3.PNG"/><Relationship Id="rId5" Type="http://schemas.openxmlformats.org/officeDocument/2006/relationships/image" Target="../media/image%23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a40 — four part names no producer writes</a:t>
            </a:r>
          </a:p>
        </p:txBody>
      </p:sp>
      <p:pic>
        <p:nvPicPr>
          <p:cNvPr id="10" name="Escaped space" descr="ppt/media/image%201.png — a percent-escaped space, measured accep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914400" cy="914400"/>
          </a:xfrm>
          <a:prstGeom prst="rect">
            <a:avLst/>
          </a:prstGeom>
        </p:spPr>
      </p:pic>
      <p:sp>
        <p:nvSpPr>
          <p:cNvPr id="11" name="Escaped space"/>
          <p:cNvSpPr/>
          <p:nvPr/>
        </p:nvSpPr>
        <p:spPr>
          <a:xfrm>
            <a:off x="1508760" y="1234440"/>
            <a:ext cx="454152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image%201.png</a:t>
            </a:r>
          </a:p>
          <a:p>
            <a:pPr algn="ctr"/>
            <a:r>
              <a:rPr sz="1000" b="0"/>
              <a:t>opens. The literal space</a:t>
            </a:r>
          </a:p>
          <a:p>
            <a:pPr algn="ctr"/>
            <a:r>
              <a:rPr sz="1000" b="0"/>
              <a:t>is refused with 0x808D1001.</a:t>
            </a:r>
          </a:p>
        </p:txBody>
      </p:sp>
      <p:pic>
        <p:nvPicPr>
          <p:cNvPr id="12" name="pchar punctuation" descr="ppt/media/image+2,~!()$@'.png — sub-delims, all of them pch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0" y="1234440"/>
            <a:ext cx="914400" cy="914400"/>
          </a:xfrm>
          <a:prstGeom prst="rect">
            <a:avLst/>
          </a:prstGeom>
        </p:spPr>
      </p:pic>
      <p:sp>
        <p:nvSpPr>
          <p:cNvPr id="13" name="Punctuation"/>
          <p:cNvSpPr/>
          <p:nvPr/>
        </p:nvSpPr>
        <p:spPr>
          <a:xfrm>
            <a:off x="7147560" y="1234440"/>
            <a:ext cx="454152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image+2,~!()$@'.png</a:t>
            </a:r>
          </a:p>
          <a:p>
            <a:pPr algn="ctr"/>
            <a:r>
              <a:rPr sz="1000" b="0"/>
              <a:t>Every one of these is pchar,</a:t>
            </a:r>
          </a:p>
          <a:p>
            <a:pPr algn="ctr"/>
            <a:r>
              <a:rPr sz="1000" b="0"/>
              <a:t>and none is ever written.</a:t>
            </a:r>
          </a:p>
        </p:txBody>
      </p:sp>
      <p:pic>
        <p:nvPicPr>
          <p:cNvPr id="14" name="Mixed case" descr="ppt/media/IMAGE-3.PNG — stored as written, compared case-insensitivel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25240"/>
            <a:ext cx="914400" cy="914400"/>
          </a:xfrm>
          <a:prstGeom prst="rect">
            <a:avLst/>
          </a:prstGeom>
        </p:spPr>
      </p:pic>
      <p:sp>
        <p:nvSpPr>
          <p:cNvPr id="15" name="Mixed case"/>
          <p:cNvSpPr/>
          <p:nvPr/>
        </p:nvSpPr>
        <p:spPr>
          <a:xfrm>
            <a:off x="1508760" y="3825240"/>
            <a:ext cx="454152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IMAGE-3.PNG</a:t>
            </a:r>
          </a:p>
          <a:p>
            <a:pPr algn="ctr"/>
            <a:r>
              <a:rPr sz="1000" b="0"/>
              <a:t>The Default keys on "png" and</a:t>
            </a:r>
          </a:p>
          <a:p>
            <a:pPr algn="ctr"/>
            <a:r>
              <a:rPr sz="1000" b="0"/>
              <a:t>the extension here is "PNG".</a:t>
            </a:r>
          </a:p>
        </p:txBody>
      </p:sp>
      <p:pic>
        <p:nvPicPr>
          <p:cNvPr id="16" name="Over-encoded" descr="ppt/media/image%234.png — %23 is &quot;#&quot;, an escape that is requir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720" y="3825240"/>
            <a:ext cx="914400" cy="914400"/>
          </a:xfrm>
          <a:prstGeom prst="rect">
            <a:avLst/>
          </a:prstGeom>
        </p:spPr>
      </p:pic>
      <p:sp>
        <p:nvSpPr>
          <p:cNvPr id="17" name="A required escape"/>
          <p:cNvSpPr/>
          <p:nvPr/>
        </p:nvSpPr>
        <p:spPr>
          <a:xfrm>
            <a:off x="7147560" y="3825240"/>
            <a:ext cx="454152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image%234.png</a:t>
            </a:r>
          </a:p>
          <a:p>
            <a:pPr algn="ctr"/>
            <a:r>
              <a:rPr sz="1000" b="0"/>
              <a:t>%23 is "#", not pchar, so it must be</a:t>
            </a:r>
          </a:p>
          <a:p>
            <a:pPr algn="ctr"/>
            <a:r>
              <a:rPr sz="1000" b="0"/>
              <a:t>escaped. im%61ge-4.png is refused.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a40 — text at the edges of XML 1.0</a:t>
            </a:r>
          </a:p>
        </p:txBody>
      </p:sp>
      <p:sp>
        <p:nvSpPr>
          <p:cNvPr id="10" name="Astral characters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lang="en-GB" sz="1000" b="1" dirty="0"/>
              <a:t>astral: one character, two code units</a:t>
            </a:r>
          </a:p>
          <a:p>
            <a:pPr algn="ctr"/>
            <a:r>
              <a:rPr lang="en-GB" sz="1600" dirty="0"/>
              <a:t>𝕏📄𠮷</a:t>
            </a:r>
          </a:p>
        </p:txBody>
      </p:sp>
      <p:sp>
        <p:nvSpPr>
          <p:cNvPr id="11" name="Combining marks and bidi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lang="en-GB" sz="1000" b="1" dirty="0"/>
              <a:t>combining mark, then U+202E</a:t>
            </a:r>
          </a:p>
          <a:p>
            <a:pPr algn="ctr"/>
            <a:r>
              <a:rPr lang="en-GB" sz="1600" dirty="0"/>
              <a:t>école ‮reversed‬ back</a:t>
            </a:r>
          </a:p>
        </p:txBody>
      </p:sp>
      <p:sp>
        <p:nvSpPr>
          <p:cNvPr id="12" name="Carriage returns, two spellings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lang="en-GB" sz="1000" b="1" dirty="0"/>
              <a:t>a literal CR is normalised; &amp;#13; is not</a:t>
            </a:r>
          </a:p>
          <a:p>
            <a:pPr algn="ctr"/>
            <a:r>
              <a:rPr lang="en-GB" sz="1600" dirty="0"/>
              <a:t>beforeafter</a:t>
            </a:r>
          </a:p>
        </p:txBody>
      </p:sp>
      <p:sp>
        <p:nvSpPr>
          <p:cNvPr id="13" name="Replacement and zero width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lang="en-GB" sz="1000" b="1" dirty="0"/>
              <a:t>U+FFFD, ZWJ, ZWNJ, NBSP</a:t>
            </a:r>
          </a:p>
          <a:p>
            <a:pPr algn="ctr"/>
            <a:r>
              <a:rPr lang="en-GB" sz="1600" dirty="0"/>
              <a:t>a�b‍c‌d 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a40 — the same content in an attribute</a:t>
            </a:r>
          </a:p>
        </p:txBody>
      </p:sp>
      <p:sp>
        <p:nvSpPr>
          <p:cNvPr id="10" name="quote &quot; ampersand &amp; angle &lt; &gt;" descr="quote &quot; ampersand &amp; angle &lt; &gt; — every one of these needs escaping in @descr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@name and @descr</a:t>
            </a:r>
          </a:p>
          <a:p>
            <a:pPr algn="ctr"/>
            <a:r>
              <a:rPr sz="1000"/>
              <a:t>quote " ampersand &amp; angle &lt; &gt;</a:t>
            </a:r>
          </a:p>
          <a:p>
            <a:pPr algn="ctr"/>
            <a:r>
              <a:rPr sz="1000"/>
              <a:t>&amp;quot; is the fourth entity</a:t>
            </a:r>
          </a:p>
        </p:txBody>
      </p:sp>
      <p:sp>
        <p:nvSpPr>
          <p:cNvPr id="11" name="Astral in a name: 𝕏📄" descr="Astral characters in an attribute: 𝕏 📄 𠮷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astral in @name and @descr</a:t>
            </a:r>
          </a:p>
          <a:p>
            <a:pPr algn="ctr"/>
            <a:r>
              <a:rPr sz="1000"/>
              <a:t>written as UTF-8, not as a reference</a:t>
            </a:r>
          </a:p>
        </p:txBody>
      </p:sp>
      <p:sp>
        <p:nvSpPr>
          <p:cNvPr id="12" name="Bidi in a name: ‮reversed‬" descr="A right-to-left override inside an attribute value: ‮reversed‬ back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U+202E in @name</a:t>
            </a:r>
          </a:p>
          <a:p>
            <a:pPr algn="ctr"/>
            <a:r>
              <a:rPr sz="1000"/>
              <a:t>invisible, and it reverses the pane</a:t>
            </a:r>
          </a:p>
        </p:txBody>
      </p:sp>
      <p:sp>
        <p:nvSpPr>
          <p:cNvPr id="13" name="What is deliberately absent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no #x0-#x8, #xB, #xC, #xE-#x1F</a:t>
            </a:r>
          </a:p>
          <a:p>
            <a:pPr algn="ctr"/>
            <a:r>
              <a:rPr sz="1000" b="0"/>
              <a:t>no #xFFFE or #xFFFF, in any spelling:</a:t>
            </a:r>
          </a:p>
          <a:p>
            <a:pPr algn="ctr"/>
            <a:r>
              <a:rPr sz="1000" b="0"/>
              <a:t>XML 1.0 forbids them, so corpus/reject/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a40 unicode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