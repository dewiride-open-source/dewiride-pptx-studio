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a38 — extents that are zero, or nearly</a:t>
            </a:r>
          </a:p>
        </p:txBody>
      </p:sp>
      <p:sp>
        <p:nvSpPr>
          <p:cNvPr id="10" name="Zero in both axes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a:ext cx="0" cy="0"</a:t>
            </a:r>
          </a:p>
          <a:p>
            <a:pPr algn="ctr"/>
            <a:r>
              <a:rPr sz="1100" b="0"/>
              <a:t>the marker below it has no area</a:t>
            </a:r>
          </a:p>
          <a:p>
            <a:pPr algn="ctr"/>
            <a:r>
              <a:rPr sz="1100" b="0"/>
              <a:t>and is still a shape in the tree</a:t>
            </a:r>
          </a:p>
        </p:txBody>
      </p:sp>
      <p:sp>
        <p:nvSpPr>
          <p:cNvPr id="11" name="Zero extent marker"/>
          <p:cNvSpPr/>
          <p:nvPr/>
        </p:nvSpPr>
        <p:spPr>
          <a:xfrm>
            <a:off x="594360" y="3642360"/>
            <a:ext cx="0" cy="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Zero in one axis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a:ext cx="0" cy="914400"</a:t>
            </a:r>
          </a:p>
          <a:p>
            <a:pPr algn="ctr"/>
            <a:r>
              <a:rPr sz="1100" b="0"/>
              <a:t>an aspect ratio of zero,</a:t>
            </a:r>
          </a:p>
          <a:p>
            <a:pPr algn="ctr"/>
            <a:r>
              <a:rPr sz="1100" b="0"/>
              <a:t>not of one</a:t>
            </a:r>
          </a:p>
        </p:txBody>
      </p:sp>
      <p:sp>
        <p:nvSpPr>
          <p:cNvPr id="13" name="Zero width marker"/>
          <p:cNvSpPr/>
          <p:nvPr/>
        </p:nvSpPr>
        <p:spPr>
          <a:xfrm>
            <a:off x="6233160" y="1325880"/>
            <a:ext cx="0" cy="457200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One EMU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a:ext cx="1" cy="1"</a:t>
            </a:r>
          </a:p>
          <a:p>
            <a:pPr algn="ctr"/>
            <a:r>
              <a:rPr sz="1100" b="0"/>
              <a:t>a 1/914400 inch shape.</a:t>
            </a:r>
          </a:p>
          <a:p>
            <a:pPr algn="ctr"/>
            <a:r>
              <a:rPr sz="1100" b="0"/>
              <a:t>Legal, and rounds to nothing.</a:t>
            </a:r>
          </a:p>
        </p:txBody>
      </p:sp>
      <p:sp>
        <p:nvSpPr>
          <p:cNvPr id="15" name="One EMU marker"/>
          <p:cNvSpPr/>
          <p:nvPr/>
        </p:nvSpPr>
        <p:spPr>
          <a:xfrm>
            <a:off x="594360" y="3916680"/>
            <a:ext cx="1" cy="1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Zero path space"/>
          <p:cNvSpPr/>
          <p:nvPr/>
        </p:nvSpPr>
        <p:spPr>
          <a:xfrm>
            <a:off x="6141720" y="3825240"/>
            <a:ext cx="5547360" cy="2499360"/>
          </a:xfrm>
          <a:custGeom>
            <a:avLst/>
            <a:gdLst/>
            <a:ahLst/>
            <a:cxnLst/>
            <a:rect l="0" t="0" r="0" b="0"/>
            <a:pathLst>
              <a:path w="0" h="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anchor="b"/>
          <a:lstStyle/>
          <a:p>
            <a:pPr algn="ctr"/>
            <a:r>
              <a:rPr sz="1100" b="1"/>
              <a:t>a:path w="0" h="0"</a:t>
            </a:r>
          </a:p>
          <a:p>
            <a:pPr algn="ctr"/>
            <a:r>
              <a:rPr sz="1100"/>
              <a:t>no path-space scaling:</a:t>
            </a:r>
          </a:p>
          <a:p>
            <a:pPr algn="ctr"/>
            <a:r>
              <a:rPr sz="1100"/>
              <a:t>the pt values are EMU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a38 — groups with no space and no children</a:t>
            </a:r>
          </a:p>
        </p:txBody>
      </p:sp>
      <p:sp>
        <p:nvSpPr>
          <p:cNvPr id="10" name="Zero child space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a:chExt cx="0" cy="0"</a:t>
            </a:r>
          </a:p>
          <a:p>
            <a:pPr algn="ctr"/>
            <a:r>
              <a:rPr sz="1100" b="0"/>
              <a:t>specified as a scale of 1.0,</a:t>
            </a:r>
          </a:p>
          <a:p>
            <a:pPr algn="ctr"/>
            <a:r>
              <a:rPr sz="1100" b="0"/>
              <a:t>not as a division by zero</a:t>
            </a:r>
          </a:p>
        </p:txBody>
      </p:sp>
      <p:grpSp>
        <p:nvGrpSpPr>
          <p:cNvPr id="11" name="Group with a zero child space"/>
          <p:cNvGrpSpPr/>
          <p:nvPr/>
        </p:nvGrpSpPr>
        <p:grpSpPr>
          <a:xfrm>
            <a:off x="6141720" y="1234440"/>
            <a:ext cx="5547360" cy="2499360"/>
            <a:chOff x="0" y="0"/>
            <a:chExt cx="0" cy="0"/>
          </a:xfrm>
        </p:grpSpPr>
        <p:sp>
          <p:nvSpPr>
            <p:cNvPr id="12" name="Child at scale one"/>
            <p:cNvSpPr/>
            <p:nvPr/>
          </p:nvSpPr>
          <p:spPr>
            <a:xfrm>
              <a:off x="91440" y="91440"/>
              <a:ext cx="914400" cy="457200"/>
            </a:xfrm>
            <a:prstGeom prst="rect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with no children at all"/>
          <p:cNvGrpSpPr/>
          <p:nvPr/>
        </p:nvGrpSpPr>
        <p:grpSpPr>
          <a:xfrm>
            <a:off x="502920" y="3825240"/>
            <a:ext cx="5547360" cy="2499360"/>
            <a:chOff x="502920" y="3825240"/>
            <a:chExt cx="5547360" cy="2499360"/>
          </a:xfrm>
        </p:grpSpPr>
      </p:grpSp>
      <p:sp>
        <p:nvSpPr>
          <p:cNvPr id="14" name="Empty group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p:grpSp with no children</a:t>
            </a:r>
          </a:p>
          <a:p>
            <a:pPr algn="ctr"/>
            <a:r>
              <a:rPr sz="1100" b="0"/>
              <a:t>legal: CT_GroupShape allows zero.</a:t>
            </a:r>
          </a:p>
          <a:p>
            <a:pPr algn="ctr"/>
            <a:r>
              <a:rPr sz="1100" b="0"/>
              <a:t>Bounds-of-children has no answer.</a:t>
            </a:r>
          </a:p>
        </p:txBody>
      </p:sp>
      <p:sp>
        <p:nvSpPr>
          <p:cNvPr id="15" name="Empty text body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a38 degenerate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