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a36 — four spellings of the same self-closing tag</a:t>
            </a:r>
          </a:p>
        </p:txBody>
      </p:sp>
      <p:sp>
        <p:nvSpPr>
          <p:cNvPr id="10" name="Tight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tight</a:t>
            </a:r>
          </a:p>
          <a:p>
            <a:pPr algn="ctr"/>
            <a:r>
              <a:rPr sz="1200" b="0"/>
              <a:t>&lt;a:off .../&gt;</a:t>
            </a:r>
          </a:p>
          <a:p>
            <a:pPr algn="ctr"/>
            <a:r>
              <a:rPr sz="1200" b="0"/>
              <a:t>what we emit</a:t>
            </a:r>
          </a:p>
        </p:txBody>
      </p:sp>
      <p:sp>
        <p:nvSpPr>
          <p:cNvPr id="11" name="One space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one space</a:t>
            </a:r>
          </a:p>
          <a:p>
            <a:pPr algn="ctr"/>
            <a:r>
              <a:rPr sz="1200" b="0"/>
              <a:t>&lt;a:off ... /&gt;</a:t>
            </a:r>
          </a:p>
          <a:p>
            <a:pPr algn="ctr"/>
            <a:r>
              <a:rPr sz="1200" b="0"/>
              <a:t>ChartEx writes this</a:t>
            </a:r>
          </a:p>
        </p:txBody>
      </p:sp>
      <p:sp>
        <p:nvSpPr>
          <p:cNvPr id="12" name="Two spaces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two spaces</a:t>
            </a:r>
          </a:p>
          <a:p>
            <a:pPr algn="ctr"/>
            <a:r>
              <a:rPr sz="1200" b="0"/>
              <a:t>&lt;a:off ...  /&gt;</a:t>
            </a:r>
          </a:p>
          <a:p>
            <a:pPr algn="ctr"/>
            <a:r>
              <a:rPr sz="1200" b="0"/>
              <a:t>S is one or more</a:t>
            </a:r>
          </a:p>
        </p:txBody>
      </p:sp>
      <p:sp>
        <p:nvSpPr>
          <p:cNvPr id="13" name="A tab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a tab</a:t>
            </a:r>
          </a:p>
          <a:p>
            <a:pPr algn="ctr"/>
            <a:r>
              <a:rPr sz="1200" b="0"/>
              <a:t>&lt;a:off ...\t/&gt;</a:t>
            </a:r>
          </a:p>
          <a:p>
            <a:pPr algn="ctr"/>
            <a:r>
              <a:rPr sz="1200" b="0"/>
              <a:t>a tab is S too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a36 — whitespace and quoting inside markup</a:t>
            </a:r>
          </a:p>
        </p:txBody>
      </p:sp>
      <p:sp>
        <p:nvSpPr>
          <p:cNvPr id="10" name="Single quoted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single quotes</a:t>
            </a:r>
          </a:p>
          <a:p>
            <a:pPr algn="ctr"/>
            <a:r>
              <a:rPr sz="1200" b="0"/>
              <a:t>val='75000'</a:t>
            </a:r>
          </a:p>
          <a:p>
            <a:pPr algn="ctr"/>
            <a:r>
              <a:rPr sz="1200" b="0"/>
              <a:t>recorded per attribute</a:t>
            </a:r>
          </a:p>
        </p:txBody>
      </p:sp>
      <p:sp>
        <p:nvSpPr>
          <p:cNvPr id="11" name="Spaced equals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spaced equals</a:t>
            </a:r>
          </a:p>
          <a:p>
            <a:pPr algn="ctr"/>
            <a:r>
              <a:rPr sz="1200" b="0"/>
              <a:t>val = "75000"</a:t>
            </a:r>
          </a:p>
          <a:p>
            <a:pPr algn="ctr"/>
            <a:r>
              <a:rPr sz="1200" b="0"/>
              <a:t>Eq ::= S? = S?</a:t>
            </a:r>
          </a:p>
        </p:txBody>
      </p:sp>
      <p:sp>
        <p:nvSpPr>
          <p:cNvPr id="12" name="Tag gap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gap before &gt;</a:t>
            </a:r>
          </a:p>
          <a:p>
            <a:pPr algn="ctr"/>
            <a:r>
              <a:rPr sz="1200" b="0"/>
              <a:t>&lt;p:spPr &gt; and &lt;/a:xfrm &gt;</a:t>
            </a:r>
          </a:p>
          <a:p>
            <a:pPr algn="ctr"/>
            <a:r>
              <a:rPr sz="1200" b="0"/>
              <a:t>STag and ETag both</a:t>
            </a:r>
          </a:p>
        </p:txBody>
      </p:sp>
      <p:sp>
        <p:nvSpPr>
          <p:cNvPr id="13" name="All of them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all four at once</a:t>
            </a:r>
          </a:p>
          <a:p>
            <a:pPr algn="ctr"/>
            <a:r>
              <a:rPr sz="1200" b="0"/>
              <a:t>spaced, quoted, gapped</a:t>
            </a:r>
          </a:p>
          <a:p>
            <a:pPr algn="ctr"/>
            <a:r>
              <a:rPr sz="1200" b="0"/>
              <a:t>still well-formed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a36 — siblings that disagree</a:t>
            </a:r>
          </a:p>
        </p:txBody>
      </p:sp>
      <p:sp>
        <p:nvSpPr>
          <p:cNvPr id="10" name="Sibling tight"/>
          <p:cNvSpPr/>
          <p:nvPr/>
        </p:nvSpPr>
        <p:spPr>
          <a:xfrm>
            <a:off x="502920" y="1234440"/>
            <a:ext cx="5547360" cy="249936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sibling 1</a:t>
            </a:r>
          </a:p>
          <a:p>
            <a:pPr algn="ctr"/>
            <a:r>
              <a:rPr sz="1200" b="0"/>
              <a:t>tight</a:t>
            </a:r>
          </a:p>
        </p:txBody>
      </p:sp>
      <p:sp>
        <p:nvSpPr>
          <p:cNvPr id="11" name="Sibling spaced"/>
          <p:cNvSpPr/>
          <p:nvPr/>
        </p:nvSpPr>
        <p:spPr>
          <a:xfrm>
            <a:off x="6141720" y="1234440"/>
            <a:ext cx="5547360" cy="249936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sibling 2</a:t>
            </a:r>
          </a:p>
          <a:p>
            <a:pPr algn="ctr"/>
            <a:r>
              <a:rPr sz="1200" b="0"/>
              <a:t>spaced</a:t>
            </a:r>
          </a:p>
        </p:txBody>
      </p:sp>
      <p:sp>
        <p:nvSpPr>
          <p:cNvPr id="12" name="Sibling tight again"/>
          <p:cNvSpPr/>
          <p:nvPr/>
        </p:nvSpPr>
        <p:spPr>
          <a:xfrm>
            <a:off x="502920" y="3825240"/>
            <a:ext cx="5547360" cy="2499360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sibling 3</a:t>
            </a:r>
          </a:p>
          <a:p>
            <a:pPr algn="ctr"/>
            <a:r>
              <a:rPr sz="1200" b="0"/>
              <a:t>tight</a:t>
            </a:r>
          </a:p>
        </p:txBody>
      </p:sp>
      <p:sp>
        <p:nvSpPr>
          <p:cNvPr id="13" name="Sibling spaced again"/>
          <p:cNvSpPr/>
          <p:nvPr/>
        </p:nvSpPr>
        <p:spPr>
          <a:xfrm>
            <a:off x="6141720" y="3825240"/>
            <a:ext cx="5547360" cy="249936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txBody>
          <a:bodyPr wrap="square" anchor="ctr"/>
          <a:lstStyle/>
          <a:p>
            <a:pPr algn="ctr"/>
            <a:r>
              <a:rPr sz="1200" b="1"/>
              <a:t>sibling 4</a:t>
            </a:r>
          </a:p>
          <a:p>
            <a:pPr algn="ctr"/>
            <a:r>
              <a:rPr sz="1200" b="0"/>
              <a:t>spaced</a:t>
            </a:r>
          </a:p>
          <a:p>
            <a:pPr algn="ctr"/>
            <a:r>
              <a:rPr sz="1200" b="0"/>
              <a:t>a part-level policy gets half of these wrong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a36 spaced tags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