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he title of the slide, from the layout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a19 — the four states of a p:cNvPr</a:t>
            </a:r>
          </a:p>
        </p:txBody>
      </p:sp>
      <p:sp>
        <p:nvSpPr>
          <p:cNvPr id="10" name="Described" descr="A bar chart showing revenue rising through the year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@descr only</a:t>
            </a:r>
          </a:p>
          <a:p>
            <a:pPr algn="ctr"/>
            <a:r>
              <a:rPr sz="1200"/>
              <a:t>the ordinary case</a:t>
            </a:r>
          </a:p>
        </p:txBody>
      </p:sp>
      <p:sp>
        <p:nvSpPr>
          <p:cNvPr id="11" name="Titled" title="Revenue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@title only</a:t>
            </a:r>
          </a:p>
          <a:p>
            <a:pPr algn="ctr"/>
            <a:r>
              <a:rPr sz="1200"/>
              <a:t>announced before @descr</a:t>
            </a:r>
          </a:p>
        </p:txBody>
      </p:sp>
      <p:sp>
        <p:nvSpPr>
          <p:cNvPr id="12" name="Both" descr="The quarterly figures, described at length for a reader who cannot see them" title="Quarterly figures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@title and @descr</a:t>
            </a:r>
          </a:p>
          <a:p>
            <a:pPr algn="ctr"/>
            <a:r>
              <a:rPr sz="1200"/>
              <a:t>both, on one shape</a:t>
            </a:r>
          </a:p>
        </p:txBody>
      </p:sp>
      <p:sp>
        <p:nvSpPr>
          <p:cNvPr id="13" name="Quoted description" descr="A pull quote reading &quot;the numbers speak for themselves&quot;, set in 24pt"/>
          <p:cNvSpPr/>
          <p:nvPr/>
        </p:nvSpPr>
        <p:spPr>
          <a:xfrm>
            <a:off x="502920" y="3825240"/>
            <a:ext cx="3667760" cy="249936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@descr with a double quote</a:t>
            </a:r>
          </a:p>
          <a:p>
            <a:pPr algn="ctr"/>
            <a:r>
              <a:rPr sz="1200"/>
              <a:t>written &amp;quot; by PowerPoint</a:t>
            </a:r>
          </a:p>
        </p:txBody>
      </p:sp>
      <p:sp>
        <p:nvSpPr>
          <p:cNvPr id="14" name="Decorativ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2120" y="3825240"/>
            <a:ext cx="3667760" cy="2499360"/>
          </a:xfrm>
          <a:prstGeom prst="rect">
            <a:avLst/>
          </a:prstGeom>
          <a:solidFill>
            <a:schemeClr val="accent5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adec:decorative val="1"</a:t>
            </a:r>
          </a:p>
          <a:p>
            <a:pPr algn="ctr"/>
            <a:r>
              <a:rPr sz="1200"/>
              <a:t>and no @descr — PowerPoint clears it</a:t>
            </a:r>
          </a:p>
        </p:txBody>
      </p:sp>
      <p:sp>
        <p:nvSpPr>
          <p:cNvPr id="15" name="Neither"/>
          <p:cNvSpPr/>
          <p:nvPr/>
        </p:nvSpPr>
        <p:spPr>
          <a:xfrm>
            <a:off x="8021320" y="3825240"/>
            <a:ext cx="3667760" cy="2499360"/>
          </a:xfrm>
          <a:prstGeom prst="rect">
            <a:avLst/>
          </a:prstGeom>
          <a:solidFill>
            <a:schemeClr val="accent6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no @descr, no @title,</a:t>
            </a:r>
          </a:p>
          <a:p>
            <a:pPr algn="ctr"/>
            <a:r>
              <a:rPr sz="1200"/>
              <a:t>no marker — the default, and a defect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a19 — decorative on a group, a picture and a placeholder</a:t>
            </a:r>
          </a:p>
        </p:txBody>
      </p:sp>
      <p:grpSp>
        <p:nvGrpSpPr>
          <p:cNvPr id="10" name="Decorative gro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200" y="1188720"/>
            <a:ext cx="3474720" cy="2286000"/>
            <a:chOff x="457200" y="1188720"/>
            <a:chExt cx="3474720" cy="2286000"/>
          </a:xfrm>
        </p:grpSpPr>
        <p:sp>
          <p:nvSpPr>
            <p:cNvPr id="11" name="Group child A"/>
            <p:cNvSpPr/>
            <p:nvPr/>
          </p:nvSpPr>
          <p:spPr>
            <a:xfrm>
              <a:off x="457200" y="1188720"/>
              <a:ext cx="1600200" cy="2286000"/>
            </a:xfrm>
            <a:prstGeom prst="rect">
              <a:avLst/>
            </a:prstGeom>
            <a:solidFill>
              <a:schemeClr val="accent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Group child B"/>
            <p:cNvSpPr/>
            <p:nvPr/>
          </p:nvSpPr>
          <p:spPr>
            <a:xfrm>
              <a:off x="2331720" y="1188720"/>
              <a:ext cx="1600200" cy="2286000"/>
            </a:xfrm>
            <a:prstGeom prst="rect">
              <a:avLst/>
            </a:prstGeom>
            <a:solidFill>
              <a:schemeClr val="accent2"/>
            </a:solidFill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3" name="Described picture" descr="A photograph of the building, taken from the north s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188720"/>
            <a:ext cx="3474720" cy="2286000"/>
          </a:xfrm>
          <a:prstGeom prst="rect">
            <a:avLst/>
          </a:prstGeom>
        </p:spPr>
      </p:pic>
      <p:pic>
        <p:nvPicPr>
          <p:cNvPr id="14" name="Decorative pictur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188720"/>
            <a:ext cx="3474720" cy="2286000"/>
          </a:xfrm>
          <a:prstGeom prst="rect">
            <a:avLst/>
          </a:prstGeom>
        </p:spPr>
      </p:pic>
      <p:sp>
        <p:nvSpPr>
          <p:cNvPr id="15" name="Described placeholder" descr="The agenda, as a bulleted list" title="Agenda"/>
          <p:cNvSpPr>
            <a:spLocks noGrp="1"/>
          </p:cNvSpPr>
          <p:nvPr>
            <p:ph type="body" idx="1"/>
          </p:nvPr>
        </p:nvSpPr>
        <p:spPr>
          <a:xfrm>
            <a:off x="457200" y="3703320"/>
            <a:ext cx="11277600" cy="1600200"/>
          </a:xfrm>
        </p:spPr>
        <p:txBody>
          <a:bodyPr/>
          <a:lstStyle/>
          <a:p>
            <a:r>
              <a:rPr/>
              <a:t>A placeholder carries @descr and @title like any other shape.</a:t>
            </a:r>
          </a:p>
        </p:txBody>
      </p:sp>
      <p:sp>
        <p:nvSpPr>
          <p:cNvPr id="16" name="Hidden but described" descr="A note to the presenter, hidden on the slide" hidden="1"/>
          <p:cNvSpPr/>
          <p:nvPr/>
        </p:nvSpPr>
        <p:spPr>
          <a:xfrm>
            <a:off x="8021320" y="3825240"/>
            <a:ext cx="3667760" cy="2499360"/>
          </a:xfrm>
          <a:prstGeom prst="rect">
            <a:avLst/>
          </a:prstGeom>
          <a:solidFill>
            <a:schemeClr val="accent6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@hidden="1"</a:t>
            </a:r>
          </a:p>
          <a:p>
            <a:pPr algn="ctr"/>
            <a:r>
              <a:rPr sz="1200"/>
              <a:t>in the tree, not drawn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a19 — reading order is p:spTree order, not position</a:t>
            </a:r>
          </a:p>
        </p:txBody>
      </p:sp>
      <p:sp>
        <p:nvSpPr>
          <p:cNvPr id="10" name="Reading order 1" descr="Shape 1 in document order, at grid position 6"/>
          <p:cNvSpPr/>
          <p:nvPr/>
        </p:nvSpPr>
        <p:spPr>
          <a:xfrm>
            <a:off x="8021320" y="3825240"/>
            <a:ext cx="3667760" cy="2499360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1 in p:spTree</a:t>
            </a:r>
          </a:p>
          <a:p>
            <a:pPr algn="ctr"/>
            <a:r>
              <a:rPr sz="1200"/>
              <a:t>position 6 on screen</a:t>
            </a:r>
          </a:p>
        </p:txBody>
      </p:sp>
      <p:sp>
        <p:nvSpPr>
          <p:cNvPr id="11" name="Reading order 2" descr="Shape 2 in document order, at grid position 5"/>
          <p:cNvSpPr/>
          <p:nvPr/>
        </p:nvSpPr>
        <p:spPr>
          <a:xfrm>
            <a:off x="4262120" y="3825240"/>
            <a:ext cx="3667760" cy="2499360"/>
          </a:xfrm>
          <a:prstGeom prst="rect">
            <a:avLst/>
          </a:prstGeom>
          <a:solidFill>
            <a:schemeClr val="accent2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2 in p:spTree</a:t>
            </a:r>
          </a:p>
          <a:p>
            <a:pPr algn="ctr"/>
            <a:r>
              <a:rPr sz="1200"/>
              <a:t>position 5 on screen</a:t>
            </a:r>
          </a:p>
        </p:txBody>
      </p:sp>
      <p:sp>
        <p:nvSpPr>
          <p:cNvPr id="12" name="Reading order 3" descr="Shape 3 in document order, at grid position 4"/>
          <p:cNvSpPr/>
          <p:nvPr/>
        </p:nvSpPr>
        <p:spPr>
          <a:xfrm>
            <a:off x="502920" y="3825240"/>
            <a:ext cx="3667760" cy="249936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3 in p:spTree</a:t>
            </a:r>
          </a:p>
          <a:p>
            <a:pPr algn="ctr"/>
            <a:r>
              <a:rPr sz="1200"/>
              <a:t>position 4 on screen</a:t>
            </a:r>
          </a:p>
        </p:txBody>
      </p:sp>
      <p:sp>
        <p:nvSpPr>
          <p:cNvPr id="13" name="Reading order 4" descr="Shape 4 in document order, at grid position 3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4 in p:spTree</a:t>
            </a:r>
          </a:p>
          <a:p>
            <a:pPr algn="ctr"/>
            <a:r>
              <a:rPr sz="1200"/>
              <a:t>position 3 on screen</a:t>
            </a:r>
          </a:p>
        </p:txBody>
      </p:sp>
      <p:sp>
        <p:nvSpPr>
          <p:cNvPr id="14" name="Reading order 5" descr="Shape 5 in document order, at grid position 2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accent5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5 in p:spTree</a:t>
            </a:r>
          </a:p>
          <a:p>
            <a:pPr algn="ctr"/>
            <a:r>
              <a:rPr sz="1200"/>
              <a:t>position 2 on screen</a:t>
            </a:r>
          </a:p>
        </p:txBody>
      </p:sp>
      <p:sp>
        <p:nvSpPr>
          <p:cNvPr id="15" name="Reading order 6" descr="Shape 6 in document order, at grid position 1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solidFill>
            <a:schemeClr val="accent6">
              <a:alpha val="25000"/>
            </a:schemeClr>
          </a:solidFill>
        </p:spPr>
        <p:txBody>
          <a:bodyPr wrap="square" anchor="ctr"/>
          <a:lstStyle/>
          <a:p>
            <a:pPr algn="ctr"/>
            <a:r>
              <a:rPr sz="1200"/>
              <a:t>6 in p:spTree</a:t>
            </a:r>
          </a:p>
          <a:p>
            <a:pPr algn="ctr"/>
            <a:r>
              <a:rPr sz="1200"/>
              <a:t>position 1 on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a19 decorative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