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a35 — two methods in one archive</a:t>
            </a:r>
          </a:p>
        </p:txBody>
      </p:sp>
      <p:pic>
        <p:nvPicPr>
          <p:cNvPr id="10" name="A compressible image" descr="Flat colour: DEFLATE wins, so this part is method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914400" cy="914400"/>
          </a:xfrm>
          <a:prstGeom prst="rect">
            <a:avLst/>
          </a:prstGeom>
        </p:spPr>
      </p:pic>
      <p:sp>
        <p:nvSpPr>
          <p:cNvPr id="11" name="This slide is stored"/>
          <p:cNvSpPr/>
          <p:nvPr/>
        </p:nvSpPr>
        <p:spPr>
          <a:xfrm>
            <a:off x="1508760" y="1234440"/>
            <a:ext cx="454152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ppt/slides/slide1.xml</a:t>
            </a:r>
          </a:p>
          <a:p>
            <a:pPr algn="ctr"/>
            <a:r>
              <a:rPr sz="1000" b="0"/>
              <a:t>method 0, in an archive where</a:t>
            </a:r>
          </a:p>
          <a:p>
            <a:pPr algn="ctr"/>
            <a:r>
              <a:rPr sz="1000" b="0"/>
              <a:t>most entries are method 8</a:t>
            </a:r>
          </a:p>
        </p:txBody>
      </p:sp>
      <p:pic>
        <p:nvPicPr>
          <p:cNvPr id="12" name="An incompressible image" descr="Noise: DEFLATE makes it larger, so this part is method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234440"/>
            <a:ext cx="914400" cy="914400"/>
          </a:xfrm>
          <a:prstGeom prst="rect">
            <a:avLst/>
          </a:prstGeom>
        </p:spPr>
      </p:pic>
      <p:sp>
        <p:nvSpPr>
          <p:cNvPr id="15" name="Noise is stored too"/>
          <p:cNvSpPr/>
          <p:nvPr/>
        </p:nvSpPr>
        <p:spPr>
          <a:xfrm>
            <a:off x="7147560" y="1234440"/>
            <a:ext cx="454152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ppt/media/image2.png</a:t>
            </a:r>
          </a:p>
          <a:p>
            <a:pPr algn="ctr"/>
            <a:r>
              <a:rPr sz="1000" b="0"/>
              <a:t>DEFLATE makes it larger, so the writer</a:t>
            </a:r>
          </a:p>
          <a:p>
            <a:pPr algn="ctr"/>
            <a:r>
              <a:rPr sz="1000" b="0"/>
              <a:t>stores it. Every ZIP writer has this branch.</a:t>
            </a:r>
          </a:p>
        </p:txBody>
      </p:sp>
      <p:sp>
        <p:nvSpPr>
          <p:cNvPr id="13" name="And most things deflate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The masters, the layouts, the theme.</a:t>
            </a:r>
          </a:p>
          <a:p>
            <a:pPr algn="ctr"/>
            <a:r>
              <a:rPr sz="1000" b="0"/>
              <a:t>This is the only deck in the corpus</a:t>
            </a:r>
          </a:p>
          <a:p>
            <a:pPr algn="ctr"/>
            <a:r>
              <a:rPr sz="1000" b="0"/>
              <a:t>where any of that is true.</a:t>
            </a:r>
          </a:p>
        </p:txBody>
      </p:sp>
      <p:sp>
        <p:nvSpPr>
          <p:cNvPr id="14" name="What it costs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C-REGEN for this deck depends on zlib.</a:t>
            </a:r>
          </a:p>
          <a:p>
            <a:pPr algn="ctr"/>
            <a:r>
              <a:rPr sz="1000" b="0"/>
              <a:t>For the other forty-one it does not,</a:t>
            </a:r>
          </a:p>
          <a:p>
            <a:pPr algn="ctr"/>
            <a:r>
              <a:rPr sz="1000" b="0"/>
              <a:t>which is why they all store.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a35 — the general-purpose flag bits</a:t>
            </a:r>
          </a:p>
        </p:txBody>
      </p:sp>
      <p:sp>
        <p:nvSpPr>
          <p:cNvPr id="10" name="What PowerPoint writes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0x0006 — bits 1 and 2</a:t>
            </a:r>
          </a:p>
          <a:p>
            <a:pPr algn="ctr"/>
            <a:r>
              <a:rPr sz="1000" b="0"/>
              <a:t>the deflate level hint: 11, super fast.</a:t>
            </a:r>
          </a:p>
          <a:p>
            <a:pPr algn="ctr"/>
            <a:r>
              <a:rPr sz="1000" b="0"/>
              <a:t>No decompressor reads them.</a:t>
            </a:r>
          </a:p>
        </p:txBody>
      </p:sp>
      <p:sp>
        <p:nvSpPr>
          <p:cNvPr id="11" name="On a stored entry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slide2.xml is method 0 and carries 0x0006.</a:t>
            </a:r>
          </a:p>
          <a:p>
            <a:pPr algn="ctr"/>
            <a:r>
              <a:rPr sz="1000" b="0"/>
              <a:t>The bits mean nothing for method 8</a:t>
            </a:r>
          </a:p>
          <a:p>
            <a:pPr algn="ctr"/>
            <a:r>
              <a:rPr sz="1000" b="0"/>
              <a:t>and less than nothing for method 0.</a:t>
            </a:r>
          </a:p>
        </p:txBody>
      </p:sp>
      <p:sp>
        <p:nvSpPr>
          <p:cNvPr id="12" name="Bit 11, which does mean something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0x0800 on slide3.xml</a:t>
            </a:r>
          </a:p>
          <a:p>
            <a:pPr algn="ctr"/>
            <a:r>
              <a:rPr sz="1000" b="0"/>
              <a:t>the entry name is UTF-8, not CP437.</a:t>
            </a:r>
          </a:p>
          <a:p>
            <a:pPr algn="ctr"/>
            <a:r>
              <a:rPr sz="1000" b="0"/>
              <a:t>PowerPoint never sets it.</a:t>
            </a:r>
          </a:p>
        </p:txBody>
      </p:sp>
      <p:sp>
        <p:nvSpPr>
          <p:cNvPr id="13" name="True and redundant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The name it is set on is pure ASCII,</a:t>
            </a:r>
          </a:p>
          <a:p>
            <a:pPr algn="ctr"/>
            <a:r>
              <a:rPr sz="1000" b="0"/>
              <a:t>where the two encodings agree —</a:t>
            </a:r>
          </a:p>
          <a:p>
            <a:pPr algn="ctr"/>
            <a:r>
              <a:rPr sz="1000" b="0"/>
              <a:t>the case to get right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a35 — the 0xa220 growth hint</a:t>
            </a:r>
          </a:p>
        </p:txBody>
      </p:sp>
      <p:sp>
        <p:nvSpPr>
          <p:cNvPr id="10" name="What it is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header id 0xa220, a length,</a:t>
            </a:r>
          </a:p>
          <a:p>
            <a:pPr algn="ctr"/>
            <a:r>
              <a:rPr sz="1000" b="0"/>
              <a:t>signature 0xa028, a padding value,</a:t>
            </a:r>
          </a:p>
          <a:p>
            <a:pPr algn="ctr"/>
            <a:r>
              <a:rPr sz="1000" b="0"/>
              <a:t>then that many zero bytes</a:t>
            </a:r>
          </a:p>
        </p:txBody>
      </p:sp>
      <p:sp>
        <p:nvSpPr>
          <p:cNvPr id="11" name="Where it i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The local header only, between the</a:t>
            </a:r>
          </a:p>
          <a:p>
            <a:pPr algn="ctr"/>
            <a:r>
              <a:rPr sz="1000" b="0"/>
              <a:t>file name and the payload. The central</a:t>
            </a:r>
          </a:p>
          <a:p>
            <a:pPr algn="ctr"/>
            <a:r>
              <a:rPr sz="1000" b="0"/>
              <a:t>directory entry has no extra field.</a:t>
            </a:r>
          </a:p>
        </p:txBody>
      </p:sp>
      <p:sp>
        <p:nvSpPr>
          <p:cNvPr id="12" name="Why it is there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So a part can be rewritten slightly larger</a:t>
            </a:r>
          </a:p>
          <a:p>
            <a:pPr algn="ctr"/>
            <a:r>
              <a:rPr sz="1000" b="0"/>
              <a:t>in place, without moving every entry</a:t>
            </a:r>
          </a:p>
          <a:p>
            <a:pPr algn="ctr"/>
            <a:r>
              <a:rPr sz="1000" b="0"/>
              <a:t>after it in the archive.</a:t>
            </a:r>
          </a:p>
        </p:txBody>
      </p:sp>
      <p:sp>
        <p:nvSpPr>
          <p:cNvPr id="13" name="Three lengths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000" b="1"/>
              <a:t>520 on [Content_Types].xml, as measured;</a:t>
            </a:r>
          </a:p>
          <a:p>
            <a:pPr algn="ctr"/>
            <a:r>
              <a:rPr sz="1000" b="0"/>
              <a:t>64 on presentation.xml; 128 on app.xml.</a:t>
            </a:r>
          </a:p>
          <a:p>
            <a:pPr algn="ctr"/>
            <a:r>
              <a:rPr sz="1000" b="0"/>
              <a:t>The length is per entry, not a constant.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a35 zip shapes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