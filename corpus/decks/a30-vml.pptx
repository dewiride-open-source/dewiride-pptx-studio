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https://example.invalid/corpus/vml-host.bin" TargetMode="External"/><Relationship Id="rId3" Type="http://schemas.openxmlformats.org/officeDocument/2006/relationships/image" Target="../media/image1.emf"/><Relationship Id="rId4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https://example.invalid/corpus/vml-host.bin" TargetMode="External"/><Relationship Id="rId3" Type="http://schemas.openxmlformats.org/officeDocument/2006/relationships/image" Target="../media/image1.emf"/><Relationship Id="rId4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a30 — an OLE site, and the VML part it names by string</a:t>
            </a:r>
          </a:p>
        </p:txBody>
      </p:sp>
      <p:graphicFrame>
        <p:nvGraphicFramePr>
          <p:cNvPr id="10" name="Site"/>
          <p:cNvGraphicFramePr/>
          <p:nvPr/>
        </p:nvGraphicFramePr>
        <p:xfrm>
          <a:off x="685800" y="1600200"/>
          <a:ext cx="4572000" cy="2286000"/>
        </p:xfrm>
        <a:graphic>
          <a:graphicData uri="http://schemas.openxmlformats.org/presentationml/2006/ole">
            <p:oleObj spid="_x0000_s1026" name="Site" r:id="rId2" imgW="4572000" imgH="2286000" progId="Package">
              <p:link updateAutomatic="0"/>
              <p:pic>
                <p:nvPicPr>
                  <p:cNvPr id="11" name="Site preview" descr="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85800" y="1600200"/>
                    <a:ext cx="4572000" cy="2286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" name="Caption"/>
          <p:cNvSpPr/>
          <p:nvPr/>
        </p:nvSpPr>
        <p:spPr>
          <a:xfrm>
            <a:off x="5638800" y="1600200"/>
            <a:ext cx="58674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p:oleObj/@spid is _x0000_s1026 and so is v:shape/@id in</a:t>
            </a:r>
          </a:p>
          <a:p>
            <a:r>
              <a:rPr sz="1300"/>
              <a:t>ppt/drawings/vmlDrawing1.vml. Nothing types that join and nothing</a:t>
            </a:r>
          </a:p>
          <a:p>
            <a:r>
              <a:rPr sz="1300"/>
              <a:t>validates it; renumbering p:cNvPr ids must not disturb it.</a:t>
            </a:r>
          </a:p>
          <a:p>
            <a:r>
              <a:rPr sz="1300"/>
              <a:t>The VML part has .rels of its own, so its rId1 - the EMF - is a</a:t>
            </a:r>
          </a:p>
          <a:p>
            <a:r>
              <a:rPr sz="1300"/>
              <a:t>different rId1 from this slide’s. rIds are scoped per .rels.</a:t>
            </a:r>
          </a:p>
          <a:p>
            <a:r>
              <a:rPr sz="1300"/>
              <a:t>Its content type does not end in +xml, though the part is XML.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a30 — a group, a gradient, an arrowhead and a text box</a:t>
            </a:r>
          </a:p>
        </p:txBody>
      </p:sp>
      <p:graphicFrame>
        <p:nvGraphicFramePr>
          <p:cNvPr id="10" name="Group site"/>
          <p:cNvGraphicFramePr/>
          <p:nvPr/>
        </p:nvGraphicFramePr>
        <p:xfrm>
          <a:off x="685800" y="1600200"/>
          <a:ext cx="4572000" cy="2286000"/>
        </p:xfrm>
        <a:graphic>
          <a:graphicData uri="http://schemas.openxmlformats.org/presentationml/2006/ole">
            <p:oleObj spid="_x0000_s1027" name="Group site" r:id="rId2" imgW="4572000" imgH="2286000" progId="Package">
              <p:link updateAutomatic="0"/>
              <p:pic>
                <p:nvPicPr>
                  <p:cNvPr id="11" name="Group site preview" descr="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85800" y="1600200"/>
                    <a:ext cx="4572000" cy="2286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" name="Caption"/>
          <p:cNvSpPr/>
          <p:nvPr/>
        </p:nvSpPr>
        <p:spPr>
          <a:xfrm>
            <a:off x="5638800" y="1600200"/>
            <a:ext cx="58674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vmlDrawing2.vml holds v:group, v:rect, v:oval, v:line and three</a:t>
            </a:r>
          </a:p>
          <a:p>
            <a:r>
              <a:rPr sz="1300"/>
              <a:t>v:shape of its own. The group declares coordsize="21600,10800" and its</a:t>
            </a:r>
          </a:p>
          <a:p>
            <a:r>
              <a:rPr sz="1300"/>
              <a:t>children are positioned in that space rather than in points - the</a:t>
            </a:r>
          </a:p>
          <a:p>
            <a:r>
              <a:rPr sz="1300"/>
              <a:t>same problem a:chOff and a:chExt solve in DrawingML, solved another</a:t>
            </a:r>
          </a:p>
          <a:p>
            <a:r>
              <a:rPr sz="1300"/>
              <a:t>way, and neither reading helps with the other.</a:t>
            </a:r>
          </a:p>
          <a:p>
            <a:r>
              <a:rPr sz="1300"/>
              <a:t>v:textbox holds a div. HTML, inside VML, inside OPC.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a30 — why this is a preview to rasterise, not a language to implement</a:t>
            </a:r>
          </a:p>
        </p:txBody>
      </p:sp>
      <p:sp>
        <p:nvSpPr>
          <p:cNvPr id="10" name="Caption"/>
          <p:cNvSpPr/>
          <p:nvPr/>
        </p:nvSpPr>
        <p:spPr>
          <a:xfrm>
            <a:off x="5638800" y="1600200"/>
            <a:ext cx="586740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VML predates OOXML by eight years and shares nothing with DrawingML:</a:t>
            </a:r>
          </a:p>
          <a:p>
            <a:r>
              <a:rPr sz="1300"/>
              <a:t>a different geometry model, a different colour syntax, a coordinate</a:t>
            </a:r>
          </a:p>
          <a:p>
            <a:r>
              <a:rPr sz="1300"/>
              <a:t>space per group, CSS in attributes and HTML inside v:textbox.</a:t>
            </a:r>
          </a:p>
          <a:p>
            <a:r>
              <a:rPr sz="1300"/>
              <a:t>It survives in three places - an OLE site, a control site, and Word’s</a:t>
            </a:r>
          </a:p>
          <a:p>
            <a:r>
              <a:rPr sz="1300"/>
              <a:t>comment and header anchors - and in all three it holds a picture of</a:t>
            </a:r>
          </a:p>
          <a:p>
            <a:r>
              <a:rPr sz="1300"/>
              <a:t>something else.</a:t>
            </a:r>
          </a:p>
          <a:p>
            <a:r>
              <a:rPr sz="1300"/>
              <a:t>Two rules follow, both sub-phase 1.2’s: never rewrite a VML part, and</a:t>
            </a:r>
          </a:p>
          <a:p>
            <a:r>
              <a:rPr sz="1300"/>
              <a:t>keep @spid stable across every id renumbering.</a:t>
            </a:r>
          </a:p>
          <a:p>
            <a:r>
              <a:rPr sz="1300"/>
              <a:t>A third thing this deck found: p:control, the other host, is refused</a:t>
            </a:r>
          </a:p>
          <a:p>
            <a:r>
              <a:rPr sz="1300"/>
              <a:t>outright by PowerPoint 16.0.20326 in every form tried.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a30 vml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