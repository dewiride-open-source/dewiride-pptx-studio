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a29 — the switch at the p:txBody position</a:t>
            </a:r>
          </a:p>
        </p:txBody>
      </p:sp>
      <p:sp>
        <p:nvSpPr>
          <p:cNvPr id="10" name="Display equation"/>
          <p:cNvSpPr txBox="1"/>
          <p:nvPr/>
        </p:nvSpPr>
        <p:spPr>
          <a:xfrm>
            <a:off x="685800" y="1600200"/>
            <a:ext cx="10820400" cy="1600200"/>
          </a:xfrm>
          <a:prstGeom prst="rect">
            <a:avLst/>
          </a:prstGeom>
          <a:solidFill>
            <a:schemeClr val="bg1"/>
          </a:solidFill>
        </p:spPr>
        <mc:AlternateContent xmlns:mc="http://schemas.openxmlformats.org/markup-compatibility/2006">
          <mc:Choice xmlns:a14="http://schemas.microsoft.com/office/drawing/2010/main" Requires="a14">
            <p:txBody>
              <a:bodyPr wrap="square" anchor="ctr"/>
              <a:lstStyle/>
              <a:p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p>
                        <m:sSupPr/>
                        <m:e>
                          <m:r>
                            <m:t>E = mc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  <m:oMath>
                      <m:r>
                        <m:t>x = </m:t>
                      </m:r>
                      <m:f>
                        <m:fPr>
                          <m:type m:val="bar"/>
                        </m:fPr>
                        <m:num>
                          <m:r>
                            <m:t>−b ± 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sSup>
                                <m:sSupPr/>
                                <m:e>
                                  <m:r>
                                    <m:t>b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t> − 4ac</m:t>
                              </m:r>
                            </m:e>
                          </m:rad>
                        </m:num>
                        <m:den>
                          <m:r>
                            <m:t>2a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mc:Choice>
          <mc:Fallback>
            <p:txBody>
              <a:bodyPr wrap="square" anchor="ctr"/>
              <a:lstStyle/>
              <a:p>
                <a:r>
                  <a:rPr sz="2000"/>
                  <a:t>E = mc^2</a:t>
                </a:r>
              </a:p>
              <a:p>
                <a:r>
                  <a:rPr sz="2000"/>
                  <a:t>x = (-b +/- sqrt(b^2 - 4ac)) / 2a</a:t>
                </a:r>
              </a:p>
            </p:txBody>
          </mc:Fallback>
        </mc:AlternateContent>
      </p:sp>
      <p:sp>
        <p:nvSpPr>
          <p:cNvPr id="11" name="Inline equation"/>
          <p:cNvSpPr txBox="1"/>
          <p:nvPr/>
        </p:nvSpPr>
        <p:spPr>
          <a:xfrm>
            <a:off x="685800" y="3352800"/>
            <a:ext cx="10820400" cy="1600200"/>
          </a:xfrm>
          <a:prstGeom prst="rect">
            <a:avLst/>
          </a:prstGeom>
          <a:solidFill>
            <a:schemeClr val="bg1"/>
          </a:solidFill>
        </p:spPr>
        <mc:AlternateContent xmlns:mc="http://schemas.openxmlformats.org/markup-compatibility/2006">
          <mc:Choice xmlns:a14="http://schemas.microsoft.com/office/drawing/2010/main" Requires="a14">
            <p:txBody>
              <a:bodyPr wrap="square" anchor="ctr"/>
              <a:lstStyle/>
              <a:p>
                <a14:m xmlns:a14="http://schemas.microsoft.com/office/drawing/2010/main"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0"/>
                        <m:supHide m:val="0"/>
                      </m:naryPr>
                      <m:sub>
                        <m:r>
                          <m:t>i = 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d>
                          <m:dPr>
                            <m:begChr m:val="("/>
                            <m:endChr m:val=")"/>
                            <m:grow m:val="1"/>
                          </m:dPr>
                          <m:e>
                            <m:sSub>
                              <m:sSubPr/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t> − </m:t>
                            </m:r>
                            <m:acc>
                              <m:accPr>
                                <m:chr m:val="̄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GB" sz="2000" dirty="0"/>
              </a:p>
            </p:txBody>
          </mc:Choice>
          <mc:Fallback>
            <p:txBody>
              <a:bodyPr wrap="square" anchor="ctr"/>
              <a:lstStyle/>
              <a:p>
                <a:r>
                  <a:rPr sz="2000"/>
                  <a:t>sum from i=1 to n of (x_i - xbar)</a:t>
                </a:r>
              </a:p>
            </p:txBody>
          </mc:Fallback>
        </mc:AlternateContent>
      </p:sp>
      <p:sp>
        <p:nvSpPr>
          <p:cNvPr id="12" name="Caption"/>
          <p:cNvSpPr txBox="1"/>
          <p:nvPr/>
        </p:nvSpPr>
        <p:spPr>
          <a:xfrm>
            <a:off x="685800" y="4953000"/>
            <a:ext cx="10820400" cy="1600200"/>
          </a:xfrm>
          <a:prstGeom prst="rect">
            <a:avLst/>
          </a:prstGeom>
          <a:solidFill>
            <a:schemeClr val="bg1"/>
          </a:solidFill>
        </p:spPr>
        <p:txBody>
          <a:bodyPr wrap="square" anchor="ctr"/>
          <a:lstStyle/>
          <a:p>
            <a:r>
              <a:rPr sz="2000"/>
              <a:t>The Choice and the Fallback are two whole p:txBody elements.</a:t>
            </a:r>
          </a:p>
          <a:p>
            <a:r>
              <a:rPr sz="2000"/>
              <a:t>m:oMathPara holds the justification; m:oMath alone cannot.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a29 — the switch at the p:spTree 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Matrices, functions and limits"/>
              <p:cNvSpPr txBox="1"/>
              <p:nvPr/>
            </p:nvSpPr>
            <p:spPr>
              <a:xfrm>
                <a:off x="685800" y="1600200"/>
                <a:ext cx="10820400" cy="16002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anchor="ctr"/>
              <a:lstStyle/>
              <a:p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d>
                        <m:dPr>
                          <m:begChr m:val="["/>
                          <m:endChr m:val="]"/>
                          <m:grow m:val="1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a</m:t>
                                </m:r>
                              </m:e>
                              <m:e>
                                <m: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t>c</m:t>
                                </m:r>
                              </m:e>
                              <m:e>
                                <m: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r>
                        <m:t> , </m:t>
                      </m:r>
                      <m:func>
                        <m:funcPr/>
                        <m:fName>
                          <m:r>
                            <m:t>sin</m:t>
                          </m:r>
                        </m:fName>
                        <m:e>
                          <m:d>
                            <m:dPr>
                              <m:begChr m:val="("/>
                              <m:endChr m:val=")"/>
                              <m:grow m:val="1"/>
                            </m:dPr>
                            <m:e>
                              <m:r>
                                <m:t>θ</m:t>
                              </m:r>
                            </m:e>
                          </m:d>
                        </m:e>
                      </m:func>
                      <m:r>
                        <m:t> , </m:t>
                      </m:r>
                      <m:limLow>
                        <m:limLowPr/>
                        <m:e>
                          <m:r>
                            <m:t>lim</m:t>
                          </m:r>
                        </m:e>
                        <m:lim>
                          <m:r>
                            <m:t>n → ∞</m:t>
                          </m:r>
                        </m:lim>
                      </m:limLow>
                      <m:f>
                        <m:fPr>
                          <m:type m:val="skw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  <p:sp>
            <p:nvSpPr>
              <p:cNvPr id="11" name="Scripts, bars and radicals"/>
              <p:cNvSpPr txBox="1"/>
              <p:nvPr/>
            </p:nvSpPr>
            <p:spPr>
              <a:xfrm>
                <a:off x="685800" y="3352800"/>
                <a:ext cx="10820400" cy="16002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anchor="ctr"/>
              <a:lstStyle/>
              <a:p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Sup>
                        <m:sSubSupPr/>
                        <m:e>
                          <m:r>
                            <m:t>C</m:t>
                          </m:r>
                        </m:e>
                        <m:sub>
                          <m:r>
                            <m:t>n</m:t>
                          </m:r>
                        </m:sub>
                        <m:sup>
                          <m:r>
                            <m:t>k</m:t>
                          </m:r>
                        </m:sup>
                      </m:sSubSup>
                      <m:r>
                        <m:t> , </m:t>
                      </m:r>
                      <m:bar>
                        <m:barPr>
                          <m:pos m:val="bot"/>
                        </m:barPr>
                        <m:e>
                          <m:r>
                            <m:t>AB</m:t>
                          </m:r>
                        </m:e>
                      </m:bar>
                      <m:r>
                        <m:t> , </m:t>
                      </m:r>
                      <m:f>
                        <m:fPr>
                          <m:type m:val="lin"/>
                        </m:fPr>
                        <m:num>
                          <m:r>
                            <m:t>p</m:t>
                          </m:r>
                        </m:num>
                        <m:den>
                          <m:r>
                            <m:t>q</m:t>
                          </m:r>
                        </m:den>
                      </m:f>
                      <m:r>
                        <m:t> , </m:t>
                      </m:r>
                      <m:rad>
                        <m:radPr>
                          <m:degHide m:val="0"/>
                        </m:radPr>
                        <m:deg>
                          <m:r>
                            <m:t>3</m:t>
                          </m:r>
                        </m:deg>
                        <m:e>
                          <m:r>
                            <m:t>8</m:t>
                          </m:r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0" name="Equations, as text"/>
              <p:cNvSpPr txBox="1"/>
              <p:nvPr/>
            </p:nvSpPr>
            <p:spPr>
              <a:xfrm>
                <a:off x="685800" y="1600200"/>
                <a:ext cx="10820400" cy="16002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anchor="ctr"/>
              <a:lstStyle/>
              <a:p>
                <a:r>
                  <a:rPr sz="2000"/>
                  <a:t>[a b; c d] , sin(theta) , lim n-&gt;inf 1/n</a:t>
                </a:r>
              </a:p>
              <a:p>
                <a:r>
                  <a:rPr sz="2000"/>
                  <a:t>C_n^k , AB-under-bar , p/q , cuberoot 8</a:t>
                </a:r>
              </a:p>
            </p:txBody>
          </p:sp>
        </mc:Fallback>
      </mc:AlternateContent>
      <p:sp>
        <p:nvSpPr>
          <p:cNvPr id="12" name="Caption"/>
          <p:cNvSpPr txBox="1"/>
          <p:nvPr/>
        </p:nvSpPr>
        <p:spPr>
          <a:xfrm>
            <a:off x="685800" y="4953000"/>
            <a:ext cx="10820400" cy="1600200"/>
          </a:xfrm>
          <a:prstGeom prst="rect">
            <a:avLst/>
          </a:prstGeom>
          <a:solidFill>
            <a:schemeClr val="bg1"/>
          </a:solidFill>
        </p:spPr>
        <p:txBody>
          <a:bodyPr wrap="square" anchor="ctr"/>
          <a:lstStyle/>
          <a:p>
            <a:r>
              <a:rPr sz="2000"/>
              <a:t>Here the switch replaces two whole shapes with one.</a:t>
            </a:r>
          </a:p>
          <a:p>
            <a:r>
              <a:rPr sz="2000"/>
              <a:t>A Fallback need not have the same shape count as its Choice.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a29 — what a text model must not flatten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85800" y="1600200"/>
            <a:ext cx="10820400" cy="1600200"/>
          </a:xfrm>
          <a:prstGeom prst="rect">
            <a:avLst/>
          </a:prstGeom>
          <a:solidFill>
            <a:schemeClr val="bg1"/>
          </a:solidFill>
        </p:spPr>
        <p:txBody>
          <a:bodyPr wrap="square" anchor="ctr"/>
          <a:lstStyle/>
          <a:p>
            <a:r>
              <a:rPr sz="2000"/>
              <a:t>An equation is a tree, and sub-phase 6.1 round-trips paragraphs</a:t>
            </a:r>
          </a:p>
          <a:p>
            <a:r>
              <a:rPr sz="2000"/>
              <a:t>through a ProseMirror model that has no node for a fraction.</a:t>
            </a:r>
          </a:p>
          <a:p>
            <a:r>
              <a:rPr sz="2000"/>
              <a:t>So a paragraph holding a14:m is never re-serialized from the model:</a:t>
            </a:r>
          </a:p>
          <a:p>
            <a:r>
              <a:rPr sz="2000"/>
              <a:t>it is carried across as the bytes it arrived as. The census gives</a:t>
            </a:r>
          </a:p>
          <a:p>
            <a:r>
              <a:rPr sz="2000"/>
              <a:t>math a phase of "preserve" for exactly this reason.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a29 math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