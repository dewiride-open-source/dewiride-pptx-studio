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a33 — the part nothing under ppt/ points at</a:t>
            </a:r>
          </a:p>
        </p:txBody>
      </p:sp>
      <p:sp>
        <p:nvSpPr>
          <p:cNvPr id="10" name="Where it lives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docProps/thumbnail.jpeg</a:t>
            </a:r>
          </a:p>
          <a:p>
            <a:pPr algn="ctr"/>
            <a:r>
              <a:rPr sz="1100" b="0"/>
              <a:t>a sibling of core.xml and app.xml</a:t>
            </a:r>
          </a:p>
          <a:p>
            <a:pPr algn="ctr"/>
            <a:r>
              <a:rPr sz="1100" b="0"/>
              <a:t>not under ppt/ at all</a:t>
            </a:r>
          </a:p>
        </p:txBody>
      </p:sp>
      <p:sp>
        <p:nvSpPr>
          <p:cNvPr id="11" name="How it is reached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_rels/.rels, one relationship</a:t>
            </a:r>
          </a:p>
          <a:p>
            <a:pPr algn="ctr"/>
            <a:r>
              <a:rPr sz="1100" b="0"/>
              <a:t>…/package/2006/relationships/metadata/thumbnail</a:t>
            </a:r>
          </a:p>
          <a:p>
            <a:pPr algn="ctr"/>
            <a:r>
              <a:rPr sz="1100" b="0"/>
              <a:t>a package relationship, not a part one</a:t>
            </a:r>
          </a:p>
        </p:txBody>
      </p:sp>
      <p:sp>
        <p:nvSpPr>
          <p:cNvPr id="12" name="How it is typed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&lt;Default Extension="jpeg" ContentType="image/jpeg"/&gt;</a:t>
            </a:r>
          </a:p>
          <a:p>
            <a:pPr algn="ctr"/>
            <a:r>
              <a:rPr sz="1100" b="0"/>
              <a:t>a Default, not an Override</a:t>
            </a:r>
          </a:p>
          <a:p>
            <a:pPr algn="ctr"/>
            <a:r>
              <a:rPr sz="1100" b="0"/>
              <a:t>shared with every other jpeg in the package</a:t>
            </a:r>
          </a:p>
        </p:txBody>
      </p:sp>
      <p:sp>
        <p:nvSpPr>
          <p:cNvPr id="13" name="What deletes it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a media sweep that starts at presentation.xml</a:t>
            </a:r>
          </a:p>
          <a:p>
            <a:pPr algn="ctr"/>
            <a:r>
              <a:rPr sz="1100" b="0"/>
              <a:t>and follows only part relationships</a:t>
            </a:r>
          </a:p>
          <a:p>
            <a:pPr algn="ctr"/>
            <a:r>
              <a:rPr sz="1100" b="0"/>
              <a:t>never reaches this part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a33 — one Default, two jpeg parts</a:t>
            </a:r>
          </a:p>
        </p:txBody>
      </p:sp>
      <p:pic>
        <p:nvPicPr>
          <p:cNvPr id="10" name="The other jpeg" descr="A checkerboard, so the two jpeg parts cannot be confus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2499360" cy="2499360"/>
          </a:xfrm>
          <a:prstGeom prst="rect">
            <a:avLst/>
          </a:prstGeom>
        </p:spPr>
      </p:pic>
      <p:sp>
        <p:nvSpPr>
          <p:cNvPr id="11" name="ppt/media/image1.jpeg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an ordinary image part</a:t>
            </a:r>
          </a:p>
          <a:p>
            <a:pPr algn="ctr"/>
            <a:r>
              <a:rPr sz="1100" b="0"/>
              <a:t>reached from this slide by rId2</a:t>
            </a:r>
          </a:p>
          <a:p>
            <a:pPr algn="ctr"/>
            <a:r>
              <a:rPr sz="1100" b="0"/>
              <a:t>and typed by the same one Default</a:t>
            </a:r>
          </a:p>
        </p:txBody>
      </p:sp>
      <p:sp>
        <p:nvSpPr>
          <p:cNvPr id="12" name="The thumbnail is not special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nothing in [Content_Types].xml</a:t>
            </a:r>
          </a:p>
          <a:p>
            <a:pPr algn="ctr"/>
            <a:r>
              <a:rPr sz="1100" b="0"/>
              <a:t>distinguishes it from the checkerboard</a:t>
            </a:r>
          </a:p>
          <a:p>
            <a:pPr algn="ctr"/>
            <a:r>
              <a:rPr sz="1100" b="0"/>
              <a:t>only the relationship type does</a:t>
            </a:r>
          </a:p>
        </p:txBody>
      </p:sp>
      <p:sp>
        <p:nvSpPr>
          <p:cNvPr id="13" name="A second Default is fatal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two &lt;Default Extension="jpeg"/&gt; entries</a:t>
            </a:r>
          </a:p>
          <a:p>
            <a:pPr algn="ctr"/>
            <a:r>
              <a:rPr sz="1100" b="0"/>
              <a:t>is a whole-package refusal</a:t>
            </a:r>
          </a:p>
          <a:p>
            <a:pPr algn="ctr"/>
            <a:r>
              <a:rPr sz="1100" b="0"/>
              <a:t>so the table is deduplicated by extension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a33 — what the census keys on</a:t>
            </a:r>
          </a:p>
        </p:txBody>
      </p:sp>
      <p:sp>
        <p:nvSpPr>
          <p:cNvPr id="10" name="The census rule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part name, lowercased, equal to</a:t>
            </a:r>
          </a:p>
          <a:p>
            <a:pPr algn="ctr"/>
            <a:r>
              <a:rPr sz="1100" b="0"/>
              <a:t>/docprops/thumbnail.jpeg</a:t>
            </a:r>
          </a:p>
          <a:p>
            <a:pPr algn="ctr"/>
            <a:r>
              <a:rPr sz="1100" b="0"/>
              <a:t>a name match, not a relationship match</a:t>
            </a:r>
          </a:p>
        </p:txBody>
      </p:sp>
      <p:sp>
        <p:nvSpPr>
          <p:cNvPr id="11" name="What OPC actually says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Part 2 §10.2 defines a thumbnail</a:t>
            </a:r>
          </a:p>
          <a:p>
            <a:pPr algn="ctr"/>
            <a:r>
              <a:rPr sz="1100" b="0"/>
              <a:t>by relationship type alone.</a:t>
            </a:r>
          </a:p>
          <a:p>
            <a:pPr algn="ctr"/>
            <a:r>
              <a:rPr sz="1100" b="0"/>
              <a:t>The name and the format are conventions.</a:t>
            </a:r>
          </a:p>
        </p:txBody>
      </p:sp>
      <p:sp>
        <p:nvSpPr>
          <p:cNvPr id="12" name="So the rule has an edge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docProps/thumbnail.png, same relationship,</a:t>
            </a:r>
          </a:p>
          <a:p>
            <a:pPr algn="ctr"/>
            <a:r>
              <a:rPr sz="1100" b="0"/>
              <a:t>is a legitimate thumbnail the census</a:t>
            </a:r>
          </a:p>
          <a:p>
            <a:pPr algn="ctr"/>
            <a:r>
              <a:rPr sz="1100" b="0"/>
              <a:t>reports as zero.</a:t>
            </a:r>
          </a:p>
        </p:txBody>
      </p:sp>
      <p:sp>
        <p:nvSpPr>
          <p:cNvPr id="13" name="Where that belongs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anchor="ctr"/>
          <a:lstStyle/>
          <a:p>
            <a:pPr algn="ctr"/>
            <a:r>
              <a:rPr sz="1100" b="1"/>
              <a:t>corpus/reject/, once it exists:</a:t>
            </a:r>
          </a:p>
          <a:p>
            <a:pPr algn="ctr"/>
            <a:r>
              <a:rPr sz="1100" b="0"/>
              <a:t>a case where the right answer is</a:t>
            </a:r>
          </a:p>
          <a:p>
            <a:pPr algn="ctr"/>
            <a:r>
              <a:rPr sz="1100" b="0"/>
              <a:t>"the census is wrong", not "the deck is".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a33 thumbnail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