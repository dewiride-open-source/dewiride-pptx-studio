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  <p:embeddedFontLst>
    <p:embeddedFont>
      <p:font typeface="PptxStudio Alpha" panose="02000509000000000000" pitchFamily="34" charset="0"/>
      <p:regular r:id="rId9"/>
      <p:bold r:id="rId10"/>
      <p:italic r:id="rId11"/>
      <p:boldItalic r:id="rId12"/>
    </p:embeddedFont>
    <p:embeddedFont>
      <p:font typeface="PptxStudio Bravo" panose="02000509000000000000" pitchFamily="34" charset="-128"/>
      <p:regular r:id="rId1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>
        <a:defRPr sz="2400" kern="1200">
          <a:solidFill>
            <a:schemeClr val="tx1"/>
          </a:solidFill>
          <a:latin typeface="+mj-lt"/>
        </a:defRPr>
      </a:lvl1pPr>
    </p:titleStyle>
    <p:body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bodyStyle>
    <p:other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a31 — four slots of one typeface</a:t>
            </a:r>
          </a:p>
        </p:txBody>
      </p:sp>
      <p:sp>
        <p:nvSpPr>
          <p:cNvPr id="10" name="regular"/>
          <p:cNvSpPr/>
          <p:nvPr/>
        </p:nvSpPr>
        <p:spPr>
          <a:xfrm>
            <a:off x="685800" y="1600200"/>
            <a:ext cx="10820400" cy="83820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2000">
                <a:latin typeface="PptxStudio Alpha"/>
              </a:rPr>
              <a:t>regular — ABCDEFGHIJ abcdefghij 0123456789</a:t>
            </a:r>
          </a:p>
        </p:txBody>
      </p:sp>
      <p:sp>
        <p:nvSpPr>
          <p:cNvPr id="11" name="bold"/>
          <p:cNvSpPr/>
          <p:nvPr/>
        </p:nvSpPr>
        <p:spPr>
          <a:xfrm>
            <a:off x="685800" y="2514600"/>
            <a:ext cx="10820400" cy="83820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2000" b="1">
                <a:latin typeface="PptxStudio Alpha"/>
              </a:rPr>
              <a:t>bold — ABCDEFGHIJ abcdefghij 0123456789</a:t>
            </a:r>
          </a:p>
        </p:txBody>
      </p:sp>
      <p:sp>
        <p:nvSpPr>
          <p:cNvPr id="12" name="italic"/>
          <p:cNvSpPr/>
          <p:nvPr/>
        </p:nvSpPr>
        <p:spPr>
          <a:xfrm>
            <a:off x="685800" y="3429000"/>
            <a:ext cx="10820400" cy="83820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2000" i="1">
                <a:latin typeface="PptxStudio Alpha"/>
              </a:rPr>
              <a:t>italic — ABCDEFGHIJ abcdefghij 0123456789</a:t>
            </a:r>
          </a:p>
        </p:txBody>
      </p:sp>
      <p:sp>
        <p:nvSpPr>
          <p:cNvPr id="13" name="bold italic"/>
          <p:cNvSpPr/>
          <p:nvPr/>
        </p:nvSpPr>
        <p:spPr>
          <a:xfrm>
            <a:off x="685800" y="4343400"/>
            <a:ext cx="10820400" cy="83820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2000" b="1" i="1">
                <a:latin typeface="PptxStudio Alpha"/>
              </a:rPr>
              <a:t>bold italic — ABCDEFGHIJ abcdefghij 0123456789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a31 — a second typeface, with one slot and a negative charset</a:t>
            </a:r>
          </a:p>
        </p:txBody>
      </p:sp>
      <p:sp>
        <p:nvSpPr>
          <p:cNvPr id="10" name="regular only"/>
          <p:cNvSpPr/>
          <p:nvPr/>
        </p:nvSpPr>
        <p:spPr>
          <a:xfrm>
            <a:off x="685800" y="1600200"/>
            <a:ext cx="10820400" cy="83820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2000">
                <a:latin typeface="PptxStudio Bravo"/>
              </a:rPr>
              <a:t>regular only — ABCDEFGHIJ abcdefghij 0123456789</a:t>
            </a:r>
          </a:p>
        </p:txBody>
      </p:sp>
      <p:sp>
        <p:nvSpPr>
          <p:cNvPr id="11" name="Caption"/>
          <p:cNvSpPr/>
          <p:nvPr/>
        </p:nvSpPr>
        <p:spPr>
          <a:xfrm>
            <a:off x="685800" y="2743200"/>
            <a:ext cx="10820400" cy="16002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1300"/>
              <a:t>p:font/@charset is xsd:byte, so Shift-JIS is "-128" and not "128".</a:t>
            </a:r>
          </a:p>
          <a:p>
            <a:r>
              <a:rPr sz="1300"/>
              <a:t>This entry writes -128 to keep the signed reading in the corpus.</a:t>
            </a:r>
          </a:p>
          <a:p>
            <a:r>
              <a:rPr sz="1300"/>
              <a:t>@pitchFamily is (family &lt;&lt; 4) | pitch: 2 and 2 make 34.</a:t>
            </a:r>
          </a:p>
          <a:p>
            <a:r>
              <a:rPr sz="1300"/>
              <a:t>@panose is the font’s own OS/2.panose, ten bytes as twenty hex chars.</a:t>
            </a:r>
          </a:p>
          <a:p>
            <a:r>
              <a:rPr sz="1300"/>
              <a:t>A typeface may appear in this list exactly once, and must be used.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a31 — a font used only through the theme</a:t>
            </a:r>
          </a:p>
        </p:txBody>
      </p:sp>
      <p:sp>
        <p:nvSpPr>
          <p:cNvPr id="10" name="through +mn-lt"/>
          <p:cNvSpPr/>
          <p:nvPr/>
        </p:nvSpPr>
        <p:spPr>
          <a:xfrm>
            <a:off x="685800" y="1600200"/>
            <a:ext cx="10820400" cy="83820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2000">
                <a:latin typeface="+mn-lt"/>
              </a:rPr>
              <a:t>through +mn-lt — ABCDEFGHIJ abcdefghij 0123456789</a:t>
            </a:r>
          </a:p>
        </p:txBody>
      </p:sp>
      <p:sp>
        <p:nvSpPr>
          <p:cNvPr id="11" name="through +mj-lt"/>
          <p:cNvSpPr/>
          <p:nvPr/>
        </p:nvSpPr>
        <p:spPr>
          <a:xfrm>
            <a:off x="685800" y="2514600"/>
            <a:ext cx="10820400" cy="83820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2000">
                <a:latin typeface="+mj-lt"/>
              </a:rPr>
              <a:t>through +mj-lt — ABCDEFGHIJ abcdefghij 0123456789</a:t>
            </a:r>
          </a:p>
        </p:txBody>
      </p:sp>
      <p:sp>
        <p:nvSpPr>
          <p:cNvPr id="12" name="Caption"/>
          <p:cNvSpPr/>
          <p:nvPr/>
        </p:nvSpPr>
        <p:spPr>
          <a:xfrm>
            <a:off x="685800" y="3657600"/>
            <a:ext cx="10820400" cy="16002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1300"/>
              <a:t>Neither run names a typeface. +mn-lt resolves through the theme to</a:t>
            </a:r>
          </a:p>
          <a:p>
            <a:r>
              <a:rPr sz="1300"/>
              <a:t>PptxStudio Bravo and +mj-lt to PptxStudio Alpha, and the string</a:t>
            </a:r>
          </a:p>
          <a:p>
            <a:r>
              <a:rPr sz="1300"/>
              <a:t>"PptxStudio Bravo" appears nowhere on any slide in this deck.</a:t>
            </a:r>
          </a:p>
          <a:p>
            <a:r>
              <a:rPr sz="1300"/>
              <a:t>A save-time collector that scans runs for typefaces concludes it is</a:t>
            </a:r>
          </a:p>
          <a:p>
            <a:r>
              <a:rPr sz="1300"/>
              <a:t>unused, drops the entry and the part, and breaks the file - quietly.</a:t>
            </a:r>
          </a:p>
          <a:p>
            <a:r>
              <a:rPr sz="1300"/>
              <a:t>Resolve the theme indirection first, then compute the used 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X Studio Corpus">
  <a:themeElements>
    <a:clrScheme name="PPTX Studio Corp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">
      <a:majorFont>
        <a:latin typeface="PptxStudio Alpha"/>
        <a:ea typeface=""/>
        <a:cs typeface=""/>
      </a:majorFont>
      <a:minorFont>
        <a:latin typeface="PptxStudio Bravo"/>
        <a:ea typeface=""/>
        <a:cs typeface=""/>
      </a:minorFont>
    </a:fontScheme>
    <a:fmtScheme name="PPTX Studio Cor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 Studio corpus generator</Application>
  <Slides>3</Slides>
  <ScaleCrop>false</ScaleCrop>
  <AppVersion>0.0000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 Studio corpus: a31 embedded fonts</dc:title>
  <dc:creator>PPTX Studio corpus generator</dc:creator>
  <cp:lastModifiedBy>PPTX Studio corpus generator</cp:lastModifiedBy>
  <dcterms:created xsi:type="dcterms:W3CDTF">2026-08-27T00:00:00Z</dcterms:created>
  <dcterms:modified xsi:type="dcterms:W3CDTF">2026-08-27T00:00:00Z</dcterms:modified>
</cp:coreProperties>
</file>