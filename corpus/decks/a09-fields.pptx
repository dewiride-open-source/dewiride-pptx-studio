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Fiel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a09 — slidenum and datetime1 to datetime7</a:t>
            </a:r>
          </a:p>
        </p:txBody>
      </p:sp>
      <p:sp>
        <p:nvSpPr>
          <p:cNvPr id="10" name="Fields 1"/>
          <p:cNvSpPr/>
          <p:nvPr/>
        </p:nvSpPr>
        <p:spPr>
          <a:xfrm>
            <a:off x="502920" y="1234440"/>
            <a:ext cx="55473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GB" sz="1000">
                <a:solidFill>
                  <a:schemeClr val="tx1"/>
                </a:solidFill>
              </a:rPr>
              <a:t>slidenum — </a:t>
            </a:r>
            <a:fld id="{424CEEAC-8F67-4238-9622-1B74DC6E8318}" type="slidenum">
              <a:rPr lang="en-GB" sz="1000" b="1">
                <a:solidFill>
                  <a:schemeClr val="accent1"/>
                </a:solidFill>
              </a:rPr>
              <a:t>1</a:t>
            </a:fld>
            <a:r>
              <a:rPr lang="en-GB" sz="900" i="1">
                <a:solidFill>
                  <a:schemeClr val="accent3"/>
                </a:solidFill>
              </a:rPr>
              <a:t> · presentation slide number</a:t>
            </a:r>
          </a:p>
          <a:p>
            <a:r>
              <a:rPr lang="en-GB" sz="1000">
                <a:solidFill>
                  <a:schemeClr val="tx1"/>
                </a:solidFill>
              </a:rPr>
              <a:t>datetime — </a:t>
            </a:r>
            <a:fld id="{5A2B8C61-0F4D-4E7A-9B3C-2D6E8F1A4B70}" type="datetime">
              <a:rPr lang="en-GB" sz="1000" b="1">
                <a:solidFill>
                  <a:schemeClr val="accent1"/>
                </a:solidFill>
              </a:rPr>
              <a:t>12/10/2007</a:t>
            </a:fld>
            <a:r>
              <a:rPr lang="en-GB" sz="900" i="1">
                <a:solidFill>
                  <a:schemeClr val="accent3"/>
                </a:solidFill>
              </a:rPr>
              <a:t> · the rendering application's default</a:t>
            </a:r>
          </a:p>
          <a:p>
            <a:r>
              <a:rPr lang="en-GB" sz="1000">
                <a:solidFill>
                  <a:schemeClr val="tx1"/>
                </a:solidFill>
              </a:rPr>
              <a:t>datetime1 — </a:t>
            </a:r>
            <a:fld id="{7C3D9E12-5A6B-4C8D-9E0F-1A2B3C4D5E61}" type="datetime1">
              <a:rPr lang="en-GB" sz="1000" b="1">
                <a:solidFill>
                  <a:schemeClr val="accent1"/>
                </a:solidFill>
              </a:rPr>
              <a:t>10/12/2007</a:t>
            </a:fld>
            <a:r>
              <a:rPr lang="en-GB" sz="900" i="1">
                <a:solidFill>
                  <a:schemeClr val="accent3"/>
                </a:solidFill>
              </a:rPr>
              <a:t> · MM/DD/YYYY</a:t>
            </a:r>
          </a:p>
          <a:p>
            <a:r>
              <a:rPr lang="en-GB" sz="1000">
                <a:solidFill>
                  <a:schemeClr val="tx1"/>
                </a:solidFill>
              </a:rPr>
              <a:t>datetime2 — </a:t>
            </a:r>
            <a:fld id="{9E5F1A23-6B7C-4D9E-8F01-2B3C4D5E6F72}" type="datetime2">
              <a:rPr lang="en-GB" sz="1000" b="1">
                <a:solidFill>
                  <a:schemeClr val="accent1"/>
                </a:solidFill>
              </a:rPr>
              <a:t>Friday, October 12, 2007</a:t>
            </a:fld>
            <a:r>
              <a:rPr lang="en-GB" sz="900" i="1">
                <a:solidFill>
                  <a:schemeClr val="accent3"/>
                </a:solidFill>
              </a:rPr>
              <a:t> · Day, Month DD, YYYY</a:t>
            </a:r>
          </a:p>
        </p:txBody>
      </p:sp>
      <p:sp>
        <p:nvSpPr>
          <p:cNvPr id="11" name="Fields 2"/>
          <p:cNvSpPr/>
          <p:nvPr/>
        </p:nvSpPr>
        <p:spPr>
          <a:xfrm>
            <a:off x="6141720" y="1234440"/>
            <a:ext cx="55473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GB" sz="1000">
                <a:solidFill>
                  <a:schemeClr val="tx1"/>
                </a:solidFill>
              </a:rPr>
              <a:t>datetime3 — </a:t>
            </a:r>
            <a:fld id="{1A6B2C34-7C8D-4E0F-9012-3C4D5E6F7083}" type="datetime3">
              <a:rPr lang="en-GB" sz="1000" b="1">
                <a:solidFill>
                  <a:schemeClr val="accent1"/>
                </a:solidFill>
              </a:rPr>
              <a:t>12 October 2007</a:t>
            </a:fld>
            <a:r>
              <a:rPr lang="en-GB" sz="900" i="1">
                <a:solidFill>
                  <a:schemeClr val="accent3"/>
                </a:solidFill>
              </a:rPr>
              <a:t> · DD Month YYYY</a:t>
            </a:r>
          </a:p>
          <a:p>
            <a:r>
              <a:rPr lang="en-GB" sz="1000">
                <a:solidFill>
                  <a:schemeClr val="tx1"/>
                </a:solidFill>
              </a:rPr>
              <a:t>datetime4 — </a:t>
            </a:r>
            <a:fld id="{2B7C3D45-8D9E-4F10-A123-4D5E6F708194}" type="datetime4">
              <a:rPr lang="en-GB" sz="1000" b="1">
                <a:solidFill>
                  <a:schemeClr val="accent1"/>
                </a:solidFill>
              </a:rPr>
              <a:t>October 12, 2007</a:t>
            </a:fld>
            <a:r>
              <a:rPr lang="en-GB" sz="900" i="1">
                <a:solidFill>
                  <a:schemeClr val="accent3"/>
                </a:solidFill>
              </a:rPr>
              <a:t> · Month DD, YYYY</a:t>
            </a:r>
          </a:p>
          <a:p>
            <a:r>
              <a:rPr lang="en-GB" sz="1000">
                <a:solidFill>
                  <a:schemeClr val="tx1"/>
                </a:solidFill>
              </a:rPr>
              <a:t>datetime5 — </a:t>
            </a:r>
            <a:fld id="{3C8D4E56-9E0F-4021-B234-5E6F708192A5}" type="datetime5">
              <a:rPr lang="en-GB" sz="1000" b="1">
                <a:solidFill>
                  <a:schemeClr val="accent1"/>
                </a:solidFill>
              </a:rPr>
              <a:t>12-Oct-07</a:t>
            </a:fld>
            <a:r>
              <a:rPr lang="en-GB" sz="900" i="1">
                <a:solidFill>
                  <a:schemeClr val="accent3"/>
                </a:solidFill>
              </a:rPr>
              <a:t> · DD-Mon-YY</a:t>
            </a:r>
          </a:p>
          <a:p>
            <a:r>
              <a:rPr lang="en-GB" sz="1000">
                <a:solidFill>
                  <a:schemeClr val="tx1"/>
                </a:solidFill>
              </a:rPr>
              <a:t>datetime6 — </a:t>
            </a:r>
            <a:fld id="{4D9E5F67-0F10-4132-C345-6F70819203B6}" type="datetime6">
              <a:rPr lang="en-GB" sz="1000" b="1">
                <a:solidFill>
                  <a:schemeClr val="accent1"/>
                </a:solidFill>
              </a:rPr>
              <a:t>October 07</a:t>
            </a:fld>
            <a:r>
              <a:rPr lang="en-GB" sz="900" i="1">
                <a:solidFill>
                  <a:schemeClr val="accent3"/>
                </a:solidFill>
              </a:rPr>
              <a:t> · Month YY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a09 — datetime8 to datetime13, and one that is not reserved</a:t>
            </a:r>
          </a:p>
        </p:txBody>
      </p:sp>
      <p:sp>
        <p:nvSpPr>
          <p:cNvPr id="10" name="Fields 1"/>
          <p:cNvSpPr/>
          <p:nvPr/>
        </p:nvSpPr>
        <p:spPr>
          <a:xfrm>
            <a:off x="502920" y="1234440"/>
            <a:ext cx="55473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GB" sz="1000">
                <a:solidFill>
                  <a:schemeClr val="tx1"/>
                </a:solidFill>
              </a:rPr>
              <a:t>datetime7 — </a:t>
            </a:r>
            <a:fld id="{5E0F6078-1021-4243-D456-7081920314C7}" type="datetime7">
              <a:rPr lang="en-GB" sz="1000" b="1">
                <a:solidFill>
                  <a:schemeClr val="accent1"/>
                </a:solidFill>
              </a:rPr>
              <a:t>Oct-07</a:t>
            </a:fld>
            <a:r>
              <a:rPr lang="en-GB" sz="900" i="1">
                <a:solidFill>
                  <a:schemeClr val="accent3"/>
                </a:solidFill>
              </a:rPr>
              <a:t> · Mon-YY</a:t>
            </a:r>
          </a:p>
          <a:p>
            <a:r>
              <a:rPr lang="en-GB" sz="1000">
                <a:solidFill>
                  <a:schemeClr val="tx1"/>
                </a:solidFill>
              </a:rPr>
              <a:t>datetime8 — </a:t>
            </a:r>
            <a:fld id="{6F107189-2132-4354-E567-8192031425D8}" type="datetime8">
              <a:rPr lang="en-GB" sz="1000" b="1">
                <a:solidFill>
                  <a:schemeClr val="accent1"/>
                </a:solidFill>
              </a:rPr>
              <a:t>10/12/2007 4:28 PM</a:t>
            </a:fld>
            <a:r>
              <a:rPr lang="en-GB" sz="900" i="1">
                <a:solidFill>
                  <a:schemeClr val="accent3"/>
                </a:solidFill>
              </a:rPr>
              <a:t> · MM/DD/YYYY hh:mm AM/PM</a:t>
            </a:r>
          </a:p>
          <a:p>
            <a:r>
              <a:rPr lang="en-GB" sz="1000">
                <a:solidFill>
                  <a:schemeClr val="tx1"/>
                </a:solidFill>
              </a:rPr>
              <a:t>datetime9 — </a:t>
            </a:r>
            <a:fld id="{7021829A-3243-4465-F678-92031425364E}" type="datetime9">
              <a:rPr lang="en-GB" sz="1000" b="1">
                <a:solidFill>
                  <a:schemeClr val="accent1"/>
                </a:solidFill>
              </a:rPr>
              <a:t>10/12/2007 4:28:34 PM</a:t>
            </a:fld>
            <a:r>
              <a:rPr lang="en-GB" sz="900" i="1">
                <a:solidFill>
                  <a:schemeClr val="accent3"/>
                </a:solidFill>
              </a:rPr>
              <a:t> · MM/DD/YYYY hh:mm:ss AM/PM</a:t>
            </a:r>
          </a:p>
          <a:p>
            <a:r>
              <a:rPr lang="en-GB" sz="1000">
                <a:solidFill>
                  <a:schemeClr val="tx1"/>
                </a:solidFill>
              </a:rPr>
              <a:t>datetime10 — </a:t>
            </a:r>
            <a:fld id="{813293AB-4354-4576-0789-031425364759}" type="datetime10">
              <a:rPr lang="en-GB" sz="1000" b="1">
                <a:solidFill>
                  <a:schemeClr val="accent1"/>
                </a:solidFill>
              </a:rPr>
              <a:t>16:28</a:t>
            </a:fld>
            <a:r>
              <a:rPr lang="en-GB" sz="900" i="1">
                <a:solidFill>
                  <a:schemeClr val="accent3"/>
                </a:solidFill>
              </a:rPr>
              <a:t> · hh:mm</a:t>
            </a:r>
          </a:p>
        </p:txBody>
      </p:sp>
      <p:sp>
        <p:nvSpPr>
          <p:cNvPr id="11" name="Fields 2"/>
          <p:cNvSpPr/>
          <p:nvPr/>
        </p:nvSpPr>
        <p:spPr>
          <a:xfrm>
            <a:off x="6141720" y="1234440"/>
            <a:ext cx="55473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GB" sz="1000">
                <a:solidFill>
                  <a:schemeClr val="tx1"/>
                </a:solidFill>
              </a:rPr>
              <a:t>datetime11 — </a:t>
            </a:r>
            <a:fld id="{9243A4BC-5465-4687-189A-14253647586A}" type="datetime11">
              <a:rPr lang="en-GB" sz="1000" b="1">
                <a:solidFill>
                  <a:schemeClr val="accent1"/>
                </a:solidFill>
              </a:rPr>
              <a:t>16:28:34</a:t>
            </a:fld>
            <a:r>
              <a:rPr lang="en-GB" sz="900" i="1">
                <a:solidFill>
                  <a:schemeClr val="accent3"/>
                </a:solidFill>
              </a:rPr>
              <a:t> · hh:mm:ss</a:t>
            </a:r>
          </a:p>
          <a:p>
            <a:r>
              <a:rPr lang="en-GB" sz="1000">
                <a:solidFill>
                  <a:schemeClr val="tx1"/>
                </a:solidFill>
              </a:rPr>
              <a:t>datetime12 — </a:t>
            </a:r>
            <a:fld id="{A354B5CD-6576-4798-29AB-25364758697B}" type="datetime12">
              <a:rPr lang="en-GB" sz="1000" b="1">
                <a:solidFill>
                  <a:schemeClr val="accent1"/>
                </a:solidFill>
              </a:rPr>
              <a:t>4:28 PM</a:t>
            </a:fld>
            <a:r>
              <a:rPr lang="en-GB" sz="900" i="1">
                <a:solidFill>
                  <a:schemeClr val="accent3"/>
                </a:solidFill>
              </a:rPr>
              <a:t> · hh:mm AM/PM</a:t>
            </a:r>
          </a:p>
          <a:p>
            <a:r>
              <a:rPr lang="en-GB" sz="1000">
                <a:solidFill>
                  <a:schemeClr val="tx1"/>
                </a:solidFill>
              </a:rPr>
              <a:t>datetime13 — </a:t>
            </a:r>
            <a:fld id="{B465C6DE-7687-48A9-3ABC-36475869798C}" type="datetime13">
              <a:rPr lang="en-GB" sz="1000" b="1">
                <a:solidFill>
                  <a:schemeClr val="accent1"/>
                </a:solidFill>
              </a:rPr>
              <a:t>4:28:34 PM</a:t>
            </a:fld>
            <a:r>
              <a:rPr lang="en-GB" sz="900" i="1">
                <a:solidFill>
                  <a:schemeClr val="accent3"/>
                </a:solidFill>
              </a:rPr>
              <a:t> · hh:mm:ss AM/PM</a:t>
            </a:r>
          </a:p>
          <a:p>
            <a:r>
              <a:rPr lang="en-GB" sz="1000">
                <a:solidFill>
                  <a:schemeClr val="tx1"/>
                </a:solidFill>
              </a:rPr>
              <a:t>datetimeFigureOut — </a:t>
            </a:r>
            <a:fld id="{C576D7EF-8798-49BA-4BCD-475869798A9D}" type="datetimeFigureOut">
              <a:rPr lang="en-GB" sz="1000" b="1">
                <a:solidFill>
                  <a:schemeClr val="accent1"/>
                </a:solidFill>
              </a:rPr>
              <a:t>12/10/2007</a:t>
            </a:fld>
            <a:r>
              <a:rPr lang="en-GB" sz="900" i="1">
                <a:solidFill>
                  <a:schemeClr val="accent3"/>
                </a:solidFill>
              </a:rPr>
              <a:t> · not in ECMA-376; PowerPoint writes it for "update automatically"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a09 — where fields actually live</a:t>
            </a:r>
          </a:p>
        </p:txBody>
      </p:sp>
      <p:sp>
        <p:nvSpPr>
          <p:cNvPr id="10" name="What is below"/>
          <p:cNvSpPr/>
          <p:nvPr/>
        </p:nvSpPr>
        <p:spPr>
          <a:xfrm>
            <a:off x="502920" y="1234440"/>
            <a:ext cx="111861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GB" sz="1400">
                <a:solidFill>
                  <a:schemeClr val="tx1"/>
                </a:solidFill>
              </a:rPr>
              <a:t>The three placeholders along the bottom edge are bound through p:hf, and each holds a field rather than literal text.</a:t>
            </a:r>
          </a:p>
          <a:p>
            <a:r>
              <a:rPr lang="en-GB" sz="1400">
                <a:solidFill>
                  <a:schemeClr val="tx1"/>
                </a:solidFill>
              </a:rPr>
              <a:t>A viewer that cannot compute a field falls back to its cached a:t, which is why an empty cache renders as nothing at all.</a:t>
            </a:r>
          </a:p>
        </p:txBody>
      </p:sp>
      <p:sp>
        <p:nvSpPr>
          <p:cNvPr id="11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687E8F0-98A9-40CB-5CDE-58697A8B9BAE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12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PPTX Studio corpus — a09</a:t>
            </a:r>
          </a:p>
        </p:txBody>
      </p:sp>
      <p:sp>
        <p:nvSpPr>
          <p:cNvPr id="13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798F901-A9BA-41DC-6DEF-697A8B9CACBF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a09 fields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