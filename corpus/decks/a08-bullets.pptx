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97280"/>
            <a:ext cx="11277600" cy="5303520"/>
          </a:xfrm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0" indent="0">
        <a:defRPr sz="2400" kern="1200">
          <a:solidFill>
            <a:schemeClr val="tx1"/>
          </a:solidFill>
          <a:latin typeface="+mj-lt"/>
        </a:defRPr>
      </a:lvl1pPr>
    </p:titleStyle>
    <p:body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bodyStyle>
    <p:other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a08 — where a bullet glyph comes from</a:t>
            </a:r>
          </a:p>
        </p:txBody>
      </p:sp>
      <p:sp>
        <p:nvSpPr>
          <p:cNvPr id="10" name="Where the glyph comes from"/>
          <p:cNvSpPr/>
          <p:nvPr/>
        </p:nvSpPr>
        <p:spPr>
          <a:xfrm>
            <a:off x="502920" y="1234440"/>
            <a:ext cx="11186160" cy="50901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lIns="91440" tIns="45720">
            <a:norm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GB" sz="1400">
                <a:solidFill>
                  <a:schemeClr val="tx1"/>
                </a:solidFill>
              </a:rPr>
              <a:t>buChar "•" with buFont Arial — an ordinary text bullet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GB" sz="1400">
                <a:solidFill>
                  <a:schemeClr val="tx1"/>
                </a:solidFill>
              </a:rPr>
              <a:t>buChar "§" with buFont Wingdings — the low code point Office writes</a:t>
            </a:r>
          </a:p>
          <a:p>
            <a:pPr marL="457200" indent="-457200">
              <a:buFont typeface="Wingdings" pitchFamily="2" charset="2"/>
              <a:buChar char=""/>
            </a:pPr>
            <a:r>
              <a:rPr lang="en-GB" sz="1400">
                <a:solidFill>
                  <a:schemeClr val="tx1"/>
                </a:solidFill>
              </a:rPr>
              <a:t>buChar U+F0A7 with buFont Wingdings — the PUA code point it means</a:t>
            </a:r>
          </a:p>
          <a:p>
            <a:pPr marL="457200" indent="-457200">
              <a:buFont typeface="Wingdings" pitchFamily="2" charset="2"/>
              <a:buChar char="ü"/>
            </a:pPr>
            <a:r>
              <a:rPr lang="en-GB" sz="1400">
                <a:solidFill>
                  <a:schemeClr val="tx1"/>
                </a:solidFill>
              </a:rPr>
              <a:t>buChar "ü" with buFont Wingdings — a tick, not a u-umlaut</a:t>
            </a:r>
          </a:p>
          <a:p>
            <a:pPr marL="457200" indent="-457200">
              <a:buClr>
                <a:schemeClr val="accent2"/>
              </a:buClr>
              <a:buSzPct val="150000"/>
              <a:buFont typeface="Arial" pitchFamily="34" charset="0"/>
              <a:buChar char="▪"/>
            </a:pPr>
            <a:r>
              <a:rPr lang="en-GB" sz="1400">
                <a:solidFill>
                  <a:schemeClr val="tx1"/>
                </a:solidFill>
              </a:rPr>
              <a:t>buClr accent2, buSzPct 150% — the bullet coloured and sized apart from its run</a:t>
            </a:r>
          </a:p>
          <a:p>
            <a:pPr marL="457200" indent="-457200">
              <a:buClrTx/>
              <a:buSzTx/>
              <a:buFontTx/>
              <a:buChar char="–"/>
            </a:pPr>
            <a:r>
              <a:rPr lang="en-GB" sz="1400">
                <a:solidFill>
                  <a:schemeClr val="tx1"/>
                </a:solidFill>
              </a:rPr>
              <a:t>buClrTx, buSzTx, buFontTx — the bullet follows the run in all three</a:t>
            </a:r>
          </a:p>
          <a:p>
            <a:pPr marL="0" indent="0">
              <a:buNone/>
            </a:pPr>
            <a:r>
              <a:rPr lang="en-GB" sz="1400">
                <a:solidFill>
                  <a:schemeClr val="tx1"/>
                </a:solidFill>
              </a:rPr>
              <a:t>buNone — no bullet at all, and no reserved indent either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a08 — all 41 autonumber schemes</a:t>
            </a:r>
          </a:p>
        </p:txBody>
      </p:sp>
      <p:sp>
        <p:nvSpPr>
          <p:cNvPr id="10" name="Schemes 1 to 14"/>
          <p:cNvSpPr/>
          <p:nvPr/>
        </p:nvSpPr>
        <p:spPr>
          <a:xfrm>
            <a:off x="502920" y="1234440"/>
            <a:ext cx="3667760" cy="50901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lIns="91440" tIns="45720">
            <a:normAutofit/>
          </a:bodyPr>
          <a:lstStyle/>
          <a:p>
            <a:pPr marL="742950" indent="-742950">
              <a:buFont typeface="+mj-lt"/>
              <a:buAutoNum type="alphaLcParenBoth"/>
            </a:pPr>
            <a:r>
              <a:rPr lang="en-GB" sz="1100">
                <a:solidFill>
                  <a:schemeClr val="tx1"/>
                </a:solidFill>
              </a:rPr>
              <a:t>alphaLcParenBoth</a:t>
            </a:r>
          </a:p>
          <a:p>
            <a:pPr marL="742950" indent="-742950">
              <a:buFont typeface="+mj-lt"/>
              <a:buAutoNum type="alphaLcParenR"/>
            </a:pPr>
            <a:r>
              <a:rPr lang="en-GB" sz="1100">
                <a:solidFill>
                  <a:schemeClr val="tx1"/>
                </a:solidFill>
              </a:rPr>
              <a:t>alphaLcParenR</a:t>
            </a:r>
          </a:p>
          <a:p>
            <a:pPr marL="742950" indent="-742950">
              <a:buFont typeface="+mj-lt"/>
              <a:buAutoNum type="alphaLcPeriod"/>
            </a:pPr>
            <a:r>
              <a:rPr lang="en-GB" sz="1100">
                <a:solidFill>
                  <a:schemeClr val="tx1"/>
                </a:solidFill>
              </a:rPr>
              <a:t>alphaLcPeriod</a:t>
            </a:r>
          </a:p>
          <a:p>
            <a:pPr marL="742950" indent="-742950">
              <a:buFont typeface="+mj-lt"/>
              <a:buAutoNum type="alphaUcParenBoth"/>
            </a:pPr>
            <a:r>
              <a:rPr lang="en-GB" sz="1100">
                <a:solidFill>
                  <a:schemeClr val="tx1"/>
                </a:solidFill>
              </a:rPr>
              <a:t>alphaUcParenBoth</a:t>
            </a:r>
          </a:p>
          <a:p>
            <a:pPr marL="742950" indent="-742950">
              <a:buFont typeface="+mj-lt"/>
              <a:buAutoNum type="alphaUcParenR"/>
            </a:pPr>
            <a:r>
              <a:rPr lang="en-GB" sz="1100">
                <a:solidFill>
                  <a:schemeClr val="tx1"/>
                </a:solidFill>
              </a:rPr>
              <a:t>alphaUcParenR</a:t>
            </a:r>
          </a:p>
          <a:p>
            <a:pPr marL="742950" indent="-742950">
              <a:buFont typeface="+mj-lt"/>
              <a:buAutoNum type="alphaUcPeriod"/>
            </a:pPr>
            <a:r>
              <a:rPr lang="en-GB" sz="1100">
                <a:solidFill>
                  <a:schemeClr val="tx1"/>
                </a:solidFill>
              </a:rPr>
              <a:t>alphaUcPeriod</a:t>
            </a:r>
          </a:p>
          <a:p>
            <a:pPr marL="742950" indent="-742950">
              <a:buFont typeface="+mj-lt"/>
              <a:buAutoNum type="arabic1Minus"/>
            </a:pPr>
            <a:r>
              <a:rPr lang="en-GB" sz="1100">
                <a:solidFill>
                  <a:schemeClr val="tx1"/>
                </a:solidFill>
              </a:rPr>
              <a:t>arabic1Minus</a:t>
            </a:r>
          </a:p>
          <a:p>
            <a:pPr marL="742950" indent="-742950">
              <a:buFont typeface="+mj-lt"/>
              <a:buAutoNum type="arabic2Minus"/>
            </a:pPr>
            <a:r>
              <a:rPr lang="en-GB" sz="1100">
                <a:solidFill>
                  <a:schemeClr val="tx1"/>
                </a:solidFill>
              </a:rPr>
              <a:t>arabic2Minus</a:t>
            </a:r>
          </a:p>
          <a:p>
            <a:pPr marL="742950" indent="-742950">
              <a:buFont typeface="+mj-lt"/>
              <a:buAutoNum type="arabicDbPeriod"/>
            </a:pPr>
            <a:r>
              <a:rPr lang="en-GB" sz="1100">
                <a:solidFill>
                  <a:schemeClr val="tx1"/>
                </a:solidFill>
              </a:rPr>
              <a:t>arabicDbPeriod</a:t>
            </a:r>
          </a:p>
          <a:p>
            <a:pPr marL="742950" indent="-742950">
              <a:buFont typeface="+mj-lt"/>
              <a:buAutoNum type="arabicDbPlain"/>
            </a:pPr>
            <a:r>
              <a:rPr lang="en-GB" sz="1100">
                <a:solidFill>
                  <a:schemeClr val="tx1"/>
                </a:solidFill>
              </a:rPr>
              <a:t>arabicDbPlain</a:t>
            </a:r>
          </a:p>
          <a:p>
            <a:pPr marL="742950" indent="-742950">
              <a:buFont typeface="+mj-lt"/>
              <a:buAutoNum type="arabicParenBoth"/>
            </a:pPr>
            <a:r>
              <a:rPr lang="en-GB" sz="1100">
                <a:solidFill>
                  <a:schemeClr val="tx1"/>
                </a:solidFill>
              </a:rPr>
              <a:t>arabicParenBoth</a:t>
            </a:r>
          </a:p>
          <a:p>
            <a:pPr marL="742950" indent="-742950">
              <a:buFont typeface="+mj-lt"/>
              <a:buAutoNum type="arabicParenR"/>
            </a:pPr>
            <a:r>
              <a:rPr lang="en-GB" sz="1100">
                <a:solidFill>
                  <a:schemeClr val="tx1"/>
                </a:solidFill>
              </a:rPr>
              <a:t>arabicParenR</a:t>
            </a:r>
          </a:p>
          <a:p>
            <a:pPr marL="742950" indent="-742950">
              <a:buFont typeface="+mj-lt"/>
              <a:buAutoNum type="arabicPeriod"/>
            </a:pPr>
            <a:r>
              <a:rPr lang="en-GB" sz="1100">
                <a:solidFill>
                  <a:schemeClr val="tx1"/>
                </a:solidFill>
              </a:rPr>
              <a:t>arabicPeriod</a:t>
            </a:r>
          </a:p>
          <a:p>
            <a:pPr marL="742950" indent="-742950">
              <a:buFont typeface="+mj-lt"/>
              <a:buAutoNum type="arabicPlain"/>
            </a:pPr>
            <a:r>
              <a:rPr lang="en-GB" sz="1100">
                <a:solidFill>
                  <a:schemeClr val="tx1"/>
                </a:solidFill>
              </a:rPr>
              <a:t>arabicPlain</a:t>
            </a:r>
          </a:p>
        </p:txBody>
      </p:sp>
      <p:sp>
        <p:nvSpPr>
          <p:cNvPr id="11" name="Schemes 15 to 28"/>
          <p:cNvSpPr/>
          <p:nvPr/>
        </p:nvSpPr>
        <p:spPr>
          <a:xfrm>
            <a:off x="4262120" y="1234440"/>
            <a:ext cx="3667760" cy="50901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lIns="91440" tIns="45720">
            <a:normAutofit/>
          </a:bodyPr>
          <a:lstStyle/>
          <a:p>
            <a:pPr marL="742950" indent="-742950">
              <a:buFont typeface="+mj-lt"/>
              <a:buAutoNum type="circleNumDbPlain"/>
            </a:pPr>
            <a:r>
              <a:rPr lang="en-GB" sz="1100">
                <a:solidFill>
                  <a:schemeClr val="tx1"/>
                </a:solidFill>
              </a:rPr>
              <a:t>circleNumDbPlain</a:t>
            </a:r>
          </a:p>
          <a:p>
            <a:pPr marL="742950" indent="-742950">
              <a:buFont typeface="+mj-lt"/>
              <a:buAutoNum type="circleNumWdBlackPlain"/>
            </a:pPr>
            <a:r>
              <a:rPr lang="en-GB" sz="1100">
                <a:solidFill>
                  <a:schemeClr val="tx1"/>
                </a:solidFill>
              </a:rPr>
              <a:t>circleNumWdBlackPlain</a:t>
            </a:r>
          </a:p>
          <a:p>
            <a:pPr marL="742950" indent="-742950">
              <a:buFont typeface="+mj-lt"/>
              <a:buAutoNum type="circleNumWdWhitePlain"/>
            </a:pPr>
            <a:r>
              <a:rPr lang="en-GB" sz="1100">
                <a:solidFill>
                  <a:schemeClr val="tx1"/>
                </a:solidFill>
              </a:rPr>
              <a:t>circleNumWdWhitePlain</a:t>
            </a:r>
          </a:p>
          <a:p>
            <a:pPr marL="742950" indent="-742950">
              <a:buFont typeface="+mj-lt"/>
              <a:buAutoNum type="ea1ChsPeriod"/>
            </a:pPr>
            <a:r>
              <a:rPr lang="en-GB" sz="1100">
                <a:solidFill>
                  <a:schemeClr val="tx1"/>
                </a:solidFill>
              </a:rPr>
              <a:t>ea1ChsPeriod</a:t>
            </a:r>
          </a:p>
          <a:p>
            <a:pPr marL="742950" indent="-742950">
              <a:buFont typeface="+mj-lt"/>
              <a:buAutoNum type="ea1ChsPlain"/>
            </a:pPr>
            <a:r>
              <a:rPr lang="en-GB" sz="1100">
                <a:solidFill>
                  <a:schemeClr val="tx1"/>
                </a:solidFill>
              </a:rPr>
              <a:t>ea1ChsPlain</a:t>
            </a:r>
          </a:p>
          <a:p>
            <a:pPr marL="742950" indent="-742950">
              <a:buFont typeface="+mj-lt"/>
              <a:buAutoNum type="ea1ChtPeriod"/>
            </a:pPr>
            <a:r>
              <a:rPr lang="en-GB" sz="1100">
                <a:solidFill>
                  <a:schemeClr val="tx1"/>
                </a:solidFill>
              </a:rPr>
              <a:t>ea1ChtPeriod</a:t>
            </a:r>
          </a:p>
          <a:p>
            <a:pPr marL="742950" indent="-742950">
              <a:buFont typeface="+mj-lt"/>
              <a:buAutoNum type="ea1ChtPlain"/>
            </a:pPr>
            <a:r>
              <a:rPr lang="en-GB" sz="1100">
                <a:solidFill>
                  <a:schemeClr val="tx1"/>
                </a:solidFill>
              </a:rPr>
              <a:t>ea1ChtPlain</a:t>
            </a:r>
          </a:p>
          <a:p>
            <a:pPr marL="742950" indent="-742950">
              <a:buFont typeface="+mj-lt"/>
              <a:buAutoNum type="ea1JpnChsDbPeriod"/>
            </a:pPr>
            <a:r>
              <a:rPr lang="en-GB" sz="1100">
                <a:solidFill>
                  <a:schemeClr val="tx1"/>
                </a:solidFill>
              </a:rPr>
              <a:t>ea1JpnChsDbPeriod</a:t>
            </a:r>
          </a:p>
          <a:p>
            <a:pPr marL="742950" indent="-742950">
              <a:buFont typeface="+mj-lt"/>
              <a:buAutoNum type="ea1JpnKorPeriod"/>
            </a:pPr>
            <a:r>
              <a:rPr lang="en-GB" sz="1100">
                <a:solidFill>
                  <a:schemeClr val="tx1"/>
                </a:solidFill>
              </a:rPr>
              <a:t>ea1JpnKorPeriod</a:t>
            </a:r>
          </a:p>
          <a:p>
            <a:pPr marL="742950" indent="-742950">
              <a:buFont typeface="+mj-lt"/>
              <a:buAutoNum type="ea1JpnKorPlain"/>
            </a:pPr>
            <a:r>
              <a:rPr lang="en-GB" sz="1100">
                <a:solidFill>
                  <a:schemeClr val="tx1"/>
                </a:solidFill>
              </a:rPr>
              <a:t>ea1JpnKorPlain</a:t>
            </a:r>
          </a:p>
          <a:p>
            <a:pPr marL="742950" indent="-742950">
              <a:buFont typeface="+mj-lt"/>
              <a:buAutoNum type="hebrew2Minus"/>
            </a:pPr>
            <a:r>
              <a:rPr lang="en-GB" sz="1100">
                <a:solidFill>
                  <a:schemeClr val="tx1"/>
                </a:solidFill>
              </a:rPr>
              <a:t>hebrew2Minus</a:t>
            </a:r>
          </a:p>
          <a:p>
            <a:pPr marL="742950" indent="-742950">
              <a:buFont typeface="+mj-lt"/>
              <a:buAutoNum type="hindiAlpha1Period"/>
            </a:pPr>
            <a:r>
              <a:rPr lang="en-GB" sz="1100">
                <a:solidFill>
                  <a:schemeClr val="tx1"/>
                </a:solidFill>
              </a:rPr>
              <a:t>hindiAlpha1Period</a:t>
            </a:r>
          </a:p>
          <a:p>
            <a:pPr marL="742950" indent="-742950">
              <a:buFont typeface="+mj-lt"/>
              <a:buAutoNum type="hindiAlphaPeriod"/>
            </a:pPr>
            <a:r>
              <a:rPr lang="en-GB" sz="1100">
                <a:solidFill>
                  <a:schemeClr val="tx1"/>
                </a:solidFill>
              </a:rPr>
              <a:t>hindiAlphaPeriod</a:t>
            </a:r>
          </a:p>
          <a:p>
            <a:pPr marL="742950" indent="-742950">
              <a:buFont typeface="+mj-lt"/>
              <a:buAutoNum type="hindiNumParenR"/>
            </a:pPr>
            <a:r>
              <a:rPr lang="en-GB" sz="1100">
                <a:solidFill>
                  <a:schemeClr val="tx1"/>
                </a:solidFill>
              </a:rPr>
              <a:t>hindiNumParenR</a:t>
            </a:r>
          </a:p>
        </p:txBody>
      </p:sp>
      <p:sp>
        <p:nvSpPr>
          <p:cNvPr id="12" name="Schemes 29 to 41"/>
          <p:cNvSpPr/>
          <p:nvPr/>
        </p:nvSpPr>
        <p:spPr>
          <a:xfrm>
            <a:off x="8021320" y="1234440"/>
            <a:ext cx="3667760" cy="50901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lIns="91440" tIns="45720">
            <a:normAutofit/>
          </a:bodyPr>
          <a:lstStyle/>
          <a:p>
            <a:pPr marL="742950" indent="-742950">
              <a:buFont typeface="+mj-lt"/>
              <a:buAutoNum type="hindiNumPeriod"/>
            </a:pPr>
            <a:r>
              <a:rPr lang="en-GB" sz="1100">
                <a:solidFill>
                  <a:schemeClr val="tx1"/>
                </a:solidFill>
              </a:rPr>
              <a:t>hindiNumPeriod</a:t>
            </a:r>
          </a:p>
          <a:p>
            <a:pPr marL="742950" indent="-742950">
              <a:buFont typeface="+mj-lt"/>
              <a:buAutoNum type="romanLcParenBoth"/>
            </a:pPr>
            <a:r>
              <a:rPr lang="en-GB" sz="1100">
                <a:solidFill>
                  <a:schemeClr val="tx1"/>
                </a:solidFill>
              </a:rPr>
              <a:t>romanLcParenBoth</a:t>
            </a:r>
          </a:p>
          <a:p>
            <a:pPr marL="742950" indent="-742950">
              <a:buFont typeface="+mj-lt"/>
              <a:buAutoNum type="romanLcParenR"/>
            </a:pPr>
            <a:r>
              <a:rPr lang="en-GB" sz="1100">
                <a:solidFill>
                  <a:schemeClr val="tx1"/>
                </a:solidFill>
              </a:rPr>
              <a:t>romanLcParenR</a:t>
            </a:r>
          </a:p>
          <a:p>
            <a:pPr marL="742950" indent="-742950">
              <a:buFont typeface="+mj-lt"/>
              <a:buAutoNum type="romanLcPeriod"/>
            </a:pPr>
            <a:r>
              <a:rPr lang="en-GB" sz="1100">
                <a:solidFill>
                  <a:schemeClr val="tx1"/>
                </a:solidFill>
              </a:rPr>
              <a:t>romanLcPeriod</a:t>
            </a:r>
          </a:p>
          <a:p>
            <a:pPr marL="742950" indent="-742950">
              <a:buFont typeface="+mj-lt"/>
              <a:buAutoNum type="romanUcParenBoth"/>
            </a:pPr>
            <a:r>
              <a:rPr lang="en-GB" sz="1100">
                <a:solidFill>
                  <a:schemeClr val="tx1"/>
                </a:solidFill>
              </a:rPr>
              <a:t>romanUcParenBoth</a:t>
            </a:r>
          </a:p>
          <a:p>
            <a:pPr marL="742950" indent="-742950">
              <a:buFont typeface="+mj-lt"/>
              <a:buAutoNum type="romanUcParenR"/>
            </a:pPr>
            <a:r>
              <a:rPr lang="en-GB" sz="1100">
                <a:solidFill>
                  <a:schemeClr val="tx1"/>
                </a:solidFill>
              </a:rPr>
              <a:t>romanUcParenR</a:t>
            </a:r>
          </a:p>
          <a:p>
            <a:pPr marL="742950" indent="-742950">
              <a:buFont typeface="+mj-lt"/>
              <a:buAutoNum type="romanUcPeriod"/>
            </a:pPr>
            <a:r>
              <a:rPr lang="en-GB" sz="1100">
                <a:solidFill>
                  <a:schemeClr val="tx1"/>
                </a:solidFill>
              </a:rPr>
              <a:t>romanUcPeriod</a:t>
            </a:r>
          </a:p>
          <a:p>
            <a:pPr marL="742950" indent="-742950">
              <a:buFont typeface="+mj-lt"/>
              <a:buAutoNum type="thaiAlphaParenBoth"/>
            </a:pPr>
            <a:r>
              <a:rPr lang="en-GB" sz="1100">
                <a:solidFill>
                  <a:schemeClr val="tx1"/>
                </a:solidFill>
              </a:rPr>
              <a:t>thaiAlphaParenBoth</a:t>
            </a:r>
          </a:p>
          <a:p>
            <a:pPr marL="742950" indent="-742950">
              <a:buFont typeface="+mj-lt"/>
              <a:buAutoNum type="thaiAlphaParenR"/>
            </a:pPr>
            <a:r>
              <a:rPr lang="en-GB" sz="1100">
                <a:solidFill>
                  <a:schemeClr val="tx1"/>
                </a:solidFill>
              </a:rPr>
              <a:t>thaiAlphaParenR</a:t>
            </a:r>
          </a:p>
          <a:p>
            <a:pPr marL="742950" indent="-742950">
              <a:buFont typeface="+mj-lt"/>
              <a:buAutoNum type="thaiAlphaPeriod"/>
            </a:pPr>
            <a:r>
              <a:rPr lang="en-GB" sz="1100">
                <a:solidFill>
                  <a:schemeClr val="tx1"/>
                </a:solidFill>
              </a:rPr>
              <a:t>thaiAlphaPeriod</a:t>
            </a:r>
          </a:p>
          <a:p>
            <a:pPr marL="742950" indent="-742950">
              <a:buFont typeface="+mj-lt"/>
              <a:buAutoNum type="thaiNumParenBoth"/>
            </a:pPr>
            <a:r>
              <a:rPr lang="en-GB" sz="1100">
                <a:solidFill>
                  <a:schemeClr val="tx1"/>
                </a:solidFill>
              </a:rPr>
              <a:t>thaiNumParenBoth</a:t>
            </a:r>
          </a:p>
          <a:p>
            <a:pPr marL="742950" indent="-742950">
              <a:buFont typeface="+mj-lt"/>
              <a:buAutoNum type="thaiNumParenR"/>
            </a:pPr>
            <a:r>
              <a:rPr lang="en-GB" sz="1100">
                <a:solidFill>
                  <a:schemeClr val="tx1"/>
                </a:solidFill>
              </a:rPr>
              <a:t>thaiNumParenR</a:t>
            </a:r>
          </a:p>
          <a:p>
            <a:pPr marL="742950" indent="-742950">
              <a:buFont typeface="+mj-lt"/>
              <a:buAutoNum type="thaiNumPeriod"/>
            </a:pPr>
            <a:r>
              <a:rPr lang="en-GB" sz="1100">
                <a:solidFill>
                  <a:schemeClr val="tx1"/>
                </a:solidFill>
              </a:rPr>
              <a:t>thaiNumPeriod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a08 — image bullets, counters, nine levels</a:t>
            </a:r>
          </a:p>
        </p:txBody>
      </p:sp>
      <p:sp>
        <p:nvSpPr>
          <p:cNvPr id="10" name="buBlip and startAt"/>
          <p:cNvSpPr/>
          <p:nvPr/>
        </p:nvSpPr>
        <p:spPr>
          <a:xfrm>
            <a:off x="502920" y="1234440"/>
            <a:ext cx="5547360" cy="50901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lIns="91440" tIns="45720">
            <a:normAutofit/>
          </a:bodyPr>
          <a:lstStyle/>
          <a:p>
            <a:r>
              <a:rPr lang="en-GB" sz="1200"/>
              <a:t>buBlip resolves r:embed against the slide, like any other blip:</a:t>
            </a:r>
          </a:p>
          <a:p>
            <a:pPr marL="457200" indent="-457200">
              <a:buSzPct val="100000"/>
              <a:buBlip>
                <a:blip r:embed="rId2"/>
              </a:buBlip>
            </a:pPr>
            <a:r>
              <a:rPr lang="en-GB" sz="1400">
                <a:solidFill>
                  <a:schemeClr val="tx1"/>
                </a:solidFill>
              </a:rPr>
              <a:t>image bullet 1</a:t>
            </a:r>
          </a:p>
          <a:p>
            <a:pPr marL="457200" indent="-457200">
              <a:buSzPct val="100000"/>
              <a:buBlip>
                <a:blip r:embed="rId2"/>
              </a:buBlip>
            </a:pPr>
            <a:r>
              <a:rPr lang="en-GB" sz="1400">
                <a:solidFill>
                  <a:schemeClr val="tx1"/>
                </a:solidFill>
              </a:rPr>
              <a:t>image bullet 2</a:t>
            </a:r>
          </a:p>
          <a:p>
            <a:pPr marL="457200" indent="-457200">
              <a:buSzPct val="100000"/>
              <a:buBlip>
                <a:blip r:embed="rId2"/>
              </a:buBlip>
            </a:pPr>
            <a:r>
              <a:rPr lang="en-GB" sz="1400">
                <a:solidFill>
                  <a:schemeClr val="tx1"/>
                </a:solidFill>
              </a:rPr>
              <a:t>image bullet 3</a:t>
            </a:r>
          </a:p>
          <a:p>
            <a:r>
              <a:rPr lang="en-GB" sz="1200"/>
              <a:t>startAt="7" restarts the counter mid-list:</a:t>
            </a:r>
          </a:p>
          <a:p>
            <a:pPr marL="457200" indent="-457200">
              <a:buFont typeface="+mj-lt"/>
              <a:buAutoNum type="arabicPeriod" startAt="7"/>
            </a:pPr>
            <a:r>
              <a:rPr lang="en-GB" sz="1400">
                <a:solidFill>
                  <a:schemeClr val="tx1"/>
                </a:solidFill>
              </a:rPr>
              <a:t>numbered 7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400">
                <a:solidFill>
                  <a:schemeClr val="tx1"/>
                </a:solidFill>
              </a:rPr>
              <a:t>numbered 8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400">
                <a:solidFill>
                  <a:schemeClr val="tx1"/>
                </a:solidFill>
              </a:rPr>
              <a:t>numbered 9</a:t>
            </a:r>
          </a:p>
        </p:txBody>
      </p:sp>
      <p:sp>
        <p:nvSpPr>
          <p:cNvPr id="11" name="Nine levels from one a:lstStyle"/>
          <p:cNvSpPr/>
          <p:nvPr/>
        </p:nvSpPr>
        <p:spPr>
          <a:xfrm>
            <a:off x="6141720" y="1234440"/>
            <a:ext cx="5547360" cy="5090160"/>
          </a:xfrm>
          <a:prstGeom prst="rect">
            <a:avLst/>
          </a:prstGeom>
          <a:solidFill>
            <a:srgbClr val="F2F2F2"/>
          </a:solidFill>
          <a:ln w="9525">
            <a:solidFill>
              <a:schemeClr val="tx1"/>
            </a:solidFill>
          </a:ln>
        </p:spPr>
        <p:txBody>
          <a:bodyPr wrap="square" lIns="91440" tIns="45720">
            <a:normAutofit/>
          </a:bodyPr>
          <a:lstStyle>
            <a:lvl1pPr marL="285750" indent="-285750">
              <a:buFont typeface="Arial" pitchFamily="34" charset="0"/>
              <a:buChar char="•"/>
            </a:lvl1pPr>
            <a:lvl2pPr marL="571500" indent="-285750">
              <a:buFont typeface="Arial" pitchFamily="34" charset="0"/>
              <a:buChar char="–"/>
            </a:lvl2pPr>
            <a:lvl3pPr marL="857250" indent="-285750">
              <a:buFont typeface="Wingdings" pitchFamily="2" charset="2"/>
              <a:buChar char="§"/>
            </a:lvl3pPr>
            <a:lvl4pPr marL="1143000" indent="-285750">
              <a:buFont typeface="Arial" pitchFamily="34" charset="0"/>
              <a:buChar char="–"/>
            </a:lvl4pPr>
            <a:lvl5pPr marL="1428750" indent="-285750">
              <a:buFont typeface="Wingdings" pitchFamily="2" charset="2"/>
              <a:buChar char="Ø"/>
            </a:lvl5pPr>
            <a:lvl6pPr marL="1714500" indent="-285750">
              <a:buFont typeface="Arial" pitchFamily="34" charset="0"/>
              <a:buChar char="»"/>
            </a:lvl6pPr>
            <a:lvl7pPr marL="2000250" indent="-285750">
              <a:buFont typeface="Wingdings" pitchFamily="2" charset="2"/>
              <a:buChar char="Ø"/>
            </a:lvl7pPr>
            <a:lvl8pPr marL="2286000" indent="-285750">
              <a:buFont typeface="Arial" pitchFamily="34" charset="0"/>
              <a:buChar char="•"/>
            </a:lvl8pPr>
            <a:lvl9pPr marL="2571750" indent="-285750">
              <a:buFont typeface="Arial" pitchFamily="34" charset="0"/>
              <a:buChar char="•"/>
            </a:lvl9pPr>
          </a:lstStyle>
          <a:p>
            <a:r>
              <a:rPr lang="en-GB" sz="1200">
                <a:solidFill>
                  <a:schemeClr val="tx1"/>
                </a:solidFill>
              </a:rPr>
              <a:t>level 1, bullet from a:lstStyle</a:t>
            </a:r>
          </a:p>
          <a:p>
            <a:pPr lvl="1"/>
            <a:r>
              <a:rPr lang="en-GB" sz="1200">
                <a:solidFill>
                  <a:schemeClr val="tx1"/>
                </a:solidFill>
              </a:rPr>
              <a:t>level 2, bullet from a:lstStyle</a:t>
            </a:r>
          </a:p>
          <a:p>
            <a:pPr lvl="2"/>
            <a:r>
              <a:rPr lang="en-GB" sz="1200">
                <a:solidFill>
                  <a:schemeClr val="tx1"/>
                </a:solidFill>
              </a:rPr>
              <a:t>level 3, bullet from a:lstStyle</a:t>
            </a:r>
          </a:p>
          <a:p>
            <a:pPr lvl="3"/>
            <a:r>
              <a:rPr lang="en-GB" sz="1200">
                <a:solidFill>
                  <a:schemeClr val="tx1"/>
                </a:solidFill>
              </a:rPr>
              <a:t>level 4, bullet from a:lstStyle</a:t>
            </a:r>
          </a:p>
          <a:p>
            <a:pPr lvl="4"/>
            <a:r>
              <a:rPr lang="en-GB" sz="1200">
                <a:solidFill>
                  <a:schemeClr val="tx1"/>
                </a:solidFill>
              </a:rPr>
              <a:t>level 5, bullet from a:lstStyle</a:t>
            </a:r>
          </a:p>
          <a:p>
            <a:pPr lvl="5"/>
            <a:r>
              <a:rPr lang="en-GB" sz="1200">
                <a:solidFill>
                  <a:schemeClr val="tx1"/>
                </a:solidFill>
              </a:rPr>
              <a:t>level 6, bullet from a:lstStyle</a:t>
            </a:r>
          </a:p>
          <a:p>
            <a:pPr lvl="6"/>
            <a:r>
              <a:rPr lang="en-GB" sz="1200">
                <a:solidFill>
                  <a:schemeClr val="tx1"/>
                </a:solidFill>
              </a:rPr>
              <a:t>level 7, bullet from a:lstStyle</a:t>
            </a:r>
          </a:p>
          <a:p>
            <a:pPr lvl="7"/>
            <a:r>
              <a:rPr lang="en-GB" sz="1200">
                <a:solidFill>
                  <a:schemeClr val="tx1"/>
                </a:solidFill>
              </a:rPr>
              <a:t>level 8, bullet from a:lstStyle</a:t>
            </a:r>
          </a:p>
          <a:p>
            <a:pPr lvl="8"/>
            <a:r>
              <a:rPr lang="en-GB" sz="1200">
                <a:solidFill>
                  <a:schemeClr val="tx1"/>
                </a:solidFill>
              </a:rPr>
              <a:t>level 9, bullet from a:lstStyle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X Studio Corpus">
  <a:themeElements>
    <a:clrScheme name="PPTX Studio Corpu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X Studio Corpu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 Studio Corpu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6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 Studio corpus generator</Application>
  <Slides>3</Slides>
  <ScaleCrop>false</ScaleCrop>
  <AppVersion>0.0000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 Studio corpus: a08 bullets</dc:title>
  <dc:creator>PPTX Studio corpus generator</dc:creator>
  <cp:lastModifiedBy>PPTX Studio corpus generator</cp:lastModifiedBy>
  <dcterms:created xsi:type="dcterms:W3CDTF">2026-08-27T00:00:00Z</dcterms:created>
  <dcterms:modified xsi:type="dcterms:W3CDTF">2026-08-27T00:00:00Z</dcterms:modified>
</cp:coreProperties>
</file>