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97280"/>
            <a:ext cx="11277600" cy="5303520"/>
          </a:xfrm>
        </p:spPr>
        <p:txBody>
          <a:bodyPr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marL="0" indent="0">
        <a:defRPr sz="2400" kern="1200">
          <a:solidFill>
            <a:schemeClr val="tx1"/>
          </a:solidFill>
          <a:latin typeface="+mj-lt"/>
        </a:defRPr>
      </a:lvl1pPr>
    </p:titleStyle>
    <p:body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bodyStyle>
    <p:other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a17 — the canonical click-to-fade nest</a:t>
            </a:r>
          </a:p>
        </p:txBody>
      </p:sp>
      <p:sp>
        <p:nvSpPr>
          <p:cNvPr id="10" name="spid 10 — fades in"/>
          <p:cNvSpPr/>
          <p:nvPr/>
        </p:nvSpPr>
        <p:spPr>
          <a:xfrm>
            <a:off x="502920" y="1234440"/>
            <a:ext cx="3667760" cy="5090160"/>
          </a:xfrm>
          <a:prstGeom prst="rect">
            <a:avLst/>
          </a:prstGeom>
          <a:solidFill>
            <a:schemeClr val="accent1"/>
          </a:solidFill>
        </p:spPr>
        <p:txBody>
          <a:bodyPr wrap="square" lIns="91440" tIns="45720" rIns="91440" bIns="45720" anchor="ctr"/>
          <a:lstStyle/>
          <a:p>
            <a:pPr algn="ctr"/>
            <a:r>
              <a:rPr sz="1400"/>
              <a:t>spid 10 — fades in</a:t>
            </a:r>
          </a:p>
        </p:txBody>
      </p:sp>
      <p:sp>
        <p:nvSpPr>
          <p:cNvPr id="11" name="spid 11"/>
          <p:cNvSpPr/>
          <p:nvPr/>
        </p:nvSpPr>
        <p:spPr>
          <a:xfrm>
            <a:off x="4262120" y="1234440"/>
            <a:ext cx="3667760" cy="5090160"/>
          </a:xfrm>
          <a:prstGeom prst="rect">
            <a:avLst/>
          </a:prstGeom>
          <a:solidFill>
            <a:schemeClr val="accent2"/>
          </a:solidFill>
        </p:spPr>
        <p:txBody>
          <a:bodyPr wrap="square" lIns="91440" tIns="45720" rIns="91440" bIns="45720" anchor="ctr"/>
          <a:lstStyle/>
          <a:p>
            <a:pPr algn="ctr"/>
            <a:r>
              <a:rPr sz="1400"/>
              <a:t>spid 11</a:t>
            </a:r>
          </a:p>
        </p:txBody>
      </p:sp>
      <p:sp>
        <p:nvSpPr>
          <p:cNvPr id="12" name="spid 12"/>
          <p:cNvSpPr/>
          <p:nvPr/>
        </p:nvSpPr>
        <p:spPr>
          <a:xfrm>
            <a:off x="8021320" y="1234440"/>
            <a:ext cx="3667760" cy="5090160"/>
          </a:xfrm>
          <a:prstGeom prst="rect">
            <a:avLst/>
          </a:prstGeom>
          <a:solidFill>
            <a:schemeClr val="accent3"/>
          </a:solidFill>
        </p:spPr>
        <p:txBody>
          <a:bodyPr wrap="square" lIns="91440" tIns="45720" rIns="91440" bIns="45720" anchor="ctr"/>
          <a:lstStyle/>
          <a:p>
            <a:pPr algn="ctr"/>
            <a:r>
              <a:rPr sz="1400"/>
              <a:t>spid 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a17 — every behaviour element except audio and video</a:t>
            </a:r>
          </a:p>
        </p:txBody>
      </p:sp>
      <p:sp>
        <p:nvSpPr>
          <p:cNvPr id="10" name="spid 10 — animClr"/>
          <p:cNvSpPr/>
          <p:nvPr/>
        </p:nvSpPr>
        <p:spPr>
          <a:xfrm>
            <a:off x="502920" y="1234440"/>
            <a:ext cx="3667760" cy="5090160"/>
          </a:xfrm>
          <a:prstGeom prst="rect">
            <a:avLst/>
          </a:prstGeom>
          <a:solidFill>
            <a:schemeClr val="accent1"/>
          </a:solidFill>
        </p:spPr>
        <p:txBody>
          <a:bodyPr wrap="square" lIns="91440" tIns="45720" rIns="91440" bIns="45720" anchor="ctr"/>
          <a:lstStyle/>
          <a:p>
            <a:pPr algn="ctr"/>
            <a:r>
              <a:rPr sz="1400"/>
              <a:t>spid 10 — animClr</a:t>
            </a:r>
          </a:p>
        </p:txBody>
      </p:sp>
      <p:sp>
        <p:nvSpPr>
          <p:cNvPr id="11" name="spid 11 — animMotion, animRot"/>
          <p:cNvSpPr/>
          <p:nvPr/>
        </p:nvSpPr>
        <p:spPr>
          <a:xfrm>
            <a:off x="4262120" y="1234440"/>
            <a:ext cx="3667760" cy="5090160"/>
          </a:xfrm>
          <a:prstGeom prst="rect">
            <a:avLst/>
          </a:prstGeom>
          <a:solidFill>
            <a:schemeClr val="accent2"/>
          </a:solidFill>
        </p:spPr>
        <p:txBody>
          <a:bodyPr wrap="square" lIns="91440" tIns="45720" rIns="91440" bIns="45720" anchor="ctr"/>
          <a:lstStyle/>
          <a:p>
            <a:pPr algn="ctr"/>
            <a:r>
              <a:rPr sz="1400"/>
              <a:t>spid 11 — animMotion, animRot</a:t>
            </a:r>
          </a:p>
        </p:txBody>
      </p:sp>
      <p:sp>
        <p:nvSpPr>
          <p:cNvPr id="12" name="spid 12 — animScale, anim"/>
          <p:cNvSpPr/>
          <p:nvPr/>
        </p:nvSpPr>
        <p:spPr>
          <a:xfrm>
            <a:off x="8021320" y="1234440"/>
            <a:ext cx="3667760" cy="5090160"/>
          </a:xfrm>
          <a:prstGeom prst="rect">
            <a:avLst/>
          </a:prstGeom>
          <a:solidFill>
            <a:schemeClr val="accent3"/>
          </a:solidFill>
        </p:spPr>
        <p:txBody>
          <a:bodyPr wrap="square" lIns="91440" tIns="45720" rIns="91440" bIns="45720" anchor="ctr"/>
          <a:lstStyle/>
          <a:p>
            <a:pPr algn="ctr"/>
            <a:r>
              <a:rPr sz="1400"/>
              <a:t>spid 12 — animScale, anim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392B"/>
                                      </p:to>
                                    </p:animClr>
                                    <p:animMotion origin="layout" path="M 0 0 L 0.1 0.05 E" pathEditMode="relative">
                                      <p:cBhvr>
                                        <p:cTn id="7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rCtr x="5000" y="2500"/>
                                    </p:animMotion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by x="150000" y="150000"/>
                                    </p:animScale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0.75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a17 — excl, cmd, iterate, subTnLst and a build template</a:t>
            </a:r>
          </a:p>
        </p:txBody>
      </p:sp>
      <p:sp>
        <p:nvSpPr>
          <p:cNvPr id="10" name="spid 10 — build target"/>
          <p:cNvSpPr/>
          <p:nvPr/>
        </p:nvSpPr>
        <p:spPr>
          <a:xfrm>
            <a:off x="502920" y="1234440"/>
            <a:ext cx="3667760" cy="5090160"/>
          </a:xfrm>
          <a:prstGeom prst="rect">
            <a:avLst/>
          </a:prstGeom>
          <a:solidFill>
            <a:schemeClr val="accent1"/>
          </a:solidFill>
        </p:spPr>
        <p:txBody>
          <a:bodyPr wrap="square" lIns="91440" tIns="45720" rIns="91440" bIns="45720" anchor="ctr"/>
          <a:lstStyle/>
          <a:p>
            <a:pPr algn="ctr"/>
            <a:r>
              <a:rPr sz="1400"/>
              <a:t>spid 10 — build target</a:t>
            </a:r>
          </a:p>
        </p:txBody>
      </p:sp>
      <p:sp>
        <p:nvSpPr>
          <p:cNvPr id="11" name="spid 11 — subTnLst target"/>
          <p:cNvSpPr/>
          <p:nvPr/>
        </p:nvSpPr>
        <p:spPr>
          <a:xfrm>
            <a:off x="4262120" y="1234440"/>
            <a:ext cx="3667760" cy="5090160"/>
          </a:xfrm>
          <a:prstGeom prst="rect">
            <a:avLst/>
          </a:prstGeom>
          <a:solidFill>
            <a:schemeClr val="accent2"/>
          </a:solidFill>
        </p:spPr>
        <p:txBody>
          <a:bodyPr wrap="square" lIns="91440" tIns="45720" rIns="91440" bIns="45720" anchor="ctr"/>
          <a:lstStyle/>
          <a:p>
            <a:pPr algn="ctr"/>
            <a:r>
              <a:rPr sz="1400"/>
              <a:t>spid 11 — subTnLst target</a:t>
            </a:r>
          </a:p>
        </p:txBody>
      </p:sp>
      <p:sp>
        <p:nvSpPr>
          <p:cNvPr id="12" name="spid 12 — cmd target"/>
          <p:cNvSpPr/>
          <p:nvPr/>
        </p:nvSpPr>
        <p:spPr>
          <a:xfrm>
            <a:off x="8021320" y="1234440"/>
            <a:ext cx="3667760" cy="5090160"/>
          </a:xfrm>
          <a:prstGeom prst="rect">
            <a:avLst/>
          </a:prstGeom>
          <a:solidFill>
            <a:schemeClr val="accent3"/>
          </a:solidFill>
        </p:spPr>
        <p:txBody>
          <a:bodyPr wrap="square" lIns="91440" tIns="45720" rIns="91440" bIns="45720" anchor="ctr"/>
          <a:lstStyle/>
          <a:p>
            <a:pPr algn="ctr"/>
            <a:r>
              <a:rPr sz="1400"/>
              <a:t>spid 12 — cmd target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excl>
                                      <p:cTn id="6" fill="hold">
                                        <p:stCondLst>
                                          <p:cond delay="0"/>
                                        </p:stCondLst>
                                        <p:iterate type="lt">
                                          <p:tmPct val="10000"/>
                                        </p:iterate>
                                        <p:childTnLst>
                                          <p:set>
                                            <p:cBhvr>
                                              <p:cTn id="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</p:childTnLst>
                                        <p:subTnLst>
                                          <p:animRot by="5400000">
                                            <p:cBhvr>
                                              <p:cTn id="8" dur="500" fill="hold"/>
                                              <p:tgtEl>
                                                <p:spTgt spid="11"/>
                                              </p:tgtEl>
                                              <p:attrNameLst>
                                                <p:attrName>r</p:attrName>
                                              </p:attrNameLst>
                                            </p:cBhvr>
                                          </p:animRot>
                                        </p:subTnLst>
                                      </p:cTn>
                                    </p:excl>
                                    <p:cmd type="evt" cmd="onstopaudio">
                                      <p:cBhvr>
                                        <p:cTn id="9" dur="1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bldLvl="2" animBg="1">
        <p:tmplLst>
          <p:tmpl lvl="1">
            <p:tnLst>
              <p:par>
                <p:cTn id="20" presetID="1" presetClass="entr" fill="hold" nodeType="withEffect">
                  <p:stCondLst>
                    <p:cond delay="0"/>
                  </p:stCondLst>
                  <p:childTnLst>
                    <p:set>
                      <p:cBhvr>
                        <p:cTn id="21"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>
</file>

<file path=ppt/theme/theme1.xml><?xml version="1.0" encoding="utf-8"?>
<a:theme xmlns:a="http://schemas.openxmlformats.org/drawingml/2006/main" name="PPTX Studio Corpus">
  <a:themeElements>
    <a:clrScheme name="PPTX Studio Corpu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X Studio Corpu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PTX Studio Corpu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0000"/>
              </a:schemeClr>
            </a:gs>
            <a:gs pos="100000">
              <a:schemeClr val="phClr">
                <a:shade val="6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 Studio corpus generator</Application>
  <Slides>3</Slides>
  <ScaleCrop>false</ScaleCrop>
  <AppVersion>0.0000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 Studio corpus: a17 animations</dc:title>
  <dc:creator>PPTX Studio corpus generator</dc:creator>
  <cp:lastModifiedBy>PPTX Studio corpus generator</cp:lastModifiedBy>
  <dcterms:created xsi:type="dcterms:W3CDTF">2026-08-27T00:00:00Z</dcterms:created>
  <dcterms:modified xsi:type="dcterms:W3CDTF">2026-08-27T00:00:00Z</dcterms:modified>
</cp:coreProperties>
</file>