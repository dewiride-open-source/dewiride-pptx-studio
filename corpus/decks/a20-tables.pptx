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a20 — the occupancy grid: gridSpan, hMerge, rowSpan, vMerge</a:t>
            </a:r>
          </a:p>
        </p:txBody>
      </p:sp>
      <p:graphicFrame>
        <p:nvGraphicFramePr>
          <p:cNvPr id="10" name="Merged table"/>
          <p:cNvGraphicFramePr>
            <a:graphicFrameLocks noGrp="1"/>
          </p:cNvGraphicFramePr>
          <p:nvPr/>
        </p:nvGraphicFramePr>
        <p:xfrm>
          <a:off x="1016000" y="1600200"/>
          <a:ext cx="1016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  <a:gridCol w="2540000"/>
              </a:tblGrid>
              <a:tr h="700000">
                <a:tc gridSpan="2">
                  <a:txBody>
                    <a:bodyPr/>
                    <a:lstStyle/>
                    <a:p>
                      <a:r>
                        <a:rPr lang="en-GB" sz="1100" b="1"/>
                        <a:t>gridSpan="2" - one cell, two columns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plain</a:t>
                      </a:r>
                    </a:p>
                  </a:txBody>
                  <a:tcPr/>
                </a:tc>
              </a:tr>
              <a:tr h="700000">
                <a:tc rowSpan="2">
                  <a:txBody>
                    <a:bodyPr/>
                    <a:lstStyle/>
                    <a:p>
                      <a:r>
                        <a:rPr lang="en-GB" sz="1100"/>
                        <a:t>rowSpan="2" starts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plain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GB" sz="1100"/>
                        <a:t>gridSpan="2" rowSpan="2" - a 2x2 block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100"/>
                    </a:p>
                  </a:txBody>
                  <a:tcPr/>
                </a:tc>
              </a:tr>
              <a:tr h="700000">
                <a:tc vMerge="1">
                  <a:txBody>
                    <a:bodyPr/>
                    <a:lstStyle/>
                    <a:p>
                      <a:endParaRPr lang="en-GB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plain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11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sz="1100"/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plain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a20 — a:tcPr: borders, margins, anchoring, vertical text, fills</a:t>
            </a:r>
          </a:p>
        </p:txBody>
      </p:sp>
      <p:graphicFrame>
        <p:nvGraphicFramePr>
          <p:cNvPr id="10" name="Cell properties table"/>
          <p:cNvGraphicFramePr>
            <a:graphicFrameLocks noGrp="1"/>
          </p:cNvGraphicFramePr>
          <p:nvPr/>
        </p:nvGraphicFramePr>
        <p:xfrm>
          <a:off x="1016000" y="1600200"/>
          <a:ext cx="10160000" cy="2800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  <a:gridCol w="2540000"/>
                <a:gridCol w="2540000"/>
              </a:tblGrid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lnL + lnR</a:t>
                      </a:r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</a:lnL>
                    <a:lnR w="57150" cap="flat" cmpd="sng" algn="ctr">
                      <a:solidFill>
                        <a:srgbClr val="C00000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lnT + lnB</a:t>
                      </a: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</a:lnT>
                    <a:lnB w="57150" cap="flat" cmpd="sng" algn="ctr">
                      <a:solidFill>
                        <a:srgbClr val="0070C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both diagonals</a:t>
                      </a:r>
                    </a:p>
                  </a:txBody>
                  <a:tcPr>
                    <a:lnTlToBr w="28575" cap="flat" cmpd="sng" algn="ctr">
                      <a:solidFill>
                        <a:srgbClr val="7030A0"/>
                      </a:solidFill>
                    </a:lnTlToBr>
                    <a:lnBlToTr w="28575" cap="flat" cmpd="sng" algn="ctr">
                      <a:solidFill>
                        <a:srgbClr val="7030A0"/>
                      </a:solidFill>
                      <a:prstDash val="dash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all six at once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</a:lnL>
                    <a:lnR w="19050" cap="flat" cmpd="sng" algn="ctr">
                      <a:solidFill>
                        <a:schemeClr val="accent2"/>
                      </a:solidFill>
                    </a:lnR>
                    <a:lnT w="19050" cap="flat" cmpd="sng" algn="ctr">
                      <a:solidFill>
                        <a:schemeClr val="accent3"/>
                      </a:solidFill>
                    </a:lnT>
                    <a:lnB w="19050" cap="flat" cmpd="sng" algn="ctr">
                      <a:solidFill>
                        <a:schemeClr val="accent4"/>
                      </a:solidFill>
                    </a:lnB>
                    <a:lnTlToBr w="12700" cap="flat" cmpd="sng" algn="ctr">
                      <a:solidFill>
                        <a:schemeClr val="accent5"/>
                      </a:solidFill>
                      <a:prstDash val="sysDot"/>
                    </a:lnTlToBr>
                    <a:lnBlToTr w="12700" cap="flat" cmpd="sng" algn="ctr">
                      <a:solidFill>
                        <a:schemeClr val="accent6"/>
                      </a:solidFill>
                      <a:prstDash val="sysDot"/>
                    </a:lnBlToTr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marL 0 marR 457200</a:t>
                      </a:r>
                    </a:p>
                  </a:txBody>
                  <a:tcPr marL="0" marR="457200" marT="0" marB="0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anchor="b"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anchor="ctr" anchorCtr="1"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horzOverflow="clip"</a:t>
                      </a:r>
                    </a:p>
                  </a:txBody>
                  <a:tcPr horzOverflow="clip"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vert="vert270"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vert="vert"</a:t>
                      </a:r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vert="eaVert"</a:t>
                      </a:r>
                    </a:p>
                  </a:txBody>
                  <a:tcPr vert="eaVert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vert="wordArtVert"</a:t>
                      </a:r>
                    </a:p>
                  </a:txBody>
                  <a:tcPr vert="wordArtVert"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solidFill</a:t>
                      </a:r>
                    </a:p>
                  </a:txBody>
                  <a:tcPr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gradFill</a:t>
                      </a:r>
                    </a:p>
                  </a:txBody>
                  <a:tcPr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6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pattFill</a:t>
                      </a:r>
                    </a:p>
                  </a:txBody>
                  <a:tcPr>
                    <a:pattFill prst="ltUpDiag">
                      <a:fgClr>
                        <a:schemeClr val="accent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cell3D</a:t>
                      </a:r>
                    </a:p>
                  </a:txBody>
                  <a:tcPr>
                    <a:cell3D prstMaterial="matte">
                      <a:bevel w="76200" h="76200" prst="circle"/>
                      <a:lightRig rig="threePt" dir="t">
                        <a:rot lat="0" lon="0" rev="1200000"/>
                      </a:lightRig>
                    </a:cell3D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a20 — a table style by id, and the same table style inline</a:t>
            </a:r>
          </a:p>
        </p:txBody>
      </p:sp>
      <p:graphicFrame>
        <p:nvGraphicFramePr>
          <p:cNvPr id="10" name="Styled by id"/>
          <p:cNvGraphicFramePr>
            <a:graphicFrameLocks noGrp="1"/>
          </p:cNvGraphicFramePr>
          <p:nvPr/>
        </p:nvGraphicFramePr>
        <p:xfrm>
          <a:off x="914400" y="1600200"/>
          <a:ext cx="5100000" cy="280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{5C22544A-7EE6-4342-B048-85BDC9FD1C3A}</a:tableStyleId>
              </a:tblPr>
              <a:tblGrid>
                <a:gridCol w="1700000"/>
                <a:gridCol w="1700000"/>
                <a:gridCol w="1700000"/>
              </a:tblGrid>
              <a:tr h="700000">
                <a:tc>
                  <a:txBody>
                    <a:bodyPr/>
                    <a:lstStyle/>
                    <a:p>
                      <a:r>
                        <a:rPr lang="en-GB" sz="1100" b="1"/>
                        <a:t>tableStyleId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col 3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first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col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first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col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last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row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Styled inline"/>
          <p:cNvGraphicFramePr>
            <a:graphicFrameLocks noGrp="1"/>
          </p:cNvGraphicFramePr>
          <p:nvPr/>
        </p:nvGraphicFramePr>
        <p:xfrm>
          <a:off x="6172200" y="1600200"/>
          <a:ext cx="5100000" cy="2800000"/>
        </p:xfrm>
        <a:graphic>
          <a:graphicData uri="http://schemas.openxmlformats.org/drawingml/2006/table">
            <a:tbl>
              <a:tblPr rtl="0" firstRow="1" lastRow="1" firstCol="1" lastCol="1" bandRow="1" bandCol="1">
                <a:tableStyle styleId="{1B1D64F0-0000-4000-8000-0000000A200A}" styleName="PPTX Studio Corpus Probe">
                  <a:tblBg>
                    <a:fill>
                      <a:solidFill>
                        <a:schemeClr val="bg1"/>
                      </a:solidFill>
                    </a:fill>
                  </a:tblBg>
                  <a:wholeTbl>
                    <a:tcTxStyle b="def" i="def"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tx1">
                                <a:alpha val="40000"/>
                              </a:schemeClr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tx1">
                                <a:alpha val="40000"/>
                              </a:schemeClr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tx1">
                                <a:alpha val="40000"/>
                              </a:schemeClr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tx1">
                                <a:alpha val="40000"/>
                              </a:schemeClr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tx1">
                                <a:alpha val="40000"/>
                              </a:schemeClr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tx1">
                                <a:alpha val="40000"/>
                              </a:schemeClr>
                            </a:solidFill>
                          </a:ln>
                        </a:insideV>
                      </a:tcBdr>
                      <a:fill>
                        <a:solidFill>
                          <a:schemeClr val="bg1"/>
                        </a:solidFill>
                      </a:fill>
                    </a:tcStyle>
                  </a:wholeTbl>
                  <a:band1H>
                    <a:tcStyle>
                      <a:tcBdr>
                        <a:left>
                          <a:ln w="12700" cmpd="sng">
                            <a:solidFill>
                              <a:schemeClr val="accen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alpha val="20000"/>
                          </a:schemeClr>
                        </a:solidFill>
                      </a:fill>
                    </a:tcStyle>
                  </a:band1H>
                  <a:band2H>
                    <a:tcStyle>
                      <a:tcBdr>
                        <a:left>
                          <a:ln w="12700" cmpd="sng">
                            <a:solidFill>
                              <a:schemeClr val="accen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1"/>
                            </a:solidFill>
                          </a:ln>
                        </a:insideV>
                      </a:tcBdr>
                      <a:fill>
                        <a:solidFill>
                          <a:schemeClr val="bg1"/>
                        </a:solidFill>
                      </a:fill>
                    </a:tcStyle>
                  </a:band2H>
                  <a:band1V>
                    <a:tcStyle>
                      <a:tcBdr>
                        <a:left>
                          <a:ln w="12700" cmpd="sng">
                            <a:solidFill>
                              <a:schemeClr val="accent3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3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3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3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3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3"/>
                            </a:solidFill>
                          </a:ln>
                        </a:insideV>
                      </a:tcBdr>
                      <a:fill>
                        <a:solidFill>
                          <a:schemeClr val="accent3">
                            <a:alpha val="15000"/>
                          </a:schemeClr>
                        </a:solidFill>
                      </a:fill>
                    </a:tcStyle>
                  </a:band1V>
                  <a:lastCol>
                    <a:tcTxStyle b="on" i="on"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accent6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6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6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6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6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6"/>
                            </a:solidFill>
                          </a:ln>
                        </a:insideV>
                      </a:tcBdr>
                      <a:fill>
                        <a:solidFill>
                          <a:schemeClr val="accent6">
                            <a:alpha val="30000"/>
                          </a:schemeClr>
                        </a:solidFill>
                      </a:fill>
                    </a:tcStyle>
                  </a:lastCol>
                  <a:firstCol>
                    <a:tcTxStyle b="on" i="def"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accent2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2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2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2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2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2"/>
                            </a:solidFill>
                          </a:ln>
                        </a:insideV>
                      </a:tcBdr>
                      <a:fill>
                        <a:solidFill>
                          <a:schemeClr val="accent2">
                            <a:alpha val="30000"/>
                          </a:schemeClr>
                        </a:solidFill>
                      </a:fill>
                    </a:tcStyle>
                  </a:firstCol>
                  <a:lastRow>
                    <a:tcTxStyle b="off" i="def"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accent4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4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4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4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4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4"/>
                            </a:solidFill>
                          </a:ln>
                        </a:insideV>
                      </a:tcBdr>
                      <a:fill>
                        <a:solidFill>
                          <a:schemeClr val="accent4">
                            <a:alpha val="25000"/>
                          </a:schemeClr>
                        </a:solidFill>
                      </a:fill>
                    </a:tcStyle>
                  </a:lastRow>
                  <a:seCell>
                    <a:tcStyle>
                      <a:tcBdr>
                        <a:left>
                          <a:ln w="12700" cmpd="sng">
                            <a:solidFill>
                              <a:srgbClr val="BF8F00"/>
                            </a:solidFill>
                          </a:ln>
                        </a:left>
                        <a:right>
                          <a:ln w="12700" cmpd="sng">
                            <a:solidFill>
                              <a:srgbClr val="BF8F00"/>
                            </a:solidFill>
                          </a:ln>
                        </a:right>
                        <a:top>
                          <a:ln w="12700" cmpd="sng">
                            <a:solidFill>
                              <a:srgbClr val="BF8F00"/>
                            </a:solidFill>
                          </a:ln>
                        </a:top>
                        <a:bottom>
                          <a:ln w="12700" cmpd="sng">
                            <a:solidFill>
                              <a:srgbClr val="BF8F00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rgbClr val="BF8F00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rgbClr val="BF8F00"/>
                            </a:solidFill>
                          </a:ln>
                        </a:insideV>
                      </a:tcBdr>
                      <a:fill>
                        <a:solidFill>
                          <a:srgbClr val="FFE699"/>
                        </a:solidFill>
                      </a:fill>
                    </a:tcStyle>
                  </a:seCell>
                  <a:swCell>
                    <a:tcStyle>
                      <a:tcBdr>
                        <a:left>
                          <a:ln w="12700" cmpd="sng">
                            <a:solidFill>
                              <a:srgbClr val="538135"/>
                            </a:solidFill>
                          </a:ln>
                        </a:left>
                        <a:right>
                          <a:ln w="12700" cmpd="sng">
                            <a:solidFill>
                              <a:srgbClr val="538135"/>
                            </a:solidFill>
                          </a:ln>
                        </a:right>
                        <a:top>
                          <a:ln w="12700" cmpd="sng">
                            <a:solidFill>
                              <a:srgbClr val="538135"/>
                            </a:solidFill>
                          </a:ln>
                        </a:top>
                        <a:bottom>
                          <a:ln w="12700" cmpd="sng">
                            <a:solidFill>
                              <a:srgbClr val="538135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rgbClr val="538135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rgbClr val="538135"/>
                            </a:solidFill>
                          </a:ln>
                        </a:insideV>
                      </a:tcBdr>
                      <a:fill>
                        <a:solidFill>
                          <a:srgbClr val="C5E0B4"/>
                        </a:solidFill>
                      </a:fill>
                    </a:tcStyle>
                  </a:swCell>
                  <a:firstRow>
                    <a:tcTxStyle b="on" i="def">
                      <a:schemeClr val="bg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accen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accen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accen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accen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accen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accent1"/>
                            </a:solidFill>
                          </a:ln>
                        </a:insideV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  <a:neCell>
                    <a:tcStyle>
                      <a:tcBdr>
                        <a:left>
                          <a:ln w="12700" cmpd="sng">
                            <a:solidFill>
                              <a:srgbClr val="C55A1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rgbClr val="C55A11"/>
                            </a:solidFill>
                          </a:ln>
                        </a:right>
                        <a:top>
                          <a:ln w="12700" cmpd="sng">
                            <a:solidFill>
                              <a:srgbClr val="C55A1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rgbClr val="C55A1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rgbClr val="C55A1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rgbClr val="C55A11"/>
                            </a:solidFill>
                          </a:ln>
                        </a:insideV>
                      </a:tcBdr>
                      <a:fill>
                        <a:solidFill>
                          <a:srgbClr val="F8CBAD"/>
                        </a:solidFill>
                      </a:fill>
                    </a:tcStyle>
                  </a:neCell>
                  <a:nwCell>
                    <a:tcStyle>
                      <a:tcBdr>
                        <a:left>
                          <a:ln w="12700" cmpd="sng">
                            <a:solidFill>
                              <a:srgbClr val="2E5395"/>
                            </a:solidFill>
                          </a:ln>
                        </a:left>
                        <a:right>
                          <a:ln w="12700" cmpd="sng">
                            <a:solidFill>
                              <a:srgbClr val="2E5395"/>
                            </a:solidFill>
                          </a:ln>
                        </a:right>
                        <a:top>
                          <a:ln w="12700" cmpd="sng">
                            <a:solidFill>
                              <a:srgbClr val="2E5395"/>
                            </a:solidFill>
                          </a:ln>
                        </a:top>
                        <a:bottom>
                          <a:ln w="12700" cmpd="sng">
                            <a:solidFill>
                              <a:srgbClr val="2E5395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rgbClr val="2E5395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rgbClr val="2E5395"/>
                            </a:solidFill>
                          </a:ln>
                        </a:insideV>
                      </a:tcBdr>
                      <a:fill>
                        <a:solidFill>
                          <a:srgbClr val="B4C7E7"/>
                        </a:solidFill>
                      </a:fill>
                    </a:tcStyle>
                  </a:nwCell>
                </a:tableStyle>
              </a:tblPr>
              <a:tblGrid>
                <a:gridCol w="1700000"/>
                <a:gridCol w="1700000"/>
                <a:gridCol w="1700000"/>
              </a:tblGrid>
              <a:tr h="700000">
                <a:tc>
                  <a:txBody>
                    <a:bodyPr/>
                    <a:lstStyle/>
                    <a:p>
                      <a:r>
                        <a:rPr lang="en-GB" sz="1100" b="1"/>
                        <a:t>inline a:tableStyle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col 3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first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col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first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col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lang="en-GB" sz="1100"/>
                        <a:t>last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last row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a20 tables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