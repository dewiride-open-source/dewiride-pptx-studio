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zz="http://pptx-studio.example/ns/a37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a37 — the switch, four ways</a:t>
            </a:r>
          </a:p>
        </p:txBody>
      </p:sp>
      <mc:AlternateContent xmlns:mc="http://schemas.openxmlformats.org/markup-compatibility/2006">
        <mc:Choice xmlns:zz="http://pptx-studio.example/ns/a37" Requires="zz">
          <p:sp>
            <p:nvSpPr>
              <p:cNvPr id="10" name="Choice 1 — requires zz"/>
              <p:cNvSpPr/>
              <p:nvPr/>
            </p:nvSpPr>
            <p:spPr>
              <a:xfrm>
                <a:off x="502920" y="1234440"/>
                <a:ext cx="5547360" cy="249936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choice 1: Requires="zz"</a:t>
                </a:r>
              </a:p>
              <a:p>
                <a:pPr algn="ctr"/>
                <a:r>
                  <a:rPr sz="1100" b="0"/>
                  <a:t>nothing understands zz</a:t>
                </a:r>
              </a:p>
              <a:p>
                <a:pPr algn="ctr"/>
                <a:r>
                  <a:rPr sz="1100" b="0"/>
                  <a:t>you should not see this</a:t>
                </a:r>
              </a:p>
            </p:txBody>
          </p:sp>
        </mc:Choice>
        <mc:Choice xmlns:p14="http://schemas.microsoft.com/office/powerpoint/2010/main" Requires="p14">
          <p:sp>
            <p:nvSpPr>
              <p:cNvPr id="11" name="Choice 2 — requires p14"/>
              <p:cNvSpPr/>
              <p:nvPr/>
            </p:nvSpPr>
            <p:spPr>
              <a:xfrm>
                <a:off x="502920" y="1234440"/>
                <a:ext cx="5547360" cy="249936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choice 2: Requires="p14"</a:t>
                </a:r>
              </a:p>
              <a:p>
                <a:pPr algn="ctr"/>
                <a:r>
                  <a:rPr sz="1100" b="0"/>
                  <a:t>PowerPoint understands p14</a:t>
                </a:r>
              </a:p>
              <a:p>
                <a:pPr algn="ctr"/>
                <a:r>
                  <a:rPr sz="1100" b="0"/>
                  <a:t>this is the one that renders</a:t>
                </a:r>
              </a:p>
            </p:txBody>
          </p:sp>
        </mc:Choice>
        <mc:Fallback>
          <p:sp>
            <p:nvSpPr>
              <p:cNvPr id="12" name="Fallback"/>
              <p:cNvSpPr/>
              <p:nvPr/>
            </p:nvSpPr>
            <p:spPr>
              <a:xfrm>
                <a:off x="502920" y="1234440"/>
                <a:ext cx="5547360" cy="2499360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the fallback</a:t>
                </a:r>
              </a:p>
              <a:p>
                <a:pPr algn="ctr"/>
                <a:r>
                  <a:rPr sz="1100" b="0"/>
                  <a:t>reached only if no choice is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xmlns:zz="http://pptx-studio.example/ns/a37" Requires="p14 zz">
          <p:sp>
            <p:nvSpPr>
              <p:cNvPr id="13" name="Requires both"/>
              <p:cNvSpPr/>
              <p:nvPr/>
            </p:nvSpPr>
            <p:spPr>
              <a:xfrm>
                <a:off x="6141720" y="1234440"/>
                <a:ext cx="5547360" cy="249936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Requires="p14 zz"</a:t>
                </a:r>
              </a:p>
              <a:p>
                <a:pPr algn="ctr"/>
                <a:r>
                  <a:rPr sz="1100" b="0"/>
                  <a:t>both, not either</a:t>
                </a:r>
              </a:p>
              <a:p>
                <a:pPr algn="ctr"/>
                <a:r>
                  <a:rPr sz="1100" b="0"/>
                  <a:t>zz is unknown, so this loses</a:t>
                </a:r>
              </a:p>
            </p:txBody>
          </p:sp>
        </mc:Choice>
        <mc:Fallback>
          <p:sp>
            <p:nvSpPr>
              <p:cNvPr id="14" name="Fallback for both"/>
              <p:cNvSpPr/>
              <p:nvPr/>
            </p:nvSpPr>
            <p:spPr>
              <a:xfrm>
                <a:off x="6141720" y="1234440"/>
                <a:ext cx="5547360" cy="2499360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the fallback renders</a:t>
                </a:r>
              </a:p>
              <a:p>
                <a:pPr algn="ctr"/>
                <a:r>
                  <a:rPr sz="1100" b="0"/>
                  <a:t>because zz fails the pair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sp>
            <p:nvSpPr>
              <p:cNvPr id="15" name="No fallback"/>
              <p:cNvSpPr/>
              <p:nvPr/>
            </p:nvSpPr>
            <p:spPr>
              <a:xfrm>
                <a:off x="502920" y="3825240"/>
                <a:ext cx="5547360" cy="249936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a switch with no mc:Fallback</a:t>
                </a:r>
              </a:p>
              <a:p>
                <a:pPr algn="ctr"/>
                <a:r>
                  <a:rPr sz="1100" b="0"/>
                  <a:t>legal: Fallback is optional</a:t>
                </a:r>
              </a:p>
              <a:p>
                <a:pPr algn="ctr"/>
                <a:r>
                  <a:rPr sz="1100" b="0"/>
                  <a:t>and this choice is satisfied</a:t>
                </a:r>
              </a:p>
            </p:txBody>
          </p:sp>
        </mc:Choice>
      </mc:AlternateContent>
      <mc:AlternateContent xmlns:mc="http://schemas.openxmlformats.org/markup-compatibility/2006">
        <mc:Choice Requires="zz">
          <p:sp>
            <p:nvSpPr>
              <p:cNvPr id="16" name="Ancestor-declared prefix"/>
              <p:cNvSpPr/>
              <p:nvPr/>
            </p:nvSpPr>
            <p:spPr>
              <a:xfrm>
                <a:off x="6141720" y="3825240"/>
                <a:ext cx="5547360" cy="249936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Requires="zz", declared on p:sld</a:t>
                </a:r>
              </a:p>
              <a:p>
                <a:pPr algn="ctr"/>
                <a:r>
                  <a:rPr sz="1100" b="0"/>
                  <a:t>not on the mc:Choice</a:t>
                </a:r>
              </a:p>
              <a:p>
                <a:pPr algn="ctr"/>
                <a:r>
                  <a:rPr sz="1100" b="0"/>
                  <a:t>rename the prefix and this breaks</a:t>
                </a:r>
              </a:p>
            </p:txBody>
          </p:sp>
        </mc:Choice>
        <mc:Fallback>
          <p:sp>
            <p:nvSpPr>
              <p:cNvPr id="17" name="Ancestor fallback"/>
              <p:cNvSpPr/>
              <p:nvPr/>
            </p:nvSpPr>
            <p:spPr>
              <a:xfrm>
                <a:off x="6141720" y="3825240"/>
                <a:ext cx="5547360" cy="249936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this renders</a:t>
                </a:r>
              </a:p>
              <a:p>
                <a:pPr algn="ctr"/>
                <a:r>
                  <a:rPr sz="1100" b="0"/>
                  <a:t>zz is declared, not understood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a37 — switches inside switches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mc:AlternateContent xmlns:mc="http://schemas.openxmlformats.org/markup-compatibility/2006">
            <mc:Choice xmlns:yy="http://pptx-studio.example/ns/a37/second" Requires="yy">
              <p:sp>
                <p:nvSpPr>
                  <p:cNvPr id="10" name="Inner choice"/>
                  <p:cNvSpPr/>
                  <p:nvPr/>
                </p:nvSpPr>
                <p:spPr>
                  <a:xfrm>
                    <a:off x="502920" y="1234440"/>
                    <a:ext cx="5547360" cy="2499360"/>
                  </a:xfrm>
                  <a:prstGeom prst="round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txBody>
                  <a:bodyPr wrap="square" anchor="ctr"/>
                  <a:lstStyle/>
                  <a:p>
                    <a:pPr algn="ctr"/>
                    <a:r>
                      <a:rPr sz="1100" b="1"/>
                      <a:t>outer Choice satisfied</a:t>
                    </a:r>
                  </a:p>
                  <a:p>
                    <a:pPr algn="ctr"/>
                    <a:r>
                      <a:rPr sz="1100" b="0"/>
                      <a:t>inner Requires="yy" is not</a:t>
                    </a:r>
                  </a:p>
                </p:txBody>
              </p:sp>
            </mc:Choice>
            <mc:Fallback>
              <p:sp>
                <p:nvSpPr>
                  <p:cNvPr id="11" name="Inner fallback"/>
                  <p:cNvSpPr/>
                  <p:nvPr/>
                </p:nvSpPr>
                <p:spPr>
                  <a:xfrm>
                    <a:off x="502920" y="1234440"/>
                    <a:ext cx="5547360" cy="2499360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</p:spPr>
                <p:txBody>
                  <a:bodyPr wrap="square" anchor="ctr"/>
                  <a:lstStyle/>
                  <a:p>
                    <a:pPr algn="ctr"/>
                    <a:r>
                      <a:rPr sz="1100" b="1"/>
                      <a:t>nested two deep</a:t>
                    </a:r>
                  </a:p>
                  <a:p>
                    <a:pPr algn="ctr"/>
                    <a:r>
                      <a:rPr sz="1100" b="0"/>
                      <a:t>inside a Choice</a:t>
                    </a:r>
                  </a:p>
                  <a:p>
                    <a:pPr algn="ctr"/>
                    <a:r>
                      <a:rPr sz="1100" b="0"/>
                      <a:t>this is what renders</a:t>
                    </a:r>
                  </a:p>
                </p:txBody>
              </p:sp>
            </mc:Fallback>
          </mc:AlternateContent>
        </mc:Choice>
        <mc:Fallback>
          <p:sp>
            <p:nvSpPr>
              <p:cNvPr id="12" name="Outer fallback"/>
              <p:cNvSpPr/>
              <p:nvPr/>
            </p:nvSpPr>
            <p:spPr>
              <a:xfrm>
                <a:off x="502920" y="1234440"/>
                <a:ext cx="5547360" cy="2499360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unreached</a:t>
                </a:r>
              </a:p>
              <a:p>
                <a:pPr algn="ctr"/>
                <a:r>
                  <a:rPr sz="1100" b="0"/>
                  <a:t>p14 is understood</a:t>
                </a:r>
              </a:p>
            </p:txBody>
          </p:sp>
        </mc:Fallback>
      </mc:AlternateContent>
      <mc:AlternateContent xmlns:mc="http://schemas.openxmlformats.org/markup-compatibility/2006">
        <mc:Choice xmlns:zz="http://pptx-studio.example/ns/a37" Requires="zz">
          <p:sp>
            <p:nvSpPr>
              <p:cNvPr id="13" name="Outer choice"/>
              <p:cNvSpPr/>
              <p:nvPr/>
            </p:nvSpPr>
            <p:spPr>
              <a:xfrm>
                <a:off x="6141720" y="1234440"/>
                <a:ext cx="5547360" cy="249936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anchor="ctr"/>
              <a:lstStyle/>
              <a:p>
                <a:pPr algn="ctr"/>
                <a:r>
                  <a:rPr sz="1100" b="1"/>
                  <a:t>unreached</a:t>
                </a:r>
              </a:p>
              <a:p>
                <a:pPr algn="ctr"/>
                <a:r>
                  <a:rPr sz="1100" b="0"/>
                  <a:t>zz is not understood</a:t>
                </a:r>
              </a:p>
            </p:txBody>
          </p:sp>
        </mc:Choice>
        <mc:Fallback>
          <mc:AlternateContent xmlns:mc="http://schemas.openxmlformats.org/markup-compatibility/2006">
            <mc:Choice xmlns:p14="http://schemas.microsoft.com/office/powerpoint/2010/main" Requires="p14">
              <p:sp>
                <p:nvSpPr>
                  <p:cNvPr id="14" name="Choice inside a fallback"/>
                  <p:cNvSpPr/>
                  <p:nvPr/>
                </p:nvSpPr>
                <p:spPr>
                  <a:xfrm>
                    <a:off x="6141720" y="1234440"/>
                    <a:ext cx="5547360" cy="2499360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txBody>
                  <a:bodyPr wrap="square" anchor="ctr"/>
                  <a:lstStyle/>
                  <a:p>
                    <a:pPr algn="ctr"/>
                    <a:r>
                      <a:rPr sz="1100" b="1"/>
                      <a:t>nested inside mc:Fallback</a:t>
                    </a:r>
                  </a:p>
                  <a:p>
                    <a:pPr algn="ctr"/>
                    <a:r>
                      <a:rPr sz="1100" b="0"/>
                      <a:t>and this inner choice</a:t>
                    </a:r>
                  </a:p>
                  <a:p>
                    <a:pPr algn="ctr"/>
                    <a:r>
                      <a:rPr sz="1100" b="0"/>
                      <a:t>is the one that renders</a:t>
                    </a:r>
                  </a:p>
                </p:txBody>
              </p:sp>
            </mc:Choice>
            <mc:Fallback>
              <p:sp>
                <p:nvSpPr>
                  <p:cNvPr id="15" name="Innermost fallback"/>
                  <p:cNvSpPr/>
                  <p:nvPr/>
                </p:nvSpPr>
                <p:spPr>
                  <a:xfrm>
                    <a:off x="6141720" y="1234440"/>
                    <a:ext cx="5547360" cy="2499360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txBody>
                  <a:bodyPr wrap="square" anchor="ctr"/>
                  <a:lstStyle/>
                  <a:p>
                    <a:pPr algn="ctr"/>
                    <a:r>
                      <a:rPr sz="1100" b="1"/>
                      <a:t>unreached</a:t>
                    </a:r>
                  </a:p>
                </p:txBody>
              </p:sp>
            </mc:Fallback>
          </mc:AlternateContent>
        </mc:Fallback>
      </mc:AlternateContent>
      <p:grpSp>
        <p:nvGrpSpPr>
          <p:cNvPr id="16" name="Group holding a switch"/>
          <p:cNvGrpSpPr/>
          <p:nvPr/>
        </p:nvGrpSpPr>
        <p:grpSpPr>
          <a:xfrm>
            <a:off x="502920" y="3825240"/>
            <a:ext cx="5547360" cy="2499360"/>
            <a:chOff x="0" y="0"/>
            <a:chExt cx="5547360" cy="2499360"/>
          </a:xfrm>
        </p:grpSpPr>
        <mc:AlternateContent xmlns:mc="http://schemas.openxmlformats.org/markup-compatibility/2006">
          <mc:Choice xmlns:zz="http://pptx-studio.example/ns/a37" Requires="zz">
            <p:sp>
              <p:nvSpPr>
                <p:cNvPr id="17" name="In-group choice"/>
                <p:cNvSpPr/>
                <p:nvPr/>
              </p:nvSpPr>
              <p:spPr>
                <a:xfrm>
                  <a:off x="0" y="0"/>
                  <a:ext cx="5547360" cy="2499360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txBody>
                <a:bodyPr wrap="square" anchor="ctr"/>
                <a:lstStyle/>
                <a:p>
                  <a:pPr algn="ctr"/>
                  <a:r>
                    <a:rPr sz="1100" b="1"/>
                    <a:t>unreached</a:t>
                  </a:r>
                </a:p>
              </p:txBody>
            </p:sp>
          </mc:Choice>
          <mc:Fallback>
            <p:sp>
              <p:nvSpPr>
                <p:cNvPr id="18" name="In-group fallback"/>
                <p:cNvSpPr/>
                <p:nvPr/>
              </p:nvSpPr>
              <p:spPr>
                <a:xfrm>
                  <a:off x="0" y="0"/>
                  <a:ext cx="5547360" cy="2499360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txBody>
                <a:bodyPr wrap="square" anchor="ctr"/>
                <a:lstStyle/>
                <a:p>
                  <a:pPr algn="ctr"/>
                  <a:r>
                    <a:rPr sz="1100" b="1"/>
                    <a:t>a switch inside p:grpSp</a:t>
                  </a:r>
                </a:p>
                <a:p>
                  <a:pPr algn="ctr"/>
                  <a:r>
                    <a:rPr sz="1100" b="0"/>
                    <a:t>a different schema position</a:t>
                  </a:r>
                </a:p>
                <a:p>
                  <a:pPr algn="ctr"/>
                  <a:r>
                    <a:rPr sz="1100" b="0"/>
                    <a:t>same resolution</a:t>
                  </a:r>
                </a:p>
              </p:txBody>
            </p:sp>
          </mc:Fallback>
        </mc:AlternateContent>
      </p:grpSp>
      <p:sp>
        <p:nvSpPr>
          <p:cNvPr id="19" name="Control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no switch at all</a:t>
            </a:r>
          </a:p>
          <a:p>
            <a:pPr algn="ctr"/>
            <a:r>
              <a:rPr sz="1100" b="0"/>
              <a:t>the shape a reader compares 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zz="http://pptx-studio.example/ns/a37" xmlns:yy="http://pptx-studio.example/ns/a37/second" xmlns:p14="http://schemas.microsoft.com/office/powerpoint/2010/main" mc:Ignorable="zz yy" mc:MustUnderstand="p14" mc:ProcessContent="zz:wrapper" mc:PreserveElements="zz:keepMe" mc:PreserveAttributes="zz:keepThi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a37 — ignoring, and keeping what is ignored</a:t>
            </a:r>
          </a:p>
        </p:txBody>
      </p:sp>
      <p:sp>
        <p:nvSpPr>
          <p:cNvPr id="10" name="Ignorable attribute" zz:note="dropped" yy:note="also dropped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ignorable attributes</a:t>
            </a:r>
          </a:p>
          <a:p>
            <a:pPr algn="ctr"/>
            <a:r>
              <a:rPr sz="1100"/>
              <a:t>zz:note and yy:note on p:cNvPr</a:t>
            </a:r>
          </a:p>
          <a:p>
            <a:pPr algn="ctr"/>
            <a:r>
              <a:rPr sz="1100"/>
              <a:t>the shape survives, the attributes do not</a:t>
            </a:r>
          </a:p>
        </p:txBody>
      </p:sp>
      <zz:dropped>
        <p:sp>
          <p:nvSpPr>
            <p:cNvPr id="11" name="Never seen"/>
            <p:cNvSpPr/>
            <p:nvPr/>
          </p:nvSpPr>
          <p:spPr>
            <a:xfrm>
              <a:off x="6141720" y="1234440"/>
              <a:ext cx="5547360" cy="249936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anchor="ctr"/>
            <a:lstStyle/>
            <a:p>
              <a:pPr algn="ctr"/>
              <a:r>
                <a:rPr sz="1100" b="1"/>
                <a:t>inside zz:dropped</a:t>
              </a:r>
            </a:p>
            <a:p>
              <a:pPr algn="ctr"/>
              <a:r>
                <a:rPr sz="1100" b="0"/>
                <a:t>removed with its parent</a:t>
              </a:r>
            </a:p>
          </p:txBody>
        </p:sp>
      </zz:dropped>
      <zz:wrapper>
        <p:sp>
          <p:nvSpPr>
            <p:cNvPr id="12" name="Survives its wrapper"/>
            <p:cNvSpPr/>
            <p:nvPr/>
          </p:nvSpPr>
          <p:spPr>
            <a:xfrm>
              <a:off x="6141720" y="1234440"/>
              <a:ext cx="5547360" cy="249936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anchor="ctr"/>
            <a:lstStyle/>
            <a:p>
              <a:pPr algn="ctr"/>
              <a:r>
                <a:rPr sz="1100" b="1"/>
                <a:t>inside zz:wrapper</a:t>
              </a:r>
            </a:p>
            <a:p>
              <a:pPr algn="ctr"/>
              <a:r>
                <a:rPr sz="1100" b="0"/>
                <a:t>named by mc:ProcessContent</a:t>
              </a:r>
            </a:p>
            <a:p>
              <a:pPr algn="ctr"/>
              <a:r>
                <a:rPr sz="1100" b="0"/>
                <a:t>so the wrapper goes and this stays</a:t>
              </a:r>
            </a:p>
          </p:txBody>
        </p:sp>
      </zz:wrapper>
      <zz:keepMe/>
      <p:sp>
        <p:nvSpPr>
          <p:cNvPr id="13" name="Preserve me" zz:keepThis="an attribute an editor must not drop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mc:PreserveAttributes</a:t>
            </a:r>
          </a:p>
          <a:p>
            <a:pPr algn="ctr"/>
            <a:r>
              <a:rPr sz="1100"/>
              <a:t>ignorable, and an editor</a:t>
            </a:r>
          </a:p>
          <a:p>
            <a:pPr algn="ctr"/>
            <a:r>
              <a:rPr sz="1100"/>
              <a:t>is asked to keep it anyway</a:t>
            </a:r>
          </a:p>
        </p:txBody>
      </p:sp>
      <p:sp>
        <p:nvSpPr>
          <p:cNvPr id="14" name="MustUnderstand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mc:MustUnderstand="p14"</a:t>
            </a:r>
          </a:p>
          <a:p>
            <a:pPr algn="ctr"/>
            <a:r>
              <a:rPr sz="1100" b="0"/>
              <a:t>refuse the part if p14 is unknown</a:t>
            </a:r>
          </a:p>
          <a:p>
            <a:pPr algn="ctr"/>
            <a:r>
              <a:rPr sz="1100" b="0"/>
              <a:t>PowerPoint knows it, so this opens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a37 MCE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