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3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a25 — a blip with no raster, and a blip with one</a:t>
            </a:r>
          </a:p>
        </p:txBody>
      </p:sp>
      <p:pic>
        <p:nvPicPr>
          <p:cNvPr id="10" name="Vector only, as PowerPoint wrote it" descr="a:blip with no r:embed; the svgBlip extension is the only reference"/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600200"/>
            <a:ext cx="3657600" cy="2438400"/>
          </a:xfrm>
          <a:prstGeom prst="rect">
            <a:avLst/>
          </a:prstGeom>
        </p:spPr>
      </p:pic>
      <p:pic>
        <p:nvPicPr>
          <p:cNvPr id="11" name="Vector with a raster fallback" descr="a:blip r:embed points at a PNG; the extension carries the vector original"/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0" y="1600200"/>
            <a:ext cx="3657600" cy="2438400"/>
          </a:xfrm>
          <a:prstGeom prst="rect">
            <a:avLst/>
          </a:prstGeom>
        </p:spPr>
      </p:pic>
      <p:sp>
        <p:nvSpPr>
          <p:cNvPr id="12" name="Slide 1 caption"/>
          <p:cNvSpPr/>
          <p:nvPr/>
        </p:nvSpPr>
        <p:spPr>
          <a:xfrm>
            <a:off x="685800" y="4343400"/>
            <a:ext cx="800100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200"/>
              <a:t>Left: no @r:embed. A reader that requires one renders nothing.</a:t>
            </a:r>
          </a:p>
          <a:p>
            <a:r>
              <a:rPr sz="1200"/>
              <a:t>Right: @r:embed is the PNG; the extension is the vector to prefer.</a:t>
            </a:r>
          </a:p>
          <a:p>
            <a:r>
              <a:rPr sz="1200"/>
              <a:t>Both are legal, and only one of them was written by PowerPoint.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a25 — the same extension inside a shape fill</a:t>
            </a:r>
          </a:p>
        </p:txBody>
      </p:sp>
      <p:sp>
        <p:nvSpPr>
          <p:cNvPr id="10" name="a:blipFill, stretched"/>
          <p:cNvSpPr/>
          <p:nvPr/>
        </p:nvSpPr>
        <p:spPr>
          <a:xfrm>
            <a:off x="685800" y="1600200"/>
            <a:ext cx="3657600" cy="2438400"/>
          </a:xfrm>
          <a:prstGeom prst="rect">
            <a:avLst/>
          </a:prstGeom>
          <a:blipFill rotWithShape="1">
            <a:blip r:embed="rId3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a:blipFill, stretched</a:t>
            </a:r>
          </a:p>
        </p:txBody>
      </p:sp>
      <p:sp>
        <p:nvSpPr>
          <p:cNvPr id="11" name="a:blipFill, tiled at 50%"/>
          <p:cNvSpPr/>
          <p:nvPr/>
        </p:nvSpPr>
        <p:spPr>
          <a:xfrm>
            <a:off x="5029200" y="1600200"/>
            <a:ext cx="3657600" cy="2438400"/>
          </a:xfrm>
          <a:prstGeom prst="rect">
            <a:avLst/>
          </a:prstGeom>
          <a:blipFill rotWithShape="1">
            <a:blip r:embed="rId3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tile tx="0" ty="0" sx="50000" sy="50000" flip="none" algn="tl"/>
          </a:blipFill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a:blipFill, tiled at 50%</a:t>
            </a:r>
          </a:p>
        </p:txBody>
      </p:sp>
      <p:sp>
        <p:nvSpPr>
          <p:cNvPr id="12" name="Slide 2 caption"/>
          <p:cNvSpPr/>
          <p:nvPr/>
        </p:nvSpPr>
        <p:spPr>
          <a:xfrm>
            <a:off x="685800" y="4343400"/>
            <a:ext cx="800100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200"/>
              <a:t>a:blipFill is DrawingML and p:blipFill is PresentationML.</a:t>
            </a:r>
          </a:p>
          <a:p>
            <a:r>
              <a:rPr sz="1200"/>
              <a:t>They are different elements, and only this one tiles and crops.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a25 — an SVG a renderer must not hand to the page</a:t>
            </a:r>
          </a:p>
        </p:txBody>
      </p:sp>
      <p:pic>
        <p:nvPicPr>
          <p:cNvPr id="10" name="Hostile SVG" descr="script, onload, off-origin use and image, and a javascript: link"/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1600200"/>
            <a:ext cx="3657600" cy="2438400"/>
          </a:xfrm>
          <a:prstGeom prst="rect">
            <a:avLst/>
          </a:prstGeom>
        </p:spPr>
      </p:pic>
      <p:sp>
        <p:nvSpPr>
          <p:cNvPr id="11" name="Slide 3 caption"/>
          <p:cNvSpPr/>
          <p:nvPr/>
        </p:nvSpPr>
        <p:spPr>
          <a:xfrm>
            <a:off x="5029200" y="1600200"/>
            <a:ext cx="609600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200"/>
              <a:t>The SVG behind this picture carries five things a sanitizer removes:</a:t>
            </a:r>
          </a:p>
          <a:p>
            <a:r>
              <a:rPr sz="1200"/>
              <a:t>a script element, an onload attribute, a use and an image pointing</a:t>
            </a:r>
          </a:p>
          <a:p>
            <a:r>
              <a:rPr sz="1200"/>
              <a:t>off-origin, and an anchor with a javascript: href. All inert - the</a:t>
            </a:r>
          </a:p>
          <a:p>
            <a:r>
              <a:rPr sz="1200"/>
              <a:t>script body is a comment and both URLs are under example.invalid,</a:t>
            </a:r>
          </a:p>
          <a:p>
            <a:r>
              <a:rPr sz="1200"/>
              <a:t>which RFC 2606 reserves so that it cannot resolve.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a25 svg blips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