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kinsoku lang="ja-JP" invalStChars="!%),.:;?]}¢’”‰′″℃、。々〉》」』】〕ぁぃぅぇぉっゃゅょゎ゛゜ゝゞァィゥェォッャュョヮヵヶ・ーヽヾ！％），．：；？］｝｡｣､･ﾞﾟ" invalEndChars="$([\{£¥‘“〈《「『【〔＃＄（［｛￡￥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a10 — one run, four typeface slots</a:t>
            </a:r>
          </a:p>
        </p:txBody>
      </p:sp>
      <p:sp>
        <p:nvSpPr>
          <p:cNvPr id="10" name="One run, four typeface slots"/>
          <p:cNvSpPr/>
          <p:nvPr/>
        </p:nvSpPr>
        <p:spPr>
          <a:xfrm>
            <a:off x="502920" y="1234440"/>
            <a:ext cx="11186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altLang="ja-JP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</a:rPr>
              <a:t>Hello 世界 مرحبا — one run, three scripts</a:t>
            </a:r>
          </a:p>
          <a:p>
            <a:r>
              <a:rPr lang="ja-JP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</a:rPr>
              <a:t>日本語のテキストです。 lang="ja-JP"</a:t>
            </a:r>
          </a:p>
          <a:p>
            <a:r>
              <a:rPr lang="zh-CN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</a:rPr>
              <a:t>简体中文的文本。 lang="zh-CN"</a:t>
            </a:r>
          </a:p>
          <a:p>
            <a:r>
              <a:rPr lang="ko-KR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</a:rPr>
              <a:t>한국어 텍스트입니다. lang="ko-KR"</a:t>
            </a:r>
          </a:p>
          <a:p>
            <a:r>
              <a:rPr lang="ar-SA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  <a:rtl val="1"/>
              </a:rPr>
              <a:t>مرحبا بالعالم — a:rtl val="1"</a:t>
            </a:r>
          </a:p>
          <a:p>
            <a:r>
              <a:rPr lang="he-IL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  <a:rtl val="1"/>
              </a:rPr>
              <a:t>שלום עולם — a:rtl val="1"</a:t>
            </a:r>
          </a:p>
          <a:p>
            <a:r>
              <a:rPr lang="hi-IN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</a:rPr>
              <a:t>सत्यमेव जयते — a:cs decides this one</a:t>
            </a:r>
          </a:p>
          <a:p>
            <a:r>
              <a:rPr lang="th-TH" sz="1600">
                <a:solidFill>
                  <a:schemeClr val="tx1"/>
                </a:solidFill>
                <a:latin typeface="Times New Roman"/>
                <a:ea typeface="Yu Gothic"/>
                <a:cs typeface="Arial"/>
                <a:sym typeface="Wingdings"/>
              </a:rPr>
              <a:t>สวัสดีครับ — Thai, which needs dictionary segmentation no JS library provides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a10 — direction, kinsoku, latinLnBrk</a:t>
            </a:r>
          </a:p>
        </p:txBody>
      </p:sp>
      <p:sp>
        <p:nvSpPr>
          <p:cNvPr id="10" name="Direction and breaking 1"/>
          <p:cNvSpPr/>
          <p:nvPr/>
        </p:nvSpPr>
        <p:spPr>
          <a:xfrm>
            <a:off x="502920" y="12344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200">
                <a:solidFill>
                  <a:schemeClr val="accent3"/>
                </a:solidFill>
              </a:rPr>
              <a:t>pPr/@rtl="1" — base direction, so the text starts on the right</a:t>
            </a:r>
          </a:p>
          <a:p>
            <a:pPr marL="342900" indent="-342900" rtl="1"/>
            <a:r>
              <a:rPr lang="ar-SA" sz="1600">
                <a:solidFill>
                  <a:schemeClr val="tx1"/>
                </a:solidFill>
                <a:cs typeface="Arial"/>
                <a:rtl val="1"/>
              </a:rPr>
              <a:t>هذا نص عربي طويل بما يكفي ليلتف على أكثر من سطر واحد.</a:t>
            </a:r>
          </a:p>
        </p:txBody>
      </p:sp>
      <p:sp>
        <p:nvSpPr>
          <p:cNvPr id="11" name="Direction and breaking 2"/>
          <p:cNvSpPr/>
          <p:nvPr/>
        </p:nvSpPr>
        <p:spPr>
          <a:xfrm>
            <a:off x="6141720" y="12344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200">
                <a:solidFill>
                  <a:schemeClr val="accent3"/>
                </a:solidFill>
              </a:rPr>
              <a:t>pPr/@rtl="0" with an rtl run inside — bidi, not base direction</a:t>
            </a:r>
          </a:p>
          <a:p>
            <a:pPr rtl="0"/>
            <a:r>
              <a:rPr lang="en-GB" sz="1600">
                <a:solidFill>
                  <a:schemeClr val="tx1"/>
                </a:solidFill>
              </a:rPr>
              <a:t>The Arabic for "hello world" is </a:t>
            </a:r>
            <a:r>
              <a:rPr lang="ar-SA" sz="1600">
                <a:solidFill>
                  <a:schemeClr val="accent1"/>
                </a:solidFill>
                <a:cs typeface="Arial"/>
                <a:rtl val="1"/>
              </a:rPr>
              <a:t>مرحبا بالعالم</a:t>
            </a:r>
            <a:r>
              <a:rPr lang="en-GB" sz="1600">
                <a:solidFill>
                  <a:schemeClr val="tx1"/>
                </a:solidFill>
              </a:rPr>
              <a:t>, which reads right to left inside a left-to-right sentence.</a:t>
            </a:r>
          </a:p>
        </p:txBody>
      </p:sp>
      <p:sp>
        <p:nvSpPr>
          <p:cNvPr id="12" name="Direction and breaking 3"/>
          <p:cNvSpPr/>
          <p:nvPr/>
        </p:nvSpPr>
        <p:spPr>
          <a:xfrm>
            <a:off x="502920" y="38252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200">
                <a:solidFill>
                  <a:schemeClr val="accent3"/>
                </a:solidFill>
              </a:rPr>
              <a:t>p:kinsoku — no line may begin with 、。) or end with ( 「</a:t>
            </a:r>
          </a:p>
          <a:p>
            <a:pPr eaLnBrk="1" latinLnBrk="0" hangingPunct="1"/>
            <a:r>
              <a:rPr lang="ja-JP" sz="1600">
                <a:solidFill>
                  <a:schemeClr val="tx1"/>
                </a:solidFill>
                <a:ea typeface="Yu Gothic"/>
              </a:rPr>
              <a:t>日本語の改行は、行頭に句点や閉じ括弧が来ないように、選ばれた位置を後ろ向きに修正します。</a:t>
            </a:r>
          </a:p>
        </p:txBody>
      </p:sp>
      <p:sp>
        <p:nvSpPr>
          <p:cNvPr id="13" name="Direction and breaking 4"/>
          <p:cNvSpPr/>
          <p:nvPr/>
        </p:nvSpPr>
        <p:spPr>
          <a:xfrm>
            <a:off x="6141720" y="38252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200">
                <a:solidFill>
                  <a:schemeClr val="accent3"/>
                </a:solidFill>
              </a:rPr>
              <a:t>latinLnBrk — ECMA says the default is true, Office behaves as false</a:t>
            </a:r>
          </a:p>
          <a:p>
            <a:pPr latinLnBrk="1"/>
            <a:r>
              <a:rPr lang="en-GB" sz="1600">
                <a:solidFill>
                  <a:schemeClr val="tx1"/>
                </a:solidFill>
              </a:rPr>
              <a:t>latinLnBrk="1" Supercalifragilisticexpialidocious antidisestablishmentarianism</a:t>
            </a:r>
          </a:p>
          <a:p>
            <a:pPr latinLnBrk="0"/>
            <a:r>
              <a:rPr lang="en-GB" sz="1600">
                <a:solidFill>
                  <a:schemeClr val="tx1"/>
                </a:solidFill>
              </a:rPr>
              <a:t>latinLnBrk="0" Supercalifragilisticexpialidocious antidisestablishmentarianism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a10 — the six vertical modes</a:t>
            </a:r>
          </a:p>
        </p:txBody>
      </p:sp>
      <p:sp>
        <p:nvSpPr>
          <p:cNvPr id="10" name="vert horz"/>
          <p:cNvSpPr/>
          <p:nvPr/>
        </p:nvSpPr>
        <p:spPr>
          <a:xfrm>
            <a:off x="502920" y="1234440"/>
            <a:ext cx="1788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anchor="t"/>
          <a:lstStyle/>
          <a:p>
            <a:r>
              <a:rPr lang="en-GB" sz="1200" b="1">
                <a:solidFill>
                  <a:schemeClr val="accent1"/>
                </a:solidFill>
              </a:rPr>
              <a:t>horz</a:t>
            </a:r>
          </a:p>
          <a:p>
            <a:r>
              <a:rPr lang="ja-JP" sz="1400">
                <a:solidFill>
                  <a:schemeClr val="tx1"/>
                </a:solidFill>
                <a:ea typeface="Yu Gothic"/>
              </a:rPr>
              <a:t>縦書き Vertical</a:t>
            </a:r>
          </a:p>
          <a:p>
            <a:r>
              <a:rPr lang="en-GB" sz="900" i="1">
                <a:solidFill>
                  <a:schemeClr val="tx1"/>
                </a:solidFill>
              </a:rPr>
              <a:t>the default</a:t>
            </a:r>
          </a:p>
        </p:txBody>
      </p:sp>
      <p:sp>
        <p:nvSpPr>
          <p:cNvPr id="11" name="vert vert"/>
          <p:cNvSpPr/>
          <p:nvPr/>
        </p:nvSpPr>
        <p:spPr>
          <a:xfrm>
            <a:off x="2382520" y="1234440"/>
            <a:ext cx="1788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vert" wrap="square" anchor="t"/>
          <a:lstStyle/>
          <a:p>
            <a:r>
              <a:rPr lang="en-GB" sz="1200" b="1">
                <a:solidFill>
                  <a:schemeClr val="accent1"/>
                </a:solidFill>
              </a:rPr>
              <a:t>vert</a:t>
            </a:r>
          </a:p>
          <a:p>
            <a:r>
              <a:rPr lang="ja-JP" sz="1400">
                <a:solidFill>
                  <a:schemeClr val="tx1"/>
                </a:solidFill>
                <a:ea typeface="Yu Gothic"/>
              </a:rPr>
              <a:t>縦書き Vertical</a:t>
            </a:r>
          </a:p>
          <a:p>
            <a:r>
              <a:rPr lang="en-GB" sz="900" i="1">
                <a:solidFill>
                  <a:schemeClr val="tx1"/>
                </a:solidFill>
              </a:rPr>
              <a:t>rotate 90 clockwise</a:t>
            </a:r>
          </a:p>
        </p:txBody>
      </p:sp>
      <p:sp>
        <p:nvSpPr>
          <p:cNvPr id="12" name="vert vert270"/>
          <p:cNvSpPr/>
          <p:nvPr/>
        </p:nvSpPr>
        <p:spPr>
          <a:xfrm>
            <a:off x="4262120" y="1234440"/>
            <a:ext cx="1788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vert270" wrap="square" anchor="t"/>
          <a:lstStyle/>
          <a:p>
            <a:r>
              <a:rPr lang="en-GB" sz="1200" b="1">
                <a:solidFill>
                  <a:schemeClr val="accent1"/>
                </a:solidFill>
              </a:rPr>
              <a:t>vert270</a:t>
            </a:r>
          </a:p>
          <a:p>
            <a:r>
              <a:rPr lang="ja-JP" sz="1400">
                <a:solidFill>
                  <a:schemeClr val="tx1"/>
                </a:solidFill>
                <a:ea typeface="Yu Gothic"/>
              </a:rPr>
              <a:t>縦書き Vertical</a:t>
            </a:r>
          </a:p>
          <a:p>
            <a:r>
              <a:rPr lang="en-GB" sz="900" i="1">
                <a:solidFill>
                  <a:schemeClr val="tx1"/>
                </a:solidFill>
              </a:rPr>
              <a:t>rotate 90 anticlockwise</a:t>
            </a:r>
          </a:p>
        </p:txBody>
      </p:sp>
      <p:sp>
        <p:nvSpPr>
          <p:cNvPr id="13" name="vert eaVert"/>
          <p:cNvSpPr/>
          <p:nvPr/>
        </p:nvSpPr>
        <p:spPr>
          <a:xfrm>
            <a:off x="6141720" y="1234440"/>
            <a:ext cx="1788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eaVert" wrap="square" anchor="t"/>
          <a:lstStyle/>
          <a:p>
            <a:r>
              <a:rPr lang="en-GB" sz="1200" b="1">
                <a:solidFill>
                  <a:schemeClr val="accent1"/>
                </a:solidFill>
              </a:rPr>
              <a:t>eaVert</a:t>
            </a:r>
          </a:p>
          <a:p>
            <a:r>
              <a:rPr lang="ja-JP" sz="1400">
                <a:solidFill>
                  <a:schemeClr val="tx1"/>
                </a:solidFill>
                <a:ea typeface="Yu Gothic"/>
              </a:rPr>
              <a:t>縦書き Vertical</a:t>
            </a:r>
          </a:p>
          <a:p>
            <a:r>
              <a:rPr lang="en-GB" sz="900" i="1">
                <a:solidFill>
                  <a:schemeClr val="tx1"/>
                </a:solidFill>
              </a:rPr>
              <a:t>East Asian, glyphs upright</a:t>
            </a:r>
          </a:p>
        </p:txBody>
      </p:sp>
      <p:sp>
        <p:nvSpPr>
          <p:cNvPr id="14" name="vert mongolianVert"/>
          <p:cNvSpPr/>
          <p:nvPr/>
        </p:nvSpPr>
        <p:spPr>
          <a:xfrm>
            <a:off x="8021320" y="1234440"/>
            <a:ext cx="1788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mongolianVert" wrap="square" anchor="t"/>
          <a:lstStyle/>
          <a:p>
            <a:r>
              <a:rPr lang="en-GB" sz="1200" b="1">
                <a:solidFill>
                  <a:schemeClr val="accent1"/>
                </a:solidFill>
              </a:rPr>
              <a:t>mongolianVert</a:t>
            </a:r>
          </a:p>
          <a:p>
            <a:r>
              <a:rPr lang="ja-JP" sz="1400">
                <a:solidFill>
                  <a:schemeClr val="tx1"/>
                </a:solidFill>
                <a:ea typeface="Yu Gothic"/>
              </a:rPr>
              <a:t>縦書き Vertical</a:t>
            </a:r>
          </a:p>
          <a:p>
            <a:r>
              <a:rPr lang="en-GB" sz="900" i="1">
                <a:solidFill>
                  <a:schemeClr val="tx1"/>
                </a:solidFill>
              </a:rPr>
              <a:t>out of scope; approximate</a:t>
            </a:r>
          </a:p>
        </p:txBody>
      </p:sp>
      <p:sp>
        <p:nvSpPr>
          <p:cNvPr id="15" name="vert wordArtVertRtl"/>
          <p:cNvSpPr/>
          <p:nvPr/>
        </p:nvSpPr>
        <p:spPr>
          <a:xfrm>
            <a:off x="9900920" y="1234440"/>
            <a:ext cx="1788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wordArtVertRtl" wrap="square" anchor="t"/>
          <a:lstStyle/>
          <a:p>
            <a:r>
              <a:rPr lang="en-GB" sz="1200" b="1">
                <a:solidFill>
                  <a:schemeClr val="accent1"/>
                </a:solidFill>
              </a:rPr>
              <a:t>wordArtVertRtl</a:t>
            </a:r>
          </a:p>
          <a:p>
            <a:r>
              <a:rPr lang="ja-JP" sz="1400">
                <a:solidFill>
                  <a:schemeClr val="tx1"/>
                </a:solidFill>
                <a:ea typeface="Yu Gothic"/>
              </a:rPr>
              <a:t>縦書き Vertical</a:t>
            </a:r>
          </a:p>
          <a:p>
            <a:r>
              <a:rPr lang="en-GB" sz="900" i="1">
                <a:solidFill>
                  <a:schemeClr val="tx1"/>
                </a:solidFill>
              </a:rPr>
              <a:t>out of scope; approximate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a10 RTL and CJK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