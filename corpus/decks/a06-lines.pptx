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a06 — a:ln widths, caps, compounds and alignment</a:t>
            </a:r>
          </a:p>
        </p:txBody>
      </p:sp>
      <p:sp>
        <p:nvSpPr>
          <p:cNvPr id="10" name="w=3175"/>
          <p:cNvSpPr/>
          <p:nvPr/>
        </p:nvSpPr>
        <p:spPr>
          <a:xfrm>
            <a:off x="502920" y="1234440"/>
            <a:ext cx="2164080" cy="1635760"/>
          </a:xfrm>
          <a:prstGeom prst="rect">
            <a:avLst/>
          </a:prstGeom>
          <a:noFill/>
          <a:ln w="3175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w=3175</a:t>
            </a:r>
          </a:p>
        </p:txBody>
      </p:sp>
      <p:sp>
        <p:nvSpPr>
          <p:cNvPr id="11" name="w=12700"/>
          <p:cNvSpPr/>
          <p:nvPr/>
        </p:nvSpPr>
        <p:spPr>
          <a:xfrm>
            <a:off x="2758440" y="1234440"/>
            <a:ext cx="2164080" cy="1635760"/>
          </a:xfrm>
          <a:prstGeom prst="rect">
            <a:avLst/>
          </a:prstGeom>
          <a:noFill/>
          <a:ln w="12700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w=12700</a:t>
            </a:r>
          </a:p>
        </p:txBody>
      </p:sp>
      <p:sp>
        <p:nvSpPr>
          <p:cNvPr id="12" name="w=28575"/>
          <p:cNvSpPr/>
          <p:nvPr/>
        </p:nvSpPr>
        <p:spPr>
          <a:xfrm>
            <a:off x="5013960" y="1234440"/>
            <a:ext cx="2164080" cy="1635760"/>
          </a:xfrm>
          <a:prstGeom prst="rect">
            <a:avLst/>
          </a:prstGeom>
          <a:noFill/>
          <a:ln w="28575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w=28575</a:t>
            </a:r>
          </a:p>
        </p:txBody>
      </p:sp>
      <p:sp>
        <p:nvSpPr>
          <p:cNvPr id="13" name="w=57150"/>
          <p:cNvSpPr/>
          <p:nvPr/>
        </p:nvSpPr>
        <p:spPr>
          <a:xfrm>
            <a:off x="7269480" y="1234440"/>
            <a:ext cx="2164080" cy="1635760"/>
          </a:xfrm>
          <a:prstGeom prst="rect">
            <a:avLst/>
          </a:prstGeom>
          <a:noFill/>
          <a:ln w="57150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w=57150</a:t>
            </a:r>
          </a:p>
        </p:txBody>
      </p:sp>
      <p:sp>
        <p:nvSpPr>
          <p:cNvPr id="14" name="no @cap"/>
          <p:cNvSpPr/>
          <p:nvPr/>
        </p:nvSpPr>
        <p:spPr>
          <a:xfrm>
            <a:off x="9525000" y="1234440"/>
            <a:ext cx="2164080" cy="1635760"/>
          </a:xfrm>
          <a:prstGeom prst="rect">
            <a:avLst/>
          </a:prstGeom>
          <a:noFill/>
          <a:ln w="38100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 @cap</a:t>
            </a:r>
          </a:p>
        </p:txBody>
      </p:sp>
      <p:sp>
        <p:nvSpPr>
          <p:cNvPr id="15" name="cap=rnd"/>
          <p:cNvSpPr/>
          <p:nvPr/>
        </p:nvSpPr>
        <p:spPr>
          <a:xfrm>
            <a:off x="502920" y="2961640"/>
            <a:ext cx="2164080" cy="1635760"/>
          </a:xfrm>
          <a:prstGeom prst="rect">
            <a:avLst/>
          </a:prstGeom>
          <a:noFill/>
          <a:ln w="38100" cap="rnd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cap=rnd</a:t>
            </a:r>
          </a:p>
        </p:txBody>
      </p:sp>
      <p:sp>
        <p:nvSpPr>
          <p:cNvPr id="16" name="cap=sq"/>
          <p:cNvSpPr/>
          <p:nvPr/>
        </p:nvSpPr>
        <p:spPr>
          <a:xfrm>
            <a:off x="2758440" y="2961640"/>
            <a:ext cx="2164080" cy="1635760"/>
          </a:xfrm>
          <a:prstGeom prst="rect">
            <a:avLst/>
          </a:prstGeom>
          <a:noFill/>
          <a:ln w="38100" cap="sq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cap=sq</a:t>
            </a:r>
          </a:p>
        </p:txBody>
      </p:sp>
      <p:sp>
        <p:nvSpPr>
          <p:cNvPr id="17" name="cap=flat"/>
          <p:cNvSpPr/>
          <p:nvPr/>
        </p:nvSpPr>
        <p:spPr>
          <a:xfrm>
            <a:off x="5013960" y="2961640"/>
            <a:ext cx="2164080" cy="1635760"/>
          </a:xfrm>
          <a:prstGeom prst="rect">
            <a:avLst/>
          </a:prstGeom>
          <a:noFill/>
          <a:ln w="38100" cap="flat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cap=flat</a:t>
            </a:r>
          </a:p>
        </p:txBody>
      </p:sp>
      <p:sp>
        <p:nvSpPr>
          <p:cNvPr id="18" name="cmpd=sng"/>
          <p:cNvSpPr/>
          <p:nvPr/>
        </p:nvSpPr>
        <p:spPr>
          <a:xfrm>
            <a:off x="7269480" y="2961640"/>
            <a:ext cx="2164080" cy="1635760"/>
          </a:xfrm>
          <a:prstGeom prst="rect">
            <a:avLst/>
          </a:prstGeom>
          <a:noFill/>
          <a:ln w="38100" cmpd="sng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cmpd=sng</a:t>
            </a:r>
          </a:p>
        </p:txBody>
      </p:sp>
      <p:sp>
        <p:nvSpPr>
          <p:cNvPr id="19" name="cmpd=dbl"/>
          <p:cNvSpPr/>
          <p:nvPr/>
        </p:nvSpPr>
        <p:spPr>
          <a:xfrm>
            <a:off x="9525000" y="2961640"/>
            <a:ext cx="2164080" cy="1635760"/>
          </a:xfrm>
          <a:prstGeom prst="rect">
            <a:avLst/>
          </a:prstGeom>
          <a:noFill/>
          <a:ln w="38100" cmpd="dbl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cmpd=dbl</a:t>
            </a:r>
          </a:p>
        </p:txBody>
      </p:sp>
      <p:sp>
        <p:nvSpPr>
          <p:cNvPr id="20" name="cmpd=thickThin"/>
          <p:cNvSpPr/>
          <p:nvPr/>
        </p:nvSpPr>
        <p:spPr>
          <a:xfrm>
            <a:off x="502920" y="4688840"/>
            <a:ext cx="2164080" cy="1635760"/>
          </a:xfrm>
          <a:prstGeom prst="rect">
            <a:avLst/>
          </a:prstGeom>
          <a:noFill/>
          <a:ln w="38100" cmpd="thickThin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cmpd=thickThin</a:t>
            </a:r>
          </a:p>
        </p:txBody>
      </p:sp>
      <p:sp>
        <p:nvSpPr>
          <p:cNvPr id="21" name="cmpd=thinThick"/>
          <p:cNvSpPr/>
          <p:nvPr/>
        </p:nvSpPr>
        <p:spPr>
          <a:xfrm>
            <a:off x="2758440" y="4688840"/>
            <a:ext cx="2164080" cy="1635760"/>
          </a:xfrm>
          <a:prstGeom prst="rect">
            <a:avLst/>
          </a:prstGeom>
          <a:noFill/>
          <a:ln w="38100" cmpd="thinThick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cmpd=thinThick</a:t>
            </a:r>
          </a:p>
        </p:txBody>
      </p:sp>
      <p:sp>
        <p:nvSpPr>
          <p:cNvPr id="22" name="cmpd=tri"/>
          <p:cNvSpPr/>
          <p:nvPr/>
        </p:nvSpPr>
        <p:spPr>
          <a:xfrm>
            <a:off x="5013960" y="4688840"/>
            <a:ext cx="2164080" cy="1635760"/>
          </a:xfrm>
          <a:prstGeom prst="rect">
            <a:avLst/>
          </a:prstGeom>
          <a:noFill/>
          <a:ln w="38100" cmpd="tri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cmpd=tri</a:t>
            </a:r>
          </a:p>
        </p:txBody>
      </p:sp>
      <p:sp>
        <p:nvSpPr>
          <p:cNvPr id="23" name="algn=in"/>
          <p:cNvSpPr/>
          <p:nvPr/>
        </p:nvSpPr>
        <p:spPr>
          <a:xfrm>
            <a:off x="7269480" y="4688840"/>
            <a:ext cx="2164080" cy="1635760"/>
          </a:xfrm>
          <a:prstGeom prst="rect">
            <a:avLst/>
          </a:prstGeom>
          <a:noFill/>
          <a:ln w="38100" algn="in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algn=in</a:t>
            </a:r>
          </a:p>
        </p:txBody>
      </p:sp>
      <p:sp>
        <p:nvSpPr>
          <p:cNvPr id="24" name="gradient line"/>
          <p:cNvSpPr/>
          <p:nvPr/>
        </p:nvSpPr>
        <p:spPr>
          <a:xfrm>
            <a:off x="9525000" y="4688840"/>
            <a:ext cx="2164080" cy="1635760"/>
          </a:xfrm>
          <a:prstGeom prst="rect">
            <a:avLst/>
          </a:prstGeom>
          <a:noFill/>
          <a:ln w="38100">
            <a:gradFill>
              <a:gsLst>
                <a:gs pos="0">
                  <a:schemeClr val="accent1"/>
                </a:gs>
                <a:gs pos="100000">
                  <a:schemeClr val="accent6"/>
                </a:gs>
              </a:gsLst>
              <a:lin ang="0" scaled="1"/>
            </a:gra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gradient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a06 — all 11 prstDash values, a:custDash, the three joins and arrowheads</a:t>
            </a:r>
          </a:p>
        </p:txBody>
      </p:sp>
      <p:sp>
        <p:nvSpPr>
          <p:cNvPr id="40" name="solid"/>
          <p:cNvSpPr/>
          <p:nvPr/>
        </p:nvSpPr>
        <p:spPr>
          <a:xfrm>
            <a:off x="502920" y="12344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dot"/>
          <p:cNvSpPr/>
          <p:nvPr/>
        </p:nvSpPr>
        <p:spPr>
          <a:xfrm>
            <a:off x="2114005" y="12344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dot"/>
          </a:ln>
        </p:spPr>
        <p:txBody>
          <a:bodyPr/>
          <a:lstStyle/>
          <a:p>
            <a:endParaRPr lang="en-GB"/>
          </a:p>
        </p:txBody>
      </p:sp>
      <p:sp>
        <p:nvSpPr>
          <p:cNvPr id="42" name="dash"/>
          <p:cNvSpPr/>
          <p:nvPr/>
        </p:nvSpPr>
        <p:spPr>
          <a:xfrm>
            <a:off x="3725090" y="12344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3" name="lgDash"/>
          <p:cNvSpPr/>
          <p:nvPr/>
        </p:nvSpPr>
        <p:spPr>
          <a:xfrm>
            <a:off x="5336175" y="12344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lgDash"/>
          </a:ln>
        </p:spPr>
        <p:txBody>
          <a:bodyPr/>
          <a:lstStyle/>
          <a:p>
            <a:endParaRPr lang="en-GB"/>
          </a:p>
        </p:txBody>
      </p:sp>
      <p:sp>
        <p:nvSpPr>
          <p:cNvPr id="44" name="dashDot"/>
          <p:cNvSpPr/>
          <p:nvPr/>
        </p:nvSpPr>
        <p:spPr>
          <a:xfrm>
            <a:off x="6947260" y="12344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dashDot"/>
          </a:ln>
        </p:spPr>
        <p:txBody>
          <a:bodyPr/>
          <a:lstStyle/>
          <a:p>
            <a:endParaRPr lang="en-GB"/>
          </a:p>
        </p:txBody>
      </p:sp>
      <p:sp>
        <p:nvSpPr>
          <p:cNvPr id="45" name="lgDashDot"/>
          <p:cNvSpPr/>
          <p:nvPr/>
        </p:nvSpPr>
        <p:spPr>
          <a:xfrm>
            <a:off x="8558345" y="12344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lgDashDot"/>
          </a:ln>
        </p:spPr>
        <p:txBody>
          <a:bodyPr/>
          <a:lstStyle/>
          <a:p>
            <a:endParaRPr lang="en-GB"/>
          </a:p>
        </p:txBody>
      </p:sp>
      <p:sp>
        <p:nvSpPr>
          <p:cNvPr id="46" name="lgDashDotDot"/>
          <p:cNvSpPr/>
          <p:nvPr/>
        </p:nvSpPr>
        <p:spPr>
          <a:xfrm>
            <a:off x="10169430" y="12344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lgDashDotDot"/>
          </a:ln>
        </p:spPr>
        <p:txBody>
          <a:bodyPr/>
          <a:lstStyle/>
          <a:p>
            <a:endParaRPr lang="en-GB"/>
          </a:p>
        </p:txBody>
      </p:sp>
      <p:sp>
        <p:nvSpPr>
          <p:cNvPr id="47" name="sysDash"/>
          <p:cNvSpPr/>
          <p:nvPr/>
        </p:nvSpPr>
        <p:spPr>
          <a:xfrm>
            <a:off x="502920" y="29616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sysDash"/>
          </a:ln>
        </p:spPr>
        <p:txBody>
          <a:bodyPr/>
          <a:lstStyle/>
          <a:p>
            <a:endParaRPr lang="en-GB"/>
          </a:p>
        </p:txBody>
      </p:sp>
      <p:sp>
        <p:nvSpPr>
          <p:cNvPr id="48" name="sysDot"/>
          <p:cNvSpPr/>
          <p:nvPr/>
        </p:nvSpPr>
        <p:spPr>
          <a:xfrm>
            <a:off x="2114005" y="29616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sysDot"/>
          </a:ln>
        </p:spPr>
        <p:txBody>
          <a:bodyPr/>
          <a:lstStyle/>
          <a:p>
            <a:endParaRPr lang="en-GB"/>
          </a:p>
        </p:txBody>
      </p:sp>
      <p:sp>
        <p:nvSpPr>
          <p:cNvPr id="49" name="sysDashDot"/>
          <p:cNvSpPr/>
          <p:nvPr/>
        </p:nvSpPr>
        <p:spPr>
          <a:xfrm>
            <a:off x="3725090" y="29616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sysDashDot"/>
          </a:ln>
        </p:spPr>
        <p:txBody>
          <a:bodyPr/>
          <a:lstStyle/>
          <a:p>
            <a:endParaRPr lang="en-GB"/>
          </a:p>
        </p:txBody>
      </p:sp>
      <p:sp>
        <p:nvSpPr>
          <p:cNvPr id="50" name="sysDashDotDot"/>
          <p:cNvSpPr/>
          <p:nvPr/>
        </p:nvSpPr>
        <p:spPr>
          <a:xfrm>
            <a:off x="5336175" y="29616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prstDash val="sysDashDotDot"/>
          </a:ln>
        </p:spPr>
        <p:txBody>
          <a:bodyPr/>
          <a:lstStyle/>
          <a:p>
            <a:endParaRPr lang="en-GB"/>
          </a:p>
        </p:txBody>
      </p:sp>
      <p:sp>
        <p:nvSpPr>
          <p:cNvPr id="51" name="custDash"/>
          <p:cNvSpPr/>
          <p:nvPr/>
        </p:nvSpPr>
        <p:spPr>
          <a:xfrm>
            <a:off x="6947260" y="2961640"/>
            <a:ext cx="1519645" cy="1635760"/>
          </a:xfrm>
          <a:prstGeom prst="line">
            <a:avLst/>
          </a:prstGeom>
          <a:noFill/>
          <a:ln w="28575" cap="flat">
            <a:solidFill>
              <a:schemeClr val="accent1">
                <a:shade val="80000"/>
              </a:schemeClr>
            </a:solidFill>
            <a:custDash>
              <a:ds d="400000" sp="200000"/>
              <a:ds d="100000" sp="200000"/>
            </a:custDash>
          </a:ln>
        </p:spPr>
        <p:txBody>
          <a:bodyPr/>
          <a:lstStyle/>
          <a:p>
            <a:endParaRPr lang="en-GB"/>
          </a:p>
        </p:txBody>
      </p:sp>
      <p:sp>
        <p:nvSpPr>
          <p:cNvPr id="52" name="join bevel"/>
          <p:cNvSpPr/>
          <p:nvPr/>
        </p:nvSpPr>
        <p:spPr>
          <a:xfrm>
            <a:off x="8558345" y="2961640"/>
            <a:ext cx="1519645" cy="1635760"/>
          </a:xfrm>
          <a:prstGeom prst="rect">
            <a:avLst/>
          </a:prstGeom>
          <a:noFill/>
          <a:ln w="57150">
            <a:solidFill>
              <a:schemeClr val="accent1">
                <a:shade val="80000"/>
              </a:schemeClr>
            </a:solidFill>
            <a:bevel/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join bevel</a:t>
            </a:r>
          </a:p>
        </p:txBody>
      </p:sp>
      <p:sp>
        <p:nvSpPr>
          <p:cNvPr id="53" name="join miter"/>
          <p:cNvSpPr/>
          <p:nvPr/>
        </p:nvSpPr>
        <p:spPr>
          <a:xfrm>
            <a:off x="10169430" y="2961640"/>
            <a:ext cx="1519645" cy="1635760"/>
          </a:xfrm>
          <a:prstGeom prst="rect">
            <a:avLst/>
          </a:prstGeom>
          <a:noFill/>
          <a:ln w="57150">
            <a:solidFill>
              <a:schemeClr val="accent1">
                <a:shade val="80000"/>
              </a:schemeClr>
            </a:solidFill>
            <a:miter lim="800000"/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join miter</a:t>
            </a:r>
          </a:p>
        </p:txBody>
      </p:sp>
      <p:sp>
        <p:nvSpPr>
          <p:cNvPr id="54" name="join round"/>
          <p:cNvSpPr/>
          <p:nvPr/>
        </p:nvSpPr>
        <p:spPr>
          <a:xfrm>
            <a:off x="502920" y="4688840"/>
            <a:ext cx="1519645" cy="1635760"/>
          </a:xfrm>
          <a:prstGeom prst="rect">
            <a:avLst/>
          </a:prstGeom>
          <a:noFill/>
          <a:ln w="57150">
            <a:solidFill>
              <a:schemeClr val="accent1">
                <a:shade val="80000"/>
              </a:schemeClr>
            </a:solidFill>
            <a:round/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join round</a:t>
            </a:r>
          </a:p>
        </p:txBody>
      </p:sp>
      <p:sp>
        <p:nvSpPr>
          <p:cNvPr id="55" name="triangle / stealth"/>
          <p:cNvSpPr/>
          <p:nvPr/>
        </p:nvSpPr>
        <p:spPr>
          <a:xfrm>
            <a:off x="2114005" y="4688840"/>
            <a:ext cx="1519645" cy="1635760"/>
          </a:xfrm>
          <a:prstGeom prst="line">
            <a:avLst/>
          </a:prstGeom>
          <a:noFill/>
          <a:ln w="28575">
            <a:solidFill>
              <a:schemeClr val="accent1">
                <a:shade val="80000"/>
              </a:schemeClr>
            </a:solidFill>
            <a:headEnd type="triangle" w="lg" len="lg"/>
            <a:tailEnd type="stealth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6" name="arrow / diamond"/>
          <p:cNvSpPr/>
          <p:nvPr/>
        </p:nvSpPr>
        <p:spPr>
          <a:xfrm>
            <a:off x="3725090" y="4688840"/>
            <a:ext cx="1519645" cy="1635760"/>
          </a:xfrm>
          <a:prstGeom prst="line">
            <a:avLst/>
          </a:prstGeom>
          <a:noFill/>
          <a:ln w="28575">
            <a:solidFill>
              <a:schemeClr val="accent1">
                <a:shade val="80000"/>
              </a:schemeClr>
            </a:solidFill>
            <a:headEnd type="arrow" w="lg" len="lg"/>
            <a:tailEnd type="diamond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7" name="oval / none"/>
          <p:cNvSpPr/>
          <p:nvPr/>
        </p:nvSpPr>
        <p:spPr>
          <a:xfrm>
            <a:off x="5336175" y="4688840"/>
            <a:ext cx="1519645" cy="1635760"/>
          </a:xfrm>
          <a:prstGeom prst="line">
            <a:avLst/>
          </a:prstGeom>
          <a:noFill/>
          <a:ln w="28575">
            <a:solidFill>
              <a:schemeClr val="accent1">
                <a:shade val="80000"/>
              </a:schemeClr>
            </a:solidFill>
            <a:headEnd type="oval" w="lg" len="lg"/>
            <a:tailEnd type="non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58" name="diamond / triangle"/>
          <p:cNvSpPr/>
          <p:nvPr/>
        </p:nvSpPr>
        <p:spPr>
          <a:xfrm>
            <a:off x="6947260" y="4688840"/>
            <a:ext cx="1519645" cy="1635760"/>
          </a:xfrm>
          <a:prstGeom prst="line">
            <a:avLst/>
          </a:prstGeom>
          <a:noFill/>
          <a:ln w="28575">
            <a:solidFill>
              <a:schemeClr val="accent1">
                <a:shade val="80000"/>
              </a:schemeClr>
            </a:solidFill>
            <a:headEnd type="diamond" w="lg" len="lg"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a06 — p:cxnSp glued to connection sites with a:stCxn and a:endCxn</a:t>
            </a:r>
          </a:p>
        </p:txBody>
      </p:sp>
      <p:sp>
        <p:nvSpPr>
          <p:cNvPr id="100" name="Box 1"/>
          <p:cNvSpPr/>
          <p:nvPr/>
        </p:nvSpPr>
        <p:spPr>
          <a:xfrm>
            <a:off x="700000" y="1600000"/>
            <a:ext cx="1800000" cy="1000000"/>
          </a:xfrm>
          <a:prstGeom prst="roundRect">
            <a:avLst>
              <a:gd name="adj" fmla="val 2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Box 1</a:t>
            </a:r>
          </a:p>
        </p:txBody>
      </p:sp>
      <p:sp>
        <p:nvSpPr>
          <p:cNvPr id="101" name="Box 2"/>
          <p:cNvSpPr/>
          <p:nvPr/>
        </p:nvSpPr>
        <p:spPr>
          <a:xfrm>
            <a:off x="4600000" y="1600000"/>
            <a:ext cx="1800000" cy="1000000"/>
          </a:xfrm>
          <a:prstGeom prst="roundRect">
            <a:avLst>
              <a:gd name="adj" fmla="val 2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Box 2</a:t>
            </a:r>
          </a:p>
        </p:txBody>
      </p:sp>
      <p:sp>
        <p:nvSpPr>
          <p:cNvPr id="102" name="Box 3"/>
          <p:cNvSpPr/>
          <p:nvPr/>
        </p:nvSpPr>
        <p:spPr>
          <a:xfrm>
            <a:off x="700000" y="4300000"/>
            <a:ext cx="1800000" cy="1000000"/>
          </a:xfrm>
          <a:prstGeom prst="roundRect">
            <a:avLst>
              <a:gd name="adj" fmla="val 2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Box 3</a:t>
            </a:r>
          </a:p>
        </p:txBody>
      </p:sp>
      <p:sp>
        <p:nvSpPr>
          <p:cNvPr id="103" name="Box 4"/>
          <p:cNvSpPr/>
          <p:nvPr/>
        </p:nvSpPr>
        <p:spPr>
          <a:xfrm>
            <a:off x="4600000" y="4300000"/>
            <a:ext cx="1800000" cy="1000000"/>
          </a:xfrm>
          <a:prstGeom prst="roundRect">
            <a:avLst>
              <a:gd name="adj" fmla="val 2000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accent1">
                <a:shade val="8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Box 4</a:t>
            </a:r>
          </a:p>
        </p:txBody>
      </p:sp>
      <p:cxnSp>
        <p:nvCxnSpPr>
          <p:cNvPr id="110" name="straightConnector1"/>
          <p:cNvCxnSpPr>
            <a:cxnSpLocks/>
            <a:stCxn id="100" idx="3"/>
            <a:endCxn id="101" idx="1"/>
          </p:cNvCxnSpPr>
          <p:nvPr/>
        </p:nvCxnSpPr>
        <p:spPr>
          <a:xfrm>
            <a:off x="2500000" y="2100000"/>
            <a:ext cx="2100000" cy="0"/>
          </a:xfrm>
          <a:prstGeom prst="straightConnector1">
            <a:avLst/>
          </a:prstGeom>
          <a:noFill/>
          <a:ln w="19050">
            <a:solidFill>
              <a:srgbClr val="44546A"/>
            </a:solidFill>
            <a:tailEnd type="triangle" w="med" len="med"/>
          </a:ln>
        </p:spPr>
      </p:cxnSp>
      <p:cxnSp>
        <p:nvCxnSpPr>
          <p:cNvPr id="111" name="bentConnector3"/>
          <p:cNvCxnSpPr>
            <a:cxnSpLocks/>
            <a:stCxn id="100" idx="2"/>
            <a:endCxn id="102" idx="0"/>
          </p:cNvCxnSpPr>
          <p:nvPr/>
        </p:nvCxnSpPr>
        <p:spPr>
          <a:xfrm>
            <a:off x="1600000" y="2600000"/>
            <a:ext cx="0" cy="17000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44546A"/>
            </a:solidFill>
            <a:tailEnd type="triangle" w="med" len="med"/>
          </a:ln>
        </p:spPr>
      </p:cxnSp>
      <p:cxnSp>
        <p:nvCxnSpPr>
          <p:cNvPr id="112" name="curvedConnector3"/>
          <p:cNvCxnSpPr>
            <a:cxnSpLocks/>
            <a:stCxn id="101" idx="2"/>
            <a:endCxn id="103" idx="0"/>
          </p:cNvCxnSpPr>
          <p:nvPr/>
        </p:nvCxnSpPr>
        <p:spPr>
          <a:xfrm>
            <a:off x="5500000" y="2600000"/>
            <a:ext cx="0" cy="170000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44546A"/>
            </a:solidFill>
            <a:tailEnd type="triangle" w="med" len="med"/>
          </a:ln>
        </p:spPr>
      </p:cxnSp>
      <p:cxnSp>
        <p:nvCxnSpPr>
          <p:cNvPr id="113" name="line, unglued"/>
          <p:cNvCxnSpPr>
            <a:cxnSpLocks/>
          </p:cNvCxnSpPr>
          <p:nvPr/>
        </p:nvCxnSpPr>
        <p:spPr>
          <a:xfrm>
            <a:off x="2500000" y="4800000"/>
            <a:ext cx="2100000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das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a06 lines and connectors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