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Ex1.xml" ContentType="application/vnd.ms-office.chartex+xml"/>
  <Override PartName="/ppt/charts/chartEx2.xml" ContentType="application/vnd.ms-office.chartex+xml"/>
  <Override PartName="/ppt/charts/chartEx3.xml" ContentType="application/vnd.ms-office.chartex+xml"/>
  <Override PartName="/ppt/charts/chartEx4.xml" ContentType="application/vnd.ms-office.chartex+xml"/>
  <Override PartName="/ppt/charts/chartEx5.xml" ContentType="application/vnd.ms-office.chartex+xml"/>
  <Override PartName="/ppt/charts/chartEx6.xml" ContentType="application/vnd.ms-office.chartex+xml"/>
  <Override PartName="/ppt/charts/chartEx7.xml" ContentType="application/vnd.ms-office.chartex+xml"/>
  <Override PartName="/ppt/charts/colors1.xml" ContentType="application/vnd.ms-office.chartcolorstyle+xml"/>
  <Override PartName="/ppt/charts/style1.xml" ContentType="application/vnd.ms-office.chart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Ex1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_rels/chartEx2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_rels/chartEx3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_rels/chartEx4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_rels/chartEx5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_rels/chartEx6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_rels/chartEx7.xml.rels><?xml version="1.0" encoding="UTF-8" standalone="yes"?>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data id="0">
      <cx:strDim type="cat">
        <cx:lvl ptCount="6">
          <cx:pt idx="0">Leaf 1</cx:pt>
          <cx:pt idx="1">Leaf 2</cx:pt>
          <cx:pt idx="2">Leaf 3</cx:pt>
          <cx:pt idx="3">Leaf 4</cx:pt>
          <cx:pt idx="4">Leaf 5</cx:pt>
          <cx:pt idx="5">Leaf 6</cx:pt>
        </cx:lvl>
        <cx:lvl ptCount="6">
          <cx:pt idx="0">Stem 1</cx:pt>
          <cx:pt idx="1">Stem 1</cx:pt>
          <cx:pt idx="2">Stem 2</cx:pt>
          <cx:pt idx="3">Stem 2</cx:pt>
          <cx:pt idx="4">Stem 3</cx:pt>
          <cx:pt idx="5">Stem 3</cx:pt>
        </cx:lvl>
        <cx:lvl ptCount="6">
          <cx:pt idx="0">Branch 1</cx:pt>
          <cx:pt idx="1">Branch 1</cx:pt>
          <cx:pt idx="2">Branch 1</cx:pt>
          <cx:pt idx="3">Branch 2</cx:pt>
          <cx:pt idx="4">Branch 2</cx:pt>
          <cx:pt idx="5">Branch 2</cx:pt>
        </cx:lvl>
      </cx:strDim>
      <cx:numDim type="size">
        <cx:lvl ptCount="6" formatCode="General">
          <cx:pt idx="0">22</cx:pt>
          <cx:pt idx="1">12</cx:pt>
          <cx:pt idx="2">18</cx:pt>
          <cx:pt idx="3">87</cx:pt>
          <cx:pt idx="4">25</cx:pt>
          <cx:pt idx="5">17</cx:pt>
        </cx:lvl>
      </cx:numDim>
    </cx:data>
  </cx:chartData>
  <cx:chart>
    <cx:title pos="t" align="ctr" overlay="0"/>
    <cx:plotArea>
      <cx:plotAreaRegion>
        <cx:series layoutId="treemap" uniqueId="{3F6FE1FC-70DC-47AA-B8D9-DEC1D7214DF0}">
          <cx:dataLabels pos="inEnd">
            <cx:visibility seriesName="0" categoryName="1" value="0"/>
          </cx:dataLabels>
          <cx:dataId val="0"/>
          <cx:layoutPr>
            <cx:parentLabelLayout val="overlapping"/>
          </cx:layoutPr>
        </cx:series>
      </cx:plotAreaRegion>
    </cx:plotArea>
    <cx:legend pos="t" align="ctr" overlay="0"/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data id="0">
      <cx:strDim type="cat">
        <cx:lvl ptCount="6">
          <cx:pt idx="0">Leaf 1</cx:pt>
          <cx:pt idx="1">Leaf 2</cx:pt>
          <cx:pt idx="2">Leaf 3</cx:pt>
          <cx:pt idx="3">Leaf 4</cx:pt>
          <cx:pt idx="4">Leaf 5</cx:pt>
          <cx:pt idx="5">Leaf 6</cx:pt>
        </cx:lvl>
        <cx:lvl ptCount="6">
          <cx:pt idx="0">Stem 1</cx:pt>
          <cx:pt idx="1">Stem 1</cx:pt>
          <cx:pt idx="2">Stem 2</cx:pt>
          <cx:pt idx="3">Stem 2</cx:pt>
          <cx:pt idx="4">Stem 3</cx:pt>
          <cx:pt idx="5">Stem 3</cx:pt>
        </cx:lvl>
        <cx:lvl ptCount="6">
          <cx:pt idx="0">Branch 1</cx:pt>
          <cx:pt idx="1">Branch 1</cx:pt>
          <cx:pt idx="2">Branch 1</cx:pt>
          <cx:pt idx="3">Branch 2</cx:pt>
          <cx:pt idx="4">Branch 2</cx:pt>
          <cx:pt idx="5">Branch 2</cx:pt>
        </cx:lvl>
      </cx:strDim>
      <cx:numDim type="size">
        <cx:lvl ptCount="6" formatCode="General">
          <cx:pt idx="0">22</cx:pt>
          <cx:pt idx="1">12</cx:pt>
          <cx:pt idx="2">18</cx:pt>
          <cx:pt idx="3">87</cx:pt>
          <cx:pt idx="4">25</cx:pt>
          <cx:pt idx="5">17</cx:pt>
        </cx:lvl>
      </cx:numDim>
    </cx:data>
  </cx:chartData>
  <cx:chart>
    <cx:title pos="t" align="ctr" overlay="0"/>
    <cx:plotArea>
      <cx:plotAreaRegion>
        <cx:series layoutId="sunburst" uniqueId="{5C1BEA33-8A2C-4E1F-9A6A-1D8DA9B1B0C4}">
          <cx:dataLabels>
            <cx:visibility seriesName="0" categoryName="1" value="0"/>
          </cx:dataLabels>
          <cx:dataId val="0"/>
        </cx:series>
      </cx:plotAreaRegion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data id="0">
      <cx:strDim type="cat">
        <cx:lvl ptCount="8">
          <cx:pt idx="0">Jan</cx:pt>
          <cx:pt idx="1">Feb</cx:pt>
          <cx:pt idx="2">Mar</cx:pt>
          <cx:pt idx="3">Apr</cx:pt>
          <cx:pt idx="4">May</cx:pt>
          <cx:pt idx="5">Jun</cx:pt>
          <cx:pt idx="6">Jul</cx:pt>
          <cx:pt idx="7">Aug</cx:pt>
        </cx:lvl>
      </cx:strDim>
      <cx:numDim type="val">
        <cx:lvl ptCount="8" formatCode="General">
          <cx:pt idx="0">100</cx:pt>
          <cx:pt idx="1">20</cx:pt>
          <cx:pt idx="2">50</cx:pt>
          <cx:pt idx="3">-40</cx:pt>
          <cx:pt idx="4">130</cx:pt>
          <cx:pt idx="5">-60</cx:pt>
          <cx:pt idx="6">70</cx:pt>
          <cx:pt idx="7">140</cx:pt>
        </cx:lvl>
      </cx:numDim>
    </cx:data>
  </cx:chartData>
  <cx:chart>
    <cx:title pos="t" align="ctr" overlay="0"/>
    <cx:plotArea>
      <cx:plotAreaRegion>
        <cx:series layoutId="waterfall" uniqueId="{65EBC1B9-E930-4B01-8A4D-4F46E1A88413}">
          <cx:dataLabels pos="outEnd">
            <cx:visibility seriesName="0" categoryName="0" value="1"/>
          </cx:dataLabels>
          <cx:dataId val="0"/>
          <cx:layoutPr>
            <cx:subtotals>
              <cx:idx val="0"/>
              <cx:idx val="4"/>
              <cx:idx val="7"/>
            </cx:subtotals>
          </cx:layoutPr>
        </cx:series>
      </cx:plotAreaRegion>
      <cx:axis id="0">
        <cx:catScaling gapWidth="0.5"/>
        <cx:tickLabels/>
      </cx:axis>
      <cx:axis id="1">
        <cx:valScaling/>
        <cx:majorGridlines/>
        <cx:tickLabels/>
      </cx:axis>
    </cx:plotArea>
    <cx:legend pos="t" align="ctr" overlay="0"/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data id="0">
      <cx:strDim type="cat">
        <cx:lvl ptCount="5">
          <cx:pt idx="0">Awareness</cx:pt>
          <cx:pt idx="1">Interest</cx:pt>
          <cx:pt idx="2">Trial</cx:pt>
          <cx:pt idx="3">Purchase</cx:pt>
          <cx:pt idx="4">Loyalty</cx:pt>
        </cx:lvl>
      </cx:strDim>
      <cx:numDim type="val">
        <cx:lvl ptCount="5" formatCode="General">
          <cx:pt idx="0">5200</cx:pt>
          <cx:pt idx="1">3100</cx:pt>
          <cx:pt idx="2">1800</cx:pt>
          <cx:pt idx="3">900</cx:pt>
          <cx:pt idx="4">420</cx:pt>
        </cx:lvl>
      </cx:numDim>
    </cx:data>
  </cx:chartData>
  <cx:chart>
    <cx:title pos="t" align="ctr" overlay="0"/>
    <cx:plotArea>
      <cx:plotAreaRegion>
        <cx:series layoutId="funnel" uniqueId="{6164DCB1-9E7A-4C8F-A427-B9E2DCB079FA}">
          <cx:dataLabels>
            <cx:visibility seriesName="0" categoryName="0" value="1"/>
          </cx:dataLabels>
          <cx:dataId val="0"/>
        </cx:series>
      </cx:plotAreaRegion>
      <cx:axis id="1">
        <cx:catScaling gapWidth="0.0599999987"/>
        <cx:tickLabels/>
      </cx:axis>
    </cx:plotArea>
  </cx:chart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data id="0">
      <cx:strDim type="cat">
        <cx:lvl ptCount="5">
          <cx:pt idx="0">A</cx:pt>
          <cx:pt idx="1">A</cx:pt>
          <cx:pt idx="2">A</cx:pt>
          <cx:pt idx="3">A</cx:pt>
          <cx:pt idx="4">A</cx:pt>
        </cx:lvl>
      </cx:strDim>
      <cx:numDim type="val">
        <cx:lvl ptCount="5" formatCode="General">
          <cx:pt idx="0">12</cx:pt>
          <cx:pt idx="1">19</cx:pt>
          <cx:pt idx="2">14</cx:pt>
          <cx:pt idx="3">31</cx:pt>
          <cx:pt idx="4">17</cx:pt>
        </cx:lvl>
      </cx:numDim>
    </cx:data>
    <cx:data id="1">
      <cx:strDim type="cat">
        <cx:lvl ptCount="5">
          <cx:pt idx="0">B</cx:pt>
          <cx:pt idx="1">B</cx:pt>
          <cx:pt idx="2">B</cx:pt>
          <cx:pt idx="3">B</cx:pt>
          <cx:pt idx="4">B</cx:pt>
        </cx:lvl>
      </cx:strDim>
      <cx:numDim type="val">
        <cx:lvl ptCount="5" formatCode="General">
          <cx:pt idx="0">22</cx:pt>
          <cx:pt idx="1">25</cx:pt>
          <cx:pt idx="2">41</cx:pt>
          <cx:pt idx="3">28</cx:pt>
          <cx:pt idx="4">24</cx:pt>
        </cx:lvl>
      </cx:numDim>
    </cx:data>
    <cx:data id="2">
      <cx:strDim type="cat">
        <cx:lvl ptCount="5">
          <cx:pt idx="0">C</cx:pt>
          <cx:pt idx="1">C</cx:pt>
          <cx:pt idx="2">C</cx:pt>
          <cx:pt idx="3">C</cx:pt>
          <cx:pt idx="4">C</cx:pt>
        </cx:lvl>
      </cx:strDim>
      <cx:numDim type="val">
        <cx:lvl ptCount="5" formatCode="General">
          <cx:pt idx="0">8</cx:pt>
          <cx:pt idx="1">15</cx:pt>
          <cx:pt idx="2">11</cx:pt>
          <cx:pt idx="3">13</cx:pt>
          <cx:pt idx="4">35</cx:pt>
        </cx:lvl>
      </cx:numDim>
    </cx:data>
  </cx:chartData>
  <cx:chart>
    <cx:title pos="t" align="ctr" overlay="0"/>
    <cx:plotArea>
      <cx:plotAreaRegion>
        <cx:series layoutId="boxWhisker" uniqueId="{46BB7A51-7ACE-4BFA-B8E1-030F00016C21}">
          <cx:dataId val="0"/>
          <cx:layoutPr>
            <cx:visibility meanLine="0" meanMarker="1" nonoutliers="0" outliers="1"/>
            <cx:statistics quartileMethod="exclusive"/>
          </cx:layoutPr>
        </cx:series>
        <cx:series layoutId="boxWhisker" uniqueId="{DBC18700-12DB-4BA2-B86E-2EFB70394D4E}">
          <cx:dataId val="1"/>
          <cx:layoutPr>
            <cx:visibility meanLine="1" meanMarker="0" nonoutliers="1" outliers="1"/>
            <cx:statistics quartileMethod="inclusive"/>
          </cx:layoutPr>
        </cx:series>
        <cx:series layoutId="boxWhisker" uniqueId="{8D4233EB-1C77-4871-AF86-2C7198302D47}">
          <cx:dataId val="2"/>
          <cx:layoutPr>
            <cx:visibility meanLine="0" meanMarker="1" nonoutliers="0" outliers="0"/>
            <cx:statistics quartileMethod="exclusive"/>
          </cx:layoutPr>
        </cx:series>
      </cx:plotAreaRegion>
      <cx:axis id="0">
        <cx:catScaling gapWidth="1"/>
        <cx:tickLabels/>
      </cx:axis>
      <cx:axis id="1">
        <cx:valScaling/>
        <cx:majorGridlines/>
        <cx:tickLabels/>
      </cx:axis>
    </cx:plotArea>
  </cx:chart>
</cx:chartSpace>
</file>

<file path=ppt/charts/chartEx6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data id="0">
      <cx:numDim type="val">
        <cx:lvl ptCount="12" formatCode="General">
          <cx:pt idx="0">12</cx:pt>
          <cx:pt idx="1">19</cx:pt>
          <cx:pt idx="2">14</cx:pt>
          <cx:pt idx="3">31</cx:pt>
          <cx:pt idx="4">17</cx:pt>
          <cx:pt idx="5">22</cx:pt>
          <cx:pt idx="6">25</cx:pt>
          <cx:pt idx="7">41</cx:pt>
          <cx:pt idx="8">28</cx:pt>
          <cx:pt idx="9">24</cx:pt>
          <cx:pt idx="10">8</cx:pt>
          <cx:pt idx="11">15</cx:pt>
        </cx:lvl>
      </cx:numDim>
    </cx:data>
  </cx:chartData>
  <cx:chart>
    <cx:title pos="t" align="ctr" overlay="0"/>
    <cx:plotArea>
      <cx:plotAreaRegion>
        <cx:series layoutId="clusteredColumn" uniqueId="{36DD84EA-09C6-4FAF-ABEB-F401A774CEF4}">
          <cx:dataId val="0"/>
          <cx:layoutPr>
            <cx:binning intervalClosed="r"/>
          </cx:layoutPr>
        </cx:series>
      </cx:plotAreaRegion>
      <cx:axis id="0">
        <cx:catScaling gapWidth="0"/>
        <cx:tickLabels/>
      </cx:axis>
      <cx:axis id="1">
        <cx:valScaling/>
        <cx:majorGridlines/>
        <cx:tickLabels/>
      </cx:axis>
    </cx:plotArea>
  </cx:chart>
</cx:chartSpace>
</file>

<file path=ppt/charts/chartEx7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data id="0">
      <cx:numDim type="val">
        <cx:lvl ptCount="8" formatCode="General">
          <cx:pt idx="0">41</cx:pt>
          <cx:pt idx="1">27</cx:pt>
          <cx:pt idx="2">19</cx:pt>
          <cx:pt idx="3">13</cx:pt>
          <cx:pt idx="4">9</cx:pt>
          <cx:pt idx="5">6</cx:pt>
          <cx:pt idx="6">4</cx:pt>
          <cx:pt idx="7">2</cx:pt>
        </cx:lvl>
      </cx:numDim>
    </cx:data>
  </cx:chartData>
  <cx:chart>
    <cx:title pos="t" align="ctr" overlay="0"/>
    <cx:plotArea>
      <cx:plotAreaRegion>
        <cx:series layoutId="clusteredColumn" uniqueId="{C42CF01E-F374-4B7A-BAC9-8971DE638C61}">
          <cx:dataId val="0"/>
          <cx:layoutPr>
            <cx:aggregation/>
          </cx:layoutPr>
          <cx:axisId val="1"/>
        </cx:series>
        <cx:series layoutId="paretoLine" ownerIdx="0" uniqueId="{A6B8E39A-8D24-42B9-85AA-FBD2BA8F1DFF}">
          <cx:axisId val="2"/>
        </cx:series>
      </cx:plotAreaRegion>
      <cx:axis id="0">
        <cx:catScaling gapWidth="0"/>
        <cx:tickLabels/>
      </cx:axis>
      <cx:axis id="1">
        <cx:valScaling/>
        <cx:majorGridlines/>
        <cx:tickLabels/>
      </cx:axis>
      <cx:axis id="2">
        <cx:valScaling max="1" min="0"/>
        <cx:units unit="percentage"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/>
    </cs:fontRef>
  </cs:axisTitle>
  <cs:categoryAxis>
    <cs:lnRef idx="0"/>
    <cs:fillRef idx="0"/>
    <cs:effectRef idx="0"/>
    <cs:fontRef idx="minor">
      <a:schemeClr val="tx1"/>
    </cs:fontRef>
  </cs:categoryAxis>
  <cs:chartArea>
    <cs:lnRef idx="0"/>
    <cs:fillRef idx="0"/>
    <cs:effectRef idx="0"/>
    <cs:fontRef idx="minor">
      <a:schemeClr val="tx1"/>
    </cs:fontRef>
  </cs:chartArea>
  <cs:dataLabel>
    <cs:lnRef idx="0"/>
    <cs:fillRef idx="0"/>
    <cs:effectRef idx="0"/>
    <cs:fontRef idx="minor">
      <a:schemeClr val="tx1"/>
    </cs:fontRef>
  </cs:dataLabel>
  <cs:dataLabelCallout>
    <cs:lnRef idx="0"/>
    <cs:fillRef idx="0"/>
    <cs:effectRef idx="0"/>
    <cs:fontRef idx="minor">
      <a:schemeClr val="tx1"/>
    </cs:fontRef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0"/>
    <cs:effectRef idx="0"/>
    <cs:fontRef idx="minor">
      <a:schemeClr val="tx1"/>
    </cs:fontRef>
  </cs:dataPoint3D>
  <cs:dataPointLine>
    <cs:lnRef idx="0"/>
    <cs:fillRef idx="0"/>
    <cs:effectRef idx="0"/>
    <cs:fontRef idx="minor">
      <a:schemeClr val="tx1"/>
    </cs:fontRef>
  </cs:dataPointLine>
  <cs:dataPointMarker>
    <cs:lnRef idx="0"/>
    <cs:fillRef idx="0"/>
    <cs:effectRef idx="0"/>
    <cs:fontRef idx="minor">
      <a:schemeClr val="tx1"/>
    </cs:fontRef>
  </cs:dataPointMarker>
  <cs:dataPointMarkerLayout symbol="circle" size="5"/>
  <cs:dataPointWireframe>
    <cs:lnRef idx="0"/>
    <cs:fillRef idx="0"/>
    <cs:effectRef idx="0"/>
    <cs:fontRef idx="minor">
      <a:schemeClr val="tx1"/>
    </cs:fontRef>
  </cs:dataPointWireframe>
  <cs:dataTable>
    <cs:lnRef idx="0"/>
    <cs:fillRef idx="0"/>
    <cs:effectRef idx="0"/>
    <cs:fontRef idx="minor">
      <a:schemeClr val="tx1"/>
    </cs:fontRef>
  </cs:dataTable>
  <cs:downBar>
    <cs:lnRef idx="0"/>
    <cs:fillRef idx="0"/>
    <cs:effectRef idx="0"/>
    <cs:fontRef idx="minor">
      <a:schemeClr val="tx1"/>
    </cs:fontRef>
  </cs:downBar>
  <cs:dropLine>
    <cs:lnRef idx="0"/>
    <cs:fillRef idx="0"/>
    <cs:effectRef idx="0"/>
    <cs:fontRef idx="minor">
      <a:schemeClr val="tx1"/>
    </cs:fontRef>
  </cs:dropLine>
  <cs:errorBar>
    <cs:lnRef idx="0"/>
    <cs:fillRef idx="0"/>
    <cs:effectRef idx="0"/>
    <cs:fontRef idx="minor">
      <a:schemeClr val="tx1"/>
    </cs:fontRef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</cs:gridlineMajor>
  <cs:gridlineMinor>
    <cs:lnRef idx="0"/>
    <cs:fillRef idx="0"/>
    <cs:effectRef idx="0"/>
    <cs:fontRef idx="minor">
      <a:schemeClr val="tx1"/>
    </cs:fontRef>
  </cs:gridlineMinor>
  <cs:hiLoLine>
    <cs:lnRef idx="0"/>
    <cs:fillRef idx="0"/>
    <cs:effectRef idx="0"/>
    <cs:fontRef idx="minor">
      <a:schemeClr val="tx1"/>
    </cs:fontRef>
  </cs:hiLoLine>
  <cs:leaderLine>
    <cs:lnRef idx="0"/>
    <cs:fillRef idx="0"/>
    <cs:effectRef idx="0"/>
    <cs:fontRef idx="minor">
      <a:schemeClr val="tx1"/>
    </cs:fontRef>
  </cs:leaderLine>
  <cs:legend>
    <cs:lnRef idx="0"/>
    <cs:fillRef idx="0"/>
    <cs:effectRef idx="0"/>
    <cs:fontRef idx="minor">
      <a:schemeClr val="tx1"/>
    </cs:fontRef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/>
    </cs:fontRef>
  </cs:seriesAxis>
  <cs:seriesLine>
    <cs:lnRef idx="0"/>
    <cs:fillRef idx="0"/>
    <cs:effectRef idx="0"/>
    <cs:fontRef idx="minor">
      <a:schemeClr val="tx1"/>
    </cs:fontRef>
  </cs:seriesLine>
  <cs:title>
    <cs:lnRef idx="0"/>
    <cs:fillRef idx="0"/>
    <cs:effectRef idx="0"/>
    <cs:fontRef idx="minor">
      <a:schemeClr val="tx1"/>
    </cs:fontRef>
  </cs:title>
  <cs:trendline>
    <cs:lnRef idx="0"/>
    <cs:fillRef idx="0"/>
    <cs:effectRef idx="0"/>
    <cs:fontRef idx="minor">
      <a:schemeClr val="tx1"/>
    </cs:fontRef>
  </cs:trendline>
  <cs:trendlineLabel>
    <cs:lnRef idx="0"/>
    <cs:fillRef idx="0"/>
    <cs:effectRef idx="0"/>
    <cs:fontRef idx="minor">
      <a:schemeClr val="tx1"/>
    </cs:fontRef>
  </cs:trendlineLabel>
  <cs:upBar>
    <cs:lnRef idx="0"/>
    <cs:fillRef idx="0"/>
    <cs:effectRef idx="0"/>
    <cs:fontRef idx="minor">
      <a:schemeClr val="tx1"/>
    </cs:fontRef>
  </cs:upBar>
  <cs:valueAxis>
    <cs:lnRef idx="0"/>
    <cs:fillRef idx="0"/>
    <cs:effectRef idx="0"/>
    <cs:fontRef idx="minor">
      <a:schemeClr val="tx1"/>
    </cs:fontRef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1.xml"/><Relationship Id="rId3" Type="http://schemas.microsoft.com/office/2014/relationships/chartEx" Target="../charts/chartEx2.xml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3.xml"/><Relationship Id="rId3" Type="http://schemas.microsoft.com/office/2014/relationships/chartEx" Target="../charts/chartEx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4/relationships/chartEx" Target="../charts/chartEx5.xml"/><Relationship Id="rId3" Type="http://schemas.microsoft.com/office/2014/relationships/chartEx" Target="../charts/chartEx6.xml"/><Relationship Id="rId4" Type="http://schemas.microsoft.com/office/2014/relationships/chartEx" Target="../charts/chartEx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a22 — treemap and sunburst, inside the switch PowerPoint writes</a:t>
            </a: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0" name="Treemap 1"/>
              <p:cNvGraphicFramePr/>
              <p:nvPr/>
            </p:nvGraphicFramePr>
            <p:xfrm>
              <a:off x="685800" y="1600200"/>
              <a:ext cx="5029200" cy="4572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10" name="Treemap 1" descr="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5800" y="1600200"/>
                <a:ext cx="5029200" cy="45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1" name="Sunburst 2"/>
              <p:cNvGraphicFramePr/>
              <p:nvPr/>
            </p:nvGraphicFramePr>
            <p:xfrm>
              <a:off x="6477000" y="1600200"/>
              <a:ext cx="5029200" cy="45720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11" name="Sunburst 2" descr="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77000" y="1600200"/>
                <a:ext cx="5029200" cy="4572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a22 — waterfall and funnel, as bare frames</a:t>
            </a:r>
          </a:p>
        </p:txBody>
      </p:sp>
      <p:graphicFrame>
        <p:nvGraphicFramePr>
          <p:cNvPr id="10" name="Waterfall 3"/>
          <p:cNvGraphicFramePr/>
          <p:nvPr/>
        </p:nvGraphicFramePr>
        <p:xfrm>
          <a:off x="685800" y="1600200"/>
          <a:ext cx="5029200" cy="45720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  <p:graphicFrame>
        <p:nvGraphicFramePr>
          <p:cNvPr id="11" name="Funnel 4"/>
          <p:cNvGraphicFramePr/>
          <p:nvPr/>
        </p:nvGraphicFramePr>
        <p:xfrm>
          <a:off x="6477000" y="1600200"/>
          <a:ext cx="5029200" cy="45720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a22 — box and whisker, histogram, and a Pareto</a:t>
            </a:r>
          </a:p>
        </p:txBody>
      </p:sp>
      <p:graphicFrame>
        <p:nvGraphicFramePr>
          <p:cNvPr id="10" name="Box and whisker 5"/>
          <p:cNvGraphicFramePr/>
          <p:nvPr/>
        </p:nvGraphicFramePr>
        <p:xfrm>
          <a:off x="457200" y="1600200"/>
          <a:ext cx="3505200" cy="45720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2"/>
          </a:graphicData>
        </a:graphic>
      </p:graphicFrame>
      <p:graphicFrame>
        <p:nvGraphicFramePr>
          <p:cNvPr id="11" name="Histogram 6"/>
          <p:cNvGraphicFramePr/>
          <p:nvPr/>
        </p:nvGraphicFramePr>
        <p:xfrm>
          <a:off x="4343400" y="1600200"/>
          <a:ext cx="3505200" cy="45720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3"/>
          </a:graphicData>
        </a:graphic>
      </p:graphicFrame>
      <p:graphicFrame>
        <p:nvGraphicFramePr>
          <p:cNvPr id="12" name="Pareto 7"/>
          <p:cNvGraphicFramePr/>
          <p:nvPr/>
        </p:nvGraphicFramePr>
        <p:xfrm>
          <a:off x="8229600" y="1600200"/>
          <a:ext cx="3505200" cy="4572000"/>
        </p:xfrm>
        <a:graphic>
          <a:graphicData uri="http://schemas.microsoft.com/office/drawing/2014/chartex">
            <cx:chart xmlns:cx="http://schemas.microsoft.com/office/drawing/2014/chartex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a22 chartex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