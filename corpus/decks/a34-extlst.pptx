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  <p:extLst>
    <p:ext uri="urn:pptx-studio:corpus:a34:presentation">
      <zz:presentationLevel xmlns:zz="http://pptx-studio.example/ns/a34"/>
    </p:ext>
    <p:ext uri="urn:pptx-studio:corpus:a34:presentation-2"/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a34 — an extLst at every host a shape has</a:t>
            </a:r>
          </a:p>
        </p:txBody>
      </p:sp>
      <p:sp>
        <p:nvSpPr>
          <p:cNvPr id="10" name="cNvPr extension">
            <a:extLst>
              <a:ext uri="{C0A9F0B1-1111-4A11-8111-111111111111}">
                <zz:nonVisual xmlns:zz="http://pptx-studio.example/ns/a34" note="cNvPr"/>
              </a:ext>
            </a:extLst>
          </p:cNvPr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p:cNvPr/a:extLst</a:t>
            </a:r>
          </a:p>
          <a:p>
            <a:pPr algn="ctr"/>
            <a:r>
              <a:rPr sz="1200" b="0"/>
              <a:t>where adec:decorative lives</a:t>
            </a:r>
          </a:p>
        </p:txBody>
      </p:sp>
      <p:sp>
        <p:nvSpPr>
          <p:cNvPr id="11" name="spPr extension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extLst>
            <a:ext uri="{C0A9F0B1-1111-4A11-8111-111111111112}">
              <zz:shapeProps xmlns:zz="http://pptx-studio.example/ns/a34" note="spPr"/>
            </a:ext>
          </a:extLst>
        </p:spPr>
        <p:txBody>
          <a:bodyPr wrap="square" anchor="ctr"/>
          <a:lstStyle/>
          <a:p>
            <a:pPr algn="ctr"/>
            <a:r>
              <a:rPr sz="1200" b="1"/>
              <a:t>p:spPr/a:extLst</a:t>
            </a:r>
          </a:p>
          <a:p>
            <a:pPr algn="ctr"/>
            <a:r>
              <a:rPr sz="1200" b="0"/>
              <a:t>after scene3d and sp3d</a:t>
            </a:r>
          </a:p>
        </p:txBody>
      </p:sp>
      <p:sp>
        <p:nvSpPr>
          <p:cNvPr id="12" name="bodyPr extension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>
            <a:extLst>
              <a:ext uri="{C0A9F0B1-1111-4A11-8111-111111111113}">
                <zz:bodyProps xmlns:zz="http://pptx-studio.example/ns/a34" note="bodyPr"/>
              </a:ext>
            </a:extLst>
          </a:bodyPr>
          <a:lstStyle/>
          <a:p>
            <a:pPr algn="ctr"/>
            <a:r>
              <a:rPr sz="1200" b="1"/>
              <a:t>a:bodyPr/a:extLst</a:t>
            </a:r>
          </a:p>
          <a:p>
            <a:pPr algn="ctr"/>
            <a:r>
              <a:rPr sz="1200" b="0"/>
              <a:t>after the 3-D children</a:t>
            </a:r>
          </a:p>
        </p:txBody>
      </p:sp>
      <p:sp>
        <p:nvSpPr>
          <p:cNvPr id="13" name="All three at once">
            <a:extLst>
              <a:ext uri="{C0A9F0B1-1111-4A11-8111-111111111114}">
                <zz:one xmlns:zz="http://pptx-studio.example/ns/a34"/>
              </a:ext>
            </a:extLst>
          </p:cNvPr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xtLst>
            <a:ext uri="{C0A9F0B1-1111-4A11-8111-111111111115}">
              <zz:two xmlns:zz="http://pptx-studio.example/ns/a34"/>
            </a:ext>
          </a:extLst>
        </p:spPr>
        <p:txBody>
          <a:bodyPr wrap="square" anchor="ctr">
            <a:extLst>
              <a:ext uri="{C0A9F0B1-1111-4A11-8111-111111111116}">
                <zz:three xmlns:zz="http://pptx-studio.example/ns/a34"/>
              </a:ext>
            </a:extLst>
          </a:bodyPr>
          <a:lstStyle/>
          <a:p>
            <a:pPr algn="ctr"/>
            <a:r>
              <a:rPr sz="1200" b="1"/>
              <a:t>all three on one shape</a:t>
            </a:r>
          </a:p>
          <a:p>
            <a:pPr algn="ctr"/>
            <a:r>
              <a:rPr sz="1200" b="0"/>
              <a:t>and they are not the same list</a:t>
            </a:r>
          </a:p>
        </p:txBody>
      </p:sp>
    </p:spTree>
    <p:extLst>
      <p:ext uri="{C0A9F0B1-4444-4A44-8444-444444444441}">
        <zz:cSldMarker xmlns:zz="http://pptx-studio.example/ns/a34" note="p:cSld, where p14:creationId lives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a34 — one list, four ways to lose it</a:t>
            </a:r>
          </a:p>
        </p:txBody>
      </p:sp>
      <p:sp>
        <p:nvSpPr>
          <p:cNvPr id="10" name="The hazardous list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extLst>
            <a:ext uri="urn:pptx-studio:corpus:a34:third">
              <zz:third xmlns:zz="http://pptx-studio.example/ns/a34"/>
            </a:ext>
            <a:ext uri="http://pptx-studio.example/ext/first">
              <zz:first xmlns:zz="http://pptx-studio.example/ns/a34"/>
            </a:ext>
            <a:ext uri="{C0A9F0B1-3333-4A33-8333-333333333333}">
              <zz:duplicate xmlns:zz="http://pptx-studio.example/ns/a34" occurrence="1"/>
            </a:ext>
            <a:ext uri="{C0A9F0B1-2222-4A22-8222-222222222222}">
              <zz:cased xmlns:zz="http://pptx-studio.example/ns/a34" spelling="upper"/>
            </a:ext>
            <a:ext uri="{C0A9F0B1-3333-4A33-8333-333333333333}">
              <zz:duplicate xmlns:zz="http://pptx-studio.example/ns/a34" occurrence="2"/>
            </a:ext>
            <a:ext uri="{c0a9f0b1-2222-4a22-8222-222222222222}">
              <zz:cased xmlns:zz="http://pptx-studio.example/ns/a34" spelling="lower"/>
            </a:ext>
            <a:ext uri="urn:pptx-studio:corpus:a34:empty"/>
          </a:extLst>
        </p:spPr>
        <p:txBody>
          <a:bodyPr wrap="square" anchor="ctr"/>
          <a:lstStyle/>
          <a:p>
            <a:pPr algn="ctr"/>
            <a:r>
              <a:rPr sz="1200" b="1"/>
              <a:t>seven a:ext children</a:t>
            </a:r>
          </a:p>
          <a:p>
            <a:pPr algn="ctr"/>
            <a:r>
              <a:rPr sz="1200" b="0"/>
              <a:t>unsorted, duplicated, case-paired</a:t>
            </a:r>
          </a:p>
        </p:txBody>
      </p:sp>
      <p:sp>
        <p:nvSpPr>
          <p:cNvPr id="11" name="Payloads that are not one element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extLst>
            <a:ext uri="urn:pptx-studio:corpus:a34:several">
              <zz:a xmlns:zz="http://pptx-studio.example/ns/a34"/>
              <zz:b xmlns:zz="http://pptx-studio.example/ns/a34"/>
              <zz:c xmlns:zz="http://pptx-studio.example/ns/a34"/>
            </a:ext>
            <a:ext uri="urn:pptx-studio:corpus:a34:nested">
              <zz:outer xmlns:zz="http://pptx-studio.example/ns/a34" depth="1">
                <zz:inner xmlns:zz="http://pptx-studio.example/ns/a34" depth="2"/>
              </zz:outer>
            </a:ext>
            <a:ext uri="urn:pptx-studio:corpus:a34:text">
              <zz:withText xmlns:zz="http://pptx-studio.example/ns/a34">character data inside an extension</zz:withText>
            </a:ext>
            <a:ext uri="urn:pptx-studio:corpus:a34:cdata">
              <zz:withCdata xmlns:zz="http://pptx-studio.example/ns/a34"><![CDATA[<not markup> & not an entity]]></zz:withCdata>
            </a:ext>
            <a:ext uri="urn:pptx-studio:corpus:a34:comment">
              <!-- a comment inside an extension -->
              <zz:afterComment xmlns:zz="http://pptx-studio.example/ns/a34"/>
            </a:ext>
          </a:extLst>
        </p:spPr>
        <p:txBody>
          <a:bodyPr wrap="square" anchor="ctr"/>
          <a:lstStyle/>
          <a:p>
            <a:pPr algn="ctr"/>
            <a:r>
              <a:rPr sz="1200" b="1"/>
              <a:t>several children, text,</a:t>
            </a:r>
          </a:p>
          <a:p>
            <a:pPr algn="ctr"/>
            <a:r>
              <a:rPr sz="1200" b="0"/>
              <a:t>CDATA and a comment</a:t>
            </a:r>
          </a:p>
        </p:txBody>
      </p:sp>
      <p:sp>
        <p:nvSpPr>
          <p:cNvPr id="12" name="A local name that collides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extLst>
            <a:ext uri="urn:pptx-studio:corpus:a34:collide">
              <zz:transition xmlns:zz="http://pptx-studio.example/ns/a34"/>
              <zz:table xmlns:zz="http://pptx-studio.example/ns/a34"/>
              <zz:oMath xmlns:zz="http://pptx-studio.example/ns/a34"/>
              <zz:audio xmlns:zz="http://pptx-studio.example/ns/a34"/>
            </a:ext>
          </a:extLst>
        </p:spPr>
        <p:txBody>
          <a:bodyPr wrap="square" anchor="ctr"/>
          <a:lstStyle/>
          <a:p>
            <a:pPr algn="ctr"/>
            <a:r>
              <a:rPr sz="1200" b="1"/>
              <a:t>zz:transition, zz:table,</a:t>
            </a:r>
          </a:p>
          <a:p>
            <a:pPr algn="ctr"/>
            <a:r>
              <a:rPr sz="1200" b="0"/>
              <a:t>zz:oMath — none of them are</a:t>
            </a:r>
          </a:p>
        </p:txBody>
      </p:sp>
      <p:sp>
        <p:nvSpPr>
          <p:cNvPr id="13" name="No extension at all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the control shape</a:t>
            </a:r>
          </a:p>
          <a:p>
            <a:pPr algn="ctr"/>
            <a:r>
              <a:rPr sz="1200" b="0"/>
              <a:t>nothing to preserve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a34 — the two extLst hosts outside a shape</a:t>
            </a:r>
          </a:p>
        </p:txBody>
      </p:sp>
      <p:sp>
        <p:nvSpPr>
          <p:cNvPr id="10" name="Slide level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p:sld/p:extLst</a:t>
            </a:r>
          </a:p>
          <a:p>
            <a:pPr algn="ctr"/>
            <a:r>
              <a:rPr sz="1200" b="0"/>
              <a:t>after p:timing</a:t>
            </a:r>
          </a:p>
        </p:txBody>
      </p:sp>
      <p:sp>
        <p:nvSpPr>
          <p:cNvPr id="11" name="cSld level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p:cSld/p:extLst</a:t>
            </a:r>
          </a:p>
          <a:p>
            <a:pPr algn="ctr"/>
            <a:r>
              <a:rPr sz="1200" b="0"/>
              <a:t>one level in, a different list</a:t>
            </a:r>
          </a:p>
        </p:txBody>
      </p:sp>
      <p:sp>
        <p:nvSpPr>
          <p:cNvPr id="12" name="Presentation level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p:presentation/p:extLst</a:t>
            </a:r>
          </a:p>
          <a:p>
            <a:pPr algn="ctr"/>
            <a:r>
              <a:rPr sz="1200" b="0"/>
              <a:t>the whole package</a:t>
            </a:r>
          </a:p>
        </p:txBody>
      </p:sp>
      <p:sp>
        <p:nvSpPr>
          <p:cNvPr id="13" name="All three on this slide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and the two on the slide</a:t>
            </a:r>
          </a:p>
          <a:p>
            <a:pPr algn="ctr"/>
            <a:r>
              <a:rPr sz="1200" b="0"/>
              <a:t>are siblings of different parents</a:t>
            </a:r>
          </a:p>
        </p:txBody>
      </p:sp>
    </p:spTree>
    <p:extLst>
      <p:ext uri="urn:pptx-studio:corpus:a34:csld">
        <zz:cSldLevel xmlns:zz="http://pptx-studio.example/ns/a34"/>
      </p:ext>
      <p:ext uri="urn:pptx-studio:corpus:a34:csld-2">
        <zz:cSldLevelAgain xmlns:zz="http://pptx-studio.example/ns/a34"/>
      </p:ext>
    </p:extLst>
  </p:cSld>
  <p:clrMapOvr>
    <a:masterClrMapping/>
  </p:clrMapOvr>
  <p:extLst>
    <p:ext uri="urn:pptx-studio:corpus:a34:sld">
      <zz:slideLevel xmlns:zz="http://pptx-studio.example/ns/a34"/>
    </p:ext>
  </p:extLst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a34 extLst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