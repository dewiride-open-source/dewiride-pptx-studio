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 type="screen16x9"/>
  <p:notesSz cx="6858000" cy="9144000"/>
  <p:defaultTextStyle>
    <a:defPPr>
      <a:defRPr>
        <a:latin typeface="+mn-lt"/>
      </a:defRPr>
    </a:defPPr>
    <a:lvl1pPr>
      <a:defRPr sz="2200">
        <a:solidFill>
          <a:schemeClr val="accent5"/>
        </a:solidFill>
      </a:defRPr>
    </a:lvl1pPr>
    <a:lvl2pPr marL="457200">
      <a:defRPr sz="1600">
        <a:solidFill>
          <a:schemeClr val="accent5"/>
        </a:solidFill>
      </a:defRPr>
    </a:lvl2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asca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457200" y="1188720"/>
            <a:ext cx="11277600" cy="5181600"/>
          </a:xfrm>
        </p:spPr>
        <p:txBody>
          <a:bodyPr/>
          <a:lstStyle>
            <a:lvl2pPr>
              <a:defRPr sz="2100">
                <a:solidFill>
                  <a:schemeClr val="accent1"/>
                </a:solidFill>
              </a:defRPr>
            </a:lvl2pPr>
          </a:lstStyle>
          <a:p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lain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097280"/>
            <a:ext cx="11277600" cy="5303520"/>
          </a:xfrm>
        </p:spPr>
        <p:txBody>
          <a:bodyPr/>
          <a:lstStyle>
            <a:lvl7pPr>
              <a:defRPr sz="1900">
                <a:solidFill>
                  <a:schemeClr val="accent3"/>
                </a:solidFill>
              </a:defRPr>
            </a:lvl7pPr>
          </a:lstStyle>
          <a:p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>
        <a:defRPr sz="2400">
          <a:solidFill>
            <a:schemeClr val="tx1"/>
          </a:solidFill>
          <a:latin typeface="+mj-lt"/>
        </a:defRPr>
      </a:lvl1pPr>
    </p:titleStyle>
    <p:bodyStyle>
      <a:lvl1pPr marL="0" indent="0">
        <a:defRPr sz="2000">
          <a:solidFill>
            <a:schemeClr val="tx1"/>
          </a:solidFill>
          <a:latin typeface="+mn-lt"/>
        </a:defRPr>
      </a:lvl1pPr>
      <a:lvl2pPr marL="342900" indent="-342900">
        <a:defRPr sz="1800">
          <a:solidFill>
            <a:schemeClr val="tx1"/>
          </a:solidFill>
          <a:latin typeface="+mn-lt"/>
        </a:defRPr>
      </a:lvl2pPr>
      <a:lvl3pPr marL="685800" indent="-342900">
        <a:defRPr sz="1700">
          <a:solidFill>
            <a:schemeClr val="tx1"/>
          </a:solidFill>
          <a:latin typeface="+mn-lt"/>
        </a:defRPr>
      </a:lvl3pPr>
      <a:lvl4pPr marL="1028700" indent="-342900">
        <a:defRPr sz="1600">
          <a:solidFill>
            <a:schemeClr val="tx1"/>
          </a:solidFill>
          <a:latin typeface="+mn-lt"/>
        </a:defRPr>
      </a:lvl4pPr>
      <a:lvl5pPr marL="1371600" indent="-342900">
        <a:defRPr sz="1500">
          <a:solidFill>
            <a:schemeClr val="tx1"/>
          </a:solidFill>
          <a:latin typeface="+mn-lt"/>
        </a:defRPr>
      </a:lvl5pPr>
      <a:lvl6pPr marL="1714500" indent="-342900">
        <a:defRPr sz="1400">
          <a:solidFill>
            <a:schemeClr val="tx1"/>
          </a:solidFill>
          <a:latin typeface="+mn-lt"/>
        </a:defRPr>
      </a:lvl6pPr>
      <a:lvl7pPr marL="2057400" indent="-342900">
        <a:defRPr sz="1300">
          <a:solidFill>
            <a:schemeClr val="tx1"/>
          </a:solidFill>
          <a:latin typeface="+mn-lt"/>
        </a:defRPr>
      </a:lvl7pPr>
      <a:lvl8pPr marL="2400300" indent="-342900">
        <a:defRPr sz="1200">
          <a:solidFill>
            <a:schemeClr val="tx1"/>
          </a:solidFill>
          <a:latin typeface="+mn-lt"/>
        </a:defRPr>
      </a:lvl8pPr>
      <a:lvl9pPr marL="2743200" indent="-342900">
        <a:defRPr sz="1100">
          <a:solidFill>
            <a:schemeClr val="tx1"/>
          </a:solidFill>
          <a:latin typeface="+mn-lt"/>
        </a:defRPr>
      </a:lvl9pPr>
    </p:bodyStyle>
    <p:otherStyle>
      <a:lvl1pPr>
        <a:defRPr sz="1800">
          <a:solidFill>
            <a:schemeClr val="tx1"/>
          </a:solidFill>
          <a:latin typeface="+mn-lt"/>
        </a:defRPr>
      </a:lvl1pPr>
      <a:lvl2pPr>
        <a:defRPr sz="1800">
          <a:solidFill>
            <a:schemeClr val="tx1"/>
          </a:solidFill>
          <a:latin typeface="+mn-lt"/>
        </a:defRPr>
      </a:lvl2pPr>
      <a:lvl3pPr>
        <a:defRPr sz="1800">
          <a:solidFill>
            <a:schemeClr val="tx1"/>
          </a:solidFill>
          <a:latin typeface="+mn-lt"/>
        </a:defRPr>
      </a:lvl3pPr>
      <a:lvl4pPr>
        <a:defRPr sz="1800">
          <a:solidFill>
            <a:schemeClr val="tx1"/>
          </a:solidFill>
          <a:latin typeface="+mn-lt"/>
        </a:defRPr>
      </a:lvl4pPr>
      <a:lvl5pPr>
        <a:defRPr sz="1800">
          <a:solidFill>
            <a:schemeClr val="tx1"/>
          </a:solidFill>
          <a:latin typeface="+mn-lt"/>
        </a:defRPr>
      </a:lvl5pPr>
      <a:lvl6pPr>
        <a:defRPr sz="1800">
          <a:solidFill>
            <a:schemeClr val="tx1"/>
          </a:solidFill>
          <a:latin typeface="+mn-lt"/>
        </a:defRPr>
      </a:lvl6pPr>
      <a:lvl7pPr>
        <a:defRPr sz="1800">
          <a:solidFill>
            <a:schemeClr val="tx1"/>
          </a:solidFill>
          <a:latin typeface="+mn-lt"/>
        </a:defRPr>
      </a:lvl7pPr>
      <a:lvl8pPr>
        <a:defRPr sz="1800">
          <a:solidFill>
            <a:schemeClr val="tx1"/>
          </a:solidFill>
          <a:latin typeface="+mn-lt"/>
        </a:defRPr>
      </a:lvl8pPr>
      <a:lvl9pPr>
        <a:defRPr sz="18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a07 — six sources, nine levels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3pPr>
              <a:defRPr sz="2000">
                <a:solidFill>
                  <a:schemeClr val="accent2"/>
                </a:solidFill>
              </a:defRPr>
            </a:lvl3pPr>
          </a:lstStyle>
          <a:p>
            <a:pPr/>
            <a:r>
              <a:rPr lang="en-GB" dirty="0"/>
              <a:t>6 · master p:bodyStyle/lvl1pPr — 20pt tx1</a:t>
            </a:r>
          </a:p>
          <a:p>
            <a:pPr lvl="1"/>
            <a:r>
              <a:rPr lang="en-GB" dirty="0"/>
              <a:t>4 · layout placeholder a:lstStyle/lvl2pPr — 21pt accent1</a:t>
            </a:r>
          </a:p>
          <a:p>
            <a:pPr lvl="2"/>
            <a:r>
              <a:rPr lang="en-GB" dirty="0"/>
              <a:t>3 · shape a:lstStyle/lvl3pPr — 20pt accent2</a:t>
            </a:r>
          </a:p>
          <a:p>
            <a:pPr lvl="3">
              <a:defRPr sz="1800">
                <a:solidFill>
                  <a:schemeClr val="accent4"/>
                </a:solidFill>
              </a:defRPr>
            </a:pPr>
            <a:r>
              <a:rPr lang="en-GB" dirty="0"/>
              <a:t>2 · paragraph a:pPr/a:defRPr — 18pt accent4</a:t>
            </a:r>
          </a:p>
          <a:p>
            <a:pPr lvl="4"/>
            <a:r>
              <a:rPr lang="en-GB" sz="1700" dirty="0">
                <a:solidFill>
                  <a:schemeClr val="accent5"/>
                </a:solidFill>
              </a:rPr>
              <a:t>1 · run a:rPr — 17pt accent5</a:t>
            </a:r>
          </a:p>
          <a:p>
            <a:pPr lvl="5"/>
            <a:r>
              <a:rPr lang="en-GB" dirty="0"/>
              <a:t>6 · master p:bodyStyle/lvl6pPr — 14pt tx1</a:t>
            </a:r>
          </a:p>
          <a:p>
            <a:pPr lvl="6"/>
            <a:r>
              <a:rPr lang="en-GB" dirty="0"/>
              <a:t>5 · master placeholder a:lstStyle/lvl7pPr — 19pt accent3</a:t>
            </a:r>
          </a:p>
          <a:p>
            <a:pPr lvl="7"/>
            <a:r>
              <a:rPr lang="en-GB" dirty="0"/>
              <a:t>6 · master p:bodyStyle/lvl8pPr — 12pt tx1</a:t>
            </a:r>
          </a:p>
          <a:p>
            <a:pPr lvl="8"/>
            <a:r>
              <a:rPr lang="en-GB" dirty="0"/>
              <a:t>9 · theme a:fontScheme via +mn-lt, size from lvl9pPr — 11pt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a07 — the sources placeholders never see</a:t>
            </a:r>
          </a:p>
        </p:txBody>
      </p:sp>
      <p:sp>
        <p:nvSpPr>
          <p:cNvPr id="10" name="7 · p:defaultTextStyle lvl1pPr"/>
          <p:cNvSpPr/>
          <p:nvPr/>
        </p:nvSpPr>
        <p:spPr>
          <a:xfrm>
            <a:off x="502920" y="1234440"/>
            <a:ext cx="36677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/>
              <a:t>A plain text box at level 1.</a:t>
            </a:r>
          </a:p>
          <a:p>
            <a:r>
              <a:rPr/>
              <a:t>22pt accent5 comes from p:defaultTextStyle, which a placeholder ignores.</a:t>
            </a:r>
          </a:p>
        </p:txBody>
      </p:sp>
      <p:sp>
        <p:nvSpPr>
          <p:cNvPr id="11" name="8 · theme a:txDef lvl3pPr"/>
          <p:cNvSpPr/>
          <p:nvPr/>
        </p:nvSpPr>
        <p:spPr>
          <a:xfrm>
            <a:off x="4262120" y="1234440"/>
            <a:ext cx="36677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/>
              <a:t>A plain text box at level 3.</a:t>
            </a:r>
          </a:p>
          <a:p>
            <a:pPr lvl="2"/>
            <a:r>
              <a:rPr lang="en-GB"/>
              <a:t>20pt accent6 comes from the theme objectDefaults, because p:defaultTextStyle stops at level 2.</a:t>
            </a:r>
          </a:p>
        </p:txBody>
      </p:sp>
      <p:sp>
        <p:nvSpPr>
          <p:cNvPr id="12" name="9 and 10 · fontScheme, then the schema"/>
          <p:cNvSpPr/>
          <p:nvPr/>
        </p:nvSpPr>
        <p:spPr>
          <a:xfrm>
            <a:off x="8021320" y="1234440"/>
            <a:ext cx="3667760" cy="50901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/>
              <a:t>Nothing here states a typeface, a weight or an alignment.</a:t>
            </a:r>
          </a:p>
          <a:p>
            <a:r>
              <a:rPr/>
              <a:t>The face is +mn-lt from the theme; b=0 and algn=l are the schema.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77600" cy="700088"/>
          </a:xfrm>
        </p:spPr>
        <p:txBody>
          <a:bodyPr/>
          <a:lstStyle/>
          <a:p>
            <a:r>
              <a:rPr lang="en-GB" dirty="0"/>
              <a:t>a07 — ST_Percentage, both forms</a:t>
            </a:r>
          </a:p>
        </p:txBody>
      </p:sp>
      <p:sp>
        <p:nvSpPr>
          <p:cNvPr id="10" name="lnSpc as an integer"/>
          <p:cNvSpPr/>
          <p:nvPr/>
        </p:nvSpPr>
        <p:spPr>
          <a:xfrm>
            <a:off x="502920" y="12344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/>
              <a:t>lnSpc val="150000" — line 1 of three</a:t>
            </a:r>
          </a:p>
          <a:p>
            <a:pPr>
              <a:lnSpc>
                <a:spcPct val="150000"/>
              </a:lnSpc>
            </a:pPr>
            <a:r>
              <a:rPr lang="en-GB"/>
              <a:t>line 2, spaced 150% the integer way</a:t>
            </a:r>
          </a:p>
          <a:p>
            <a:pPr>
              <a:lnSpc>
                <a:spcPct val="150000"/>
              </a:lnSpc>
            </a:pPr>
            <a:r>
              <a:rPr lang="en-GB"/>
              <a:t>line 3</a:t>
            </a:r>
          </a:p>
        </p:txBody>
      </p:sp>
      <p:sp>
        <p:nvSpPr>
          <p:cNvPr id="11" name="lnSpc as a percent string"/>
          <p:cNvSpPr/>
          <p:nvPr/>
        </p:nvSpPr>
        <p:spPr>
          <a:xfrm>
            <a:off x="4262120" y="12344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/>
              <a:t>lnSpc val="150%" — line 1 of three</a:t>
            </a:r>
          </a:p>
          <a:p>
            <a:pPr>
              <a:lnSpc>
                <a:spcPct val="150%"/>
              </a:lnSpc>
            </a:pPr>
            <a:r>
              <a:rPr lang="en-GB"/>
              <a:t>line 2, spaced 150% the string way</a:t>
            </a:r>
          </a:p>
          <a:p>
            <a:pPr>
              <a:lnSpc>
                <a:spcPct val="150%"/>
              </a:lnSpc>
              <a:spcBef>
                <a:spcPct val="50%"/>
              </a:spcBef>
            </a:pPr>
            <a:r>
              <a:rPr lang="en-GB"/>
              <a:t>line 3, with spcBef val="50%"</a:t>
            </a:r>
          </a:p>
        </p:txBody>
      </p:sp>
      <p:sp>
        <p:nvSpPr>
          <p:cNvPr id="12" name="spcBef and spcAft in points"/>
          <p:cNvSpPr/>
          <p:nvPr/>
        </p:nvSpPr>
        <p:spPr>
          <a:xfrm>
            <a:off x="8021320" y="12344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/>
              <a:t>spcPts is hundredths of a point, not EMU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GB"/>
              <a:t>12pt before, 6pt after</a:t>
            </a:r>
          </a:p>
          <a:p>
            <a:r>
              <a:rPr/>
              <a:t>and the paragraph after it</a:t>
            </a:r>
          </a:p>
        </p:txBody>
      </p:sp>
      <p:sp>
        <p:nvSpPr>
          <p:cNvPr id="13" name="marL and indent stated"/>
          <p:cNvSpPr/>
          <p:nvPr/>
        </p:nvSpPr>
        <p:spPr>
          <a:xfrm>
            <a:off x="502920" y="38252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/>
              <a:t>marL 347663, indent -342900 — stated</a:t>
            </a:r>
          </a:p>
          <a:p>
            <a:pPr marL="347663" indent="-342900"/>
            <a:r>
              <a:rPr lang="en-GB"/>
              <a:t>a hanging indent, written down</a:t>
            </a:r>
          </a:p>
        </p:txBody>
      </p:sp>
      <p:sp>
        <p:nvSpPr>
          <p:cNvPr id="14" name="marL and indent absent"/>
          <p:cNvSpPr/>
          <p:nvPr/>
        </p:nvSpPr>
        <p:spPr>
          <a:xfrm>
            <a:off x="4262120" y="38252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r>
              <a:rPr/>
              <a:t>no marL, no indent — must not look like the box to its left</a:t>
            </a:r>
          </a:p>
          <a:p>
            <a:r>
              <a:rPr lang="en-GB"/>
              <a:t>flush left, because nothing set a margin</a:t>
            </a:r>
          </a:p>
        </p:txBody>
      </p:sp>
      <p:sp>
        <p:nvSpPr>
          <p:cNvPr id="15" name="spcFirstLastPara defaults false"/>
          <p:cNvSpPr/>
          <p:nvPr/>
        </p:nvSpPr>
        <p:spPr>
          <a:xfrm>
            <a:off x="8021320" y="3825240"/>
            <a:ext cx="3667760" cy="249936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>
            <a:normAutofit/>
          </a:bodyPr>
          <a:lstStyle/>
          <a:p>
            <a:pPr>
              <a:spcBef>
                <a:spcPts val="2400"/>
              </a:spcBef>
            </a:pPr>
            <a:r>
              <a:rPr lang="en-GB"/>
              <a:t>24pt spcBef on the first paragraph — discarded</a:t>
            </a:r>
          </a:p>
          <a:p>
            <a:r>
              <a:rPr/>
              <a:t>so this box starts flush with its top inset</a:t>
            </a:r>
          </a:p>
          <a:p>
            <a:pPr>
              <a:spcAft>
                <a:spcPts val="2400"/>
              </a:spcAft>
            </a:pPr>
            <a:r>
              <a:rPr lang="en-GB"/>
              <a:t>24pt spcAft on the last — discarded too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X Studio Corpus">
  <a:themeElements>
    <a:clrScheme name="PPTX Studio Corpu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X Studio Corpus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PPTX Studio Corpu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</a:schemeClr>
            </a:gs>
            <a:gs pos="100000">
              <a:schemeClr val="phClr">
                <a:shade val="8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40000"/>
              </a:schemeClr>
            </a:gs>
            <a:gs pos="100000">
              <a:schemeClr val="phClr">
                <a:shade val="6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txDef>
      <a:spPr/>
      <a:bodyPr/>
      <a:lstStyle>
        <a:lvl3pPr>
          <a:defRPr sz="2000">
            <a:solidFill>
              <a:schemeClr val="accent6"/>
            </a:solidFill>
          </a:defRPr>
        </a:lvl3pPr>
      </a:lst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PPTX Studio corpus generator</Application>
  <Slides>3</Slides>
  <ScaleCrop>false</ScaleCrop>
  <AppVersion>0.0000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 Studio corpus: a07 text cascade</dc:title>
  <dc:creator>PPTX Studio corpus generator</dc:creator>
  <cp:lastModifiedBy>PPTX Studio corpus generator</cp:lastModifiedBy>
  <dcterms:created xsi:type="dcterms:W3CDTF">2026-08-27T00:00:00Z</dcterms:created>
  <dcterms:modified xsi:type="dcterms:W3CDTF">2026-08-27T00:00:00Z</dcterms:modified>
</cp:coreProperties>
</file>