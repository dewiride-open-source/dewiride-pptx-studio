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a04 — a:effectLst, one effect at a time and then all eight</a:t>
            </a:r>
          </a:p>
        </p:txBody>
      </p:sp>
      <p:sp>
        <p:nvSpPr>
          <p:cNvPr id="10" name="blur"/>
          <p:cNvSpPr/>
          <p:nvPr/>
        </p:nvSpPr>
        <p:spPr>
          <a:xfrm>
            <a:off x="502920" y="1234440"/>
            <a:ext cx="2164080" cy="24993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tx1">
                <a:alpha val="35000"/>
              </a:schemeClr>
            </a:solidFill>
          </a:ln>
          <a:effectLst>
            <a:blur rad="63500" grow="1"/>
          </a:effectLst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blur</a:t>
            </a:r>
          </a:p>
        </p:txBody>
      </p:sp>
      <p:sp>
        <p:nvSpPr>
          <p:cNvPr id="11" name="fillOverlay"/>
          <p:cNvSpPr/>
          <p:nvPr/>
        </p:nvSpPr>
        <p:spPr>
          <a:xfrm>
            <a:off x="2758440" y="1234440"/>
            <a:ext cx="2164080" cy="24993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tx1">
                <a:alpha val="35000"/>
              </a:schemeClr>
            </a:solidFill>
          </a:ln>
          <a:effectLst>
            <a:fillOverlay blend="over">
              <a:solidFill>
                <a:srgbClr val="F1C40F">
                  <a:alpha val="40000"/>
                </a:srgbClr>
              </a:solidFill>
            </a:fillOverlay>
          </a:effectLst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fillOverlay</a:t>
            </a:r>
          </a:p>
        </p:txBody>
      </p:sp>
      <p:sp>
        <p:nvSpPr>
          <p:cNvPr id="12" name="glow"/>
          <p:cNvSpPr/>
          <p:nvPr/>
        </p:nvSpPr>
        <p:spPr>
          <a:xfrm>
            <a:off x="5013960" y="1234440"/>
            <a:ext cx="2164080" cy="24993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tx1">
                <a:alpha val="35000"/>
              </a:schemeClr>
            </a:solidFill>
          </a:ln>
          <a:effectLst>
            <a:glow rad="101600">
              <a:schemeClr val="accent4">
                <a:alpha val="70000"/>
              </a:schemeClr>
            </a:glow>
          </a:effectLst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glow</a:t>
            </a:r>
          </a:p>
        </p:txBody>
      </p:sp>
      <p:sp>
        <p:nvSpPr>
          <p:cNvPr id="13" name="innerShdw"/>
          <p:cNvSpPr/>
          <p:nvPr/>
        </p:nvSpPr>
        <p:spPr>
          <a:xfrm>
            <a:off x="7269480" y="1234440"/>
            <a:ext cx="2164080" cy="24993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tx1">
                <a:alpha val="35000"/>
              </a:schemeClr>
            </a:solidFill>
          </a:ln>
          <a:effectLst>
            <a:innerShdw blurRad="63500" dist="50800" dir="2700000">
              <a:srgbClr val="000000">
                <a:alpha val="45000"/>
              </a:srgbClr>
            </a:innerShdw>
          </a:effectLst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innerShdw</a:t>
            </a:r>
          </a:p>
        </p:txBody>
      </p:sp>
      <p:sp>
        <p:nvSpPr>
          <p:cNvPr id="14" name="outerShdw"/>
          <p:cNvSpPr/>
          <p:nvPr/>
        </p:nvSpPr>
        <p:spPr>
          <a:xfrm>
            <a:off x="9525000" y="1234440"/>
            <a:ext cx="2164080" cy="24993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tx1">
                <a:alpha val="35000"/>
              </a:schemeClr>
            </a:solidFill>
          </a:ln>
          <a:effectLst>
            <a:outerShdw blurRad="57150" dist="38100" dir="5400000" sx="102000" sy="102000" algn="ctr" rotWithShape="0">
              <a:srgbClr val="000000">
                <a:alpha val="45000"/>
              </a:srgbClr>
            </a:outerShdw>
          </a:effectLst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outerShdw</a:t>
            </a:r>
          </a:p>
        </p:txBody>
      </p:sp>
      <p:sp>
        <p:nvSpPr>
          <p:cNvPr id="15" name="prstShdw"/>
          <p:cNvSpPr/>
          <p:nvPr/>
        </p:nvSpPr>
        <p:spPr>
          <a:xfrm>
            <a:off x="502920" y="3825240"/>
            <a:ext cx="2164080" cy="24993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tx1">
                <a:alpha val="35000"/>
              </a:schemeClr>
            </a:solidFill>
          </a:ln>
          <a:effectLst>
            <a:prstShdw prst="shdw13" dist="38100" dir="2700000">
              <a:srgbClr val="000000">
                <a:alpha val="45000"/>
              </a:srgbClr>
            </a:prstShdw>
          </a:effectLst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prstShdw</a:t>
            </a:r>
          </a:p>
        </p:txBody>
      </p:sp>
      <p:sp>
        <p:nvSpPr>
          <p:cNvPr id="16" name="reflection"/>
          <p:cNvSpPr/>
          <p:nvPr/>
        </p:nvSpPr>
        <p:spPr>
          <a:xfrm>
            <a:off x="2758440" y="3825240"/>
            <a:ext cx="2164080" cy="24993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tx1">
                <a:alpha val="35000"/>
              </a:schemeClr>
            </a:solidFill>
          </a:ln>
          <a:effectLst>
            <a:reflection blurRad="6350" stA="52000" stPos="0" endA="300" endPos="35000" dist="0" dir="5400000" fadeDir="5400000" sx="100000" sy="-100000" algn="bl" rotWithShape="0"/>
          </a:effectLst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reflection</a:t>
            </a:r>
          </a:p>
        </p:txBody>
      </p:sp>
      <p:sp>
        <p:nvSpPr>
          <p:cNvPr id="17" name="softEdge"/>
          <p:cNvSpPr/>
          <p:nvPr/>
        </p:nvSpPr>
        <p:spPr>
          <a:xfrm>
            <a:off x="5013960" y="3825240"/>
            <a:ext cx="2164080" cy="24993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tx1">
                <a:alpha val="35000"/>
              </a:schemeClr>
            </a:solidFill>
          </a:ln>
          <a:effectLst>
            <a:softEdge rad="63500"/>
          </a:effectLst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softEdge</a:t>
            </a:r>
          </a:p>
        </p:txBody>
      </p:sp>
      <p:sp>
        <p:nvSpPr>
          <p:cNvPr id="18" name="glow + outerShdw + reflection + softEdge"/>
          <p:cNvSpPr/>
          <p:nvPr/>
        </p:nvSpPr>
        <p:spPr>
          <a:xfrm>
            <a:off x="7269480" y="3825240"/>
            <a:ext cx="2164080" cy="24993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tx1">
                <a:alpha val="35000"/>
              </a:schemeClr>
            </a:solidFill>
          </a:ln>
          <a:effectLst>
            <a:glow rad="101600">
              <a:schemeClr val="accent4">
                <a:alpha val="70000"/>
              </a:schemeClr>
            </a:glow>
            <a:outerShdw blurRad="57150" dist="38100" dir="5400000" sx="102000" sy="102000" algn="ctr" rotWithShape="0">
              <a:srgbClr val="000000">
                <a:alpha val="45000"/>
              </a:srgbClr>
            </a:outerShdw>
            <a:reflection blurRad="6350" stA="52000" stPos="0" endA="300" endPos="35000" dist="0" dir="5400000" fadeDir="5400000" sx="100000" sy="-100000" algn="bl" rotWithShape="0"/>
            <a:softEdge rad="63500"/>
          </a:effectLst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glow + outerShdw + reflection + softEdge</a:t>
            </a:r>
          </a:p>
        </p:txBody>
      </p:sp>
      <p:sp>
        <p:nvSpPr>
          <p:cNvPr id="19" name="all eight, in sequence order"/>
          <p:cNvSpPr/>
          <p:nvPr/>
        </p:nvSpPr>
        <p:spPr>
          <a:xfrm>
            <a:off x="9525000" y="3825240"/>
            <a:ext cx="2164080" cy="24993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tx1">
                <a:alpha val="35000"/>
              </a:schemeClr>
            </a:solidFill>
          </a:ln>
          <a:effectLst>
            <a:blur rad="63500" grow="1"/>
            <a:fillOverlay blend="over">
              <a:solidFill>
                <a:srgbClr val="F1C40F">
                  <a:alpha val="40000"/>
                </a:srgbClr>
              </a:solidFill>
            </a:fillOverlay>
            <a:glow rad="101600">
              <a:schemeClr val="accent4">
                <a:alpha val="70000"/>
              </a:schemeClr>
            </a:glow>
            <a:innerShdw blurRad="63500" dist="50800" dir="2700000">
              <a:srgbClr val="000000">
                <a:alpha val="45000"/>
              </a:srgbClr>
            </a:innerShdw>
            <a:outerShdw blurRad="57150" dist="38100" dir="5400000" sx="102000" sy="102000" algn="ctr" rotWithShape="0">
              <a:srgbClr val="000000">
                <a:alpha val="45000"/>
              </a:srgbClr>
            </a:outerShdw>
            <a:prstShdw prst="shdw13" dist="38100" dir="2700000">
              <a:srgbClr val="000000">
                <a:alpha val="45000"/>
              </a:srgbClr>
            </a:prstShdw>
            <a:reflection blurRad="6350" stA="52000" stPos="0" endA="300" endPos="35000" dist="0" dir="5400000" fadeDir="5400000" sx="100000" sy="-100000" algn="bl" rotWithShape="0"/>
            <a:softEdge rad="63500"/>
          </a:effectLst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all eight, in sequence order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a04 — a:scene3d and a:sp3d (phase: preserve)</a:t>
            </a:r>
          </a:p>
        </p:txBody>
      </p:sp>
      <p:sp>
        <p:nvSpPr>
          <p:cNvPr id="40" name="scene3d orthographicFront"/>
          <p:cNvSpPr/>
          <p:nvPr/>
        </p:nvSpPr>
        <p:spPr>
          <a:xfrm>
            <a:off x="502920" y="1234440"/>
            <a:ext cx="2727960" cy="509016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tx1">
                <a:alpha val="35000"/>
              </a:schemeClr>
            </a:solidFill>
          </a:ln>
          <a:scene3d>
            <a:camera prst="orthographicFront"/>
            <a:lightRig rig="threePt" dir="t"/>
          </a:scene3d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scene3d orthographicFront</a:t>
            </a:r>
          </a:p>
        </p:txBody>
      </p:sp>
      <p:sp>
        <p:nvSpPr>
          <p:cNvPr id="41" name="scene3d perspective + camera rot"/>
          <p:cNvSpPr/>
          <p:nvPr/>
        </p:nvSpPr>
        <p:spPr>
          <a:xfrm>
            <a:off x="3322320" y="1234440"/>
            <a:ext cx="2727960" cy="509016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tx1">
                <a:alpha val="35000"/>
              </a:schemeClr>
            </a:solidFill>
          </a:ln>
          <a:scene3d>
            <a:camera prst="perspectiveFront">
              <a:rot lat="1200000" lon="20400000" rev="0"/>
            </a:camera>
            <a:lightRig rig="balanced" dir="tl">
              <a:rot lat="0" lon="0" rev="1200000"/>
            </a:lightRig>
          </a:scene3d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scene3d perspective + camera rot</a:t>
            </a:r>
          </a:p>
        </p:txBody>
      </p:sp>
      <p:sp>
        <p:nvSpPr>
          <p:cNvPr id="42" name="scene3d + backdrop"/>
          <p:cNvSpPr/>
          <p:nvPr/>
        </p:nvSpPr>
        <p:spPr>
          <a:xfrm>
            <a:off x="6141720" y="1234440"/>
            <a:ext cx="2727960" cy="509016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tx1">
                <a:alpha val="35000"/>
              </a:schemeClr>
            </a:solidFill>
          </a:ln>
          <a:scene3d>
            <a:camera prst="isometricOffAxis1Left"/>
            <a:lightRig rig="soft" dir="tr"/>
            <a:backdrop>
              <a:anchor x="0" y="0" z="0"/>
              <a:norm dx="0" dy="0" dz="100000"/>
              <a:up dx="0" dy="100000" dz="0"/>
            </a:backdrop>
          </a:scene3d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scene3d + backdrop</a:t>
            </a:r>
          </a:p>
        </p:txBody>
      </p:sp>
      <p:sp>
        <p:nvSpPr>
          <p:cNvPr id="43" name="scene3d + sp3d bevel and extrusion"/>
          <p:cNvSpPr/>
          <p:nvPr/>
        </p:nvSpPr>
        <p:spPr>
          <a:xfrm>
            <a:off x="8961120" y="1234440"/>
            <a:ext cx="2727960" cy="509016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tx1">
                <a:alpha val="35000"/>
              </a:schemeClr>
            </a:solidFill>
          </a:ln>
          <a:scene3d>
            <a:camera prst="orthographicFront"/>
            <a:lightRig rig="threePt" dir="t"/>
          </a:scene3d>
          <a:sp3d extrusionH="76200" contourW="12700" prstMaterial="metal">
            <a:bevelT w="63500" h="25400" prst="circle"/>
            <a:bevelB w="50800" h="19050" prst="angle"/>
            <a:extrusionClr>
              <a:schemeClr val="accent3">
                <a:shade val="60000"/>
              </a:schemeClr>
            </a:extrusionClr>
            <a:contourClr>
              <a:schemeClr val="accent3">
                <a:shade val="40000"/>
              </a:schemeClr>
            </a:contourClr>
          </a:sp3d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scene3d + sp3d bevel and extrusion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a04 — a:effectDag, the half of the effect choice PowerPoint never writes</a:t>
            </a:r>
          </a:p>
        </p:txBody>
      </p:sp>
      <p:sp>
        <p:nvSpPr>
          <p:cNvPr id="70" name="effectDag tree"/>
          <p:cNvSpPr/>
          <p:nvPr/>
        </p:nvSpPr>
        <p:spPr>
          <a:xfrm>
            <a:off x="502920" y="1234440"/>
            <a:ext cx="5547360" cy="5090160"/>
          </a:xfrm>
          <a:prstGeom prst="roundRect">
            <a:avLst/>
          </a:prstGeom>
          <a:solidFill>
            <a:schemeClr val="accent2"/>
          </a:solidFill>
          <a:ln w="6350">
            <a:solidFill>
              <a:schemeClr val="tx1">
                <a:alpha val="35000"/>
              </a:schemeClr>
            </a:solidFill>
          </a:ln>
          <a:effectDag name="probe" type="tree">
            <a:cont name="branch" type="sib">
              <a:outerShdw blurRad="57150" dist="38100" dir="5400000" sx="102000" sy="102000" algn="ctr" rotWithShape="0">
                <a:srgbClr val="000000">
                  <a:alpha val="45000"/>
                </a:srgbClr>
              </a:outerShdw>
              <a:glow rad="101600">
                <a:schemeClr val="accent4">
                  <a:alpha val="70000"/>
                </a:schemeClr>
              </a:glow>
            </a:cont>
            <a:softEdge rad="63500"/>
          </a:effectDag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effectDag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a04 effects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