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baseline="0"/>
            </a:pPr>
            <a:r>
              <a:rPr lang="en-GB"/>
              <a:t>Clustered bar, and a series with holes in 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2.2</c:v>
                </c:pt>
                <c:pt idx="5">
                  <c:v>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3.9</c:v>
                </c:pt>
                <c:pt idx="5">
                  <c:v>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3, sparse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2.0</c:v>
                </c:pt>
                <c:pt idx="1">
                  <c:v>2.0</c:v>
                </c:pt>
                <c:pt idx="3">
                  <c:v>3.0</c:v>
                </c:pt>
                <c:pt idx="5">
                  <c:v>5.0</c:v>
                </c:pt>
              </c:numCache>
            </c:numRef>
          </c:val>
        </c:ser>
        <c:gapWidth val="219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111111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baseline="0"/>
            </a:pPr>
            <a:r>
              <a:rPr lang="en-GB"/>
              <a:t>A bar and a line, on two value axes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145</c:v>
                </c:pt>
                <c:pt idx="2">
                  <c:v>132</c:v>
                </c:pt>
                <c:pt idx="3">
                  <c:v>168</c:v>
                </c:pt>
                <c:pt idx="4">
                  <c:v>151</c:v>
                </c:pt>
                <c:pt idx="5">
                  <c:v>190</c:v>
                </c:pt>
              </c:numCache>
            </c:numRef>
          </c:val>
        </c:ser>
        <c:gapWidth val="150"/>
        <c:axId val="111111111"/>
        <c:axId val="22222222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Rate %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6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0.0%</c:formatCode>
                <c:ptCount val="6"/>
                <c:pt idx="0">
                  <c:v>3.1</c:v>
                </c:pt>
                <c:pt idx="1">
                  <c:v>3.4</c:v>
                </c:pt>
                <c:pt idx="2">
                  <c:v>2.9</c:v>
                </c:pt>
                <c:pt idx="3">
                  <c:v>4.1</c:v>
                </c:pt>
                <c:pt idx="4">
                  <c:v>3.8</c:v>
                </c:pt>
                <c:pt idx="5">
                  <c:v>4.6</c:v>
                </c:pt>
              </c:numCache>
            </c:numRef>
          </c:val>
          <c:smooth val="0"/>
        </c:ser>
        <c:marker val="1"/>
        <c:axId val="333333333"/>
        <c:axId val="444444444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1111111"/>
        <c:crosses val="autoZero"/>
        <c:crossBetween val="between"/>
      </c:valAx>
      <c:catAx>
        <c:axId val="33333333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4444444"/>
        <c:crosses val="autoZero"/>
        <c:auto val="1"/>
        <c:lblAlgn val="ctr"/>
        <c:lblOffset val="100"/>
        <c:noMultiLvlLbl val="0"/>
      </c:catAx>
      <c:valAx>
        <c:axId val="4444444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333333333"/>
        <c:crosses val="max"/>
        <c:crossBetween val="between"/>
      </c:valAx>
    </c:plotArea>
    <c:legend>
      <c:legendPos val="b"/>
      <c:overlay val="0"/>
    </c:legend>
    <c:plotVisOnly val="1"/>
    <c:dispBlanksAs val="zero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baseline="0"/>
            </a:pPr>
            <a:r>
              <a:rPr lang="en-GB"/>
              <a:t>Pie, with literal data and an exploded slice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Share</c:v>
          </c:tx>
          <c:dPt>
            <c:idx val="1"/>
            <c:bubble3D val="0"/>
            <c:explosion val="20"/>
            <c:spPr>
              <a:solidFill>
                <a:schemeClr val="accent5"/>
              </a:solidFill>
              <a:ln>
                <a:noFill/>
              </a:ln>
            </c:spPr>
          </c:dPt>
          <c:cat>
            <c:strLit>
              <c:ptCount val="4"/>
              <c:pt idx="0">
                <c:v>North</c:v>
              </c:pt>
              <c:pt idx="1">
                <c:v>South</c:v>
              </c:pt>
              <c:pt idx="2">
                <c:v>East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41</c:v>
              </c:pt>
              <c:pt idx="1">
                <c:v>27</c:v>
              </c:pt>
              <c:pt idx="2">
                <c:v>19</c:v>
              </c:pt>
              <c:pt idx="3">
                <c:v>13</c:v>
              </c:pt>
            </c:numLit>
          </c:val>
        </c:ser>
        <c:firstSliceAng val="90"/>
      </c:pieChart>
    </c:plotArea>
    <c:legend>
      <c:legendPos val="r"/>
      <c:overlay val="0"/>
    </c:legend>
    <c:plotVisOnly val="1"/>
    <c:dispBlanksAs val="gap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baseline="0"/>
            </a:pPr>
            <a:r>
              <a:rPr lang="en-GB"/>
              <a:t>Scatter, with a trendline and error bars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ln w="19050" cap="rnd">
              <a:noFill/>
              <a:round/>
            </a:ln>
          </c:spPr>
          <c:marker>
            <c:symbol val="circle"/>
            <c:size val="5"/>
            <c:spPr>
              <a:solidFill>
                <a:schemeClr val="accent2"/>
              </a:solidFill>
              <a:ln>
                <a:noFill/>
              </a:ln>
            </c:spPr>
          </c:marker>
          <c:trendline>
            <c:name>Linear fit</c:name>
            <c:spPr>
              <a:ln w="19050" cap="rnd">
                <a:solidFill>
                  <a:schemeClr val="accent6"/>
                </a:solidFill>
                <a:prstDash val="sysDot"/>
              </a:ln>
            </c:spPr>
            <c:trendlineType val="linear"/>
            <c:dispRSqr val="1"/>
            <c:dispEq val="1"/>
          </c:trendline>
          <c:errBars>
            <c:errDir val="y"/>
            <c:errBarType val="both"/>
            <c:errValType val="fixedVal"/>
            <c:noEndCap val="0"/>
            <c:val val="0.4"/>
          </c:errBars>
          <c:xVal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3.9</c:v>
                </c:pt>
                <c:pt idx="2">
                  <c:v>6.4</c:v>
                </c:pt>
                <c:pt idx="3">
                  <c:v>7.8</c:v>
                </c:pt>
                <c:pt idx="4">
                  <c:v>10.5</c:v>
                </c:pt>
                <c:pt idx="5">
                  <c:v>11.9</c:v>
                </c:pt>
              </c:numCache>
            </c:numRef>
          </c:yVal>
          <c:smooth val="0"/>
        </c:ser>
        <c:axId val="555555555"/>
        <c:axId val="666666666"/>
      </c:scatterChart>
      <c:valAx>
        <c:axId val="555555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666666666"/>
        <c:crosses val="autoZero"/>
        <c:crossBetween val="between"/>
      </c:valAx>
      <c:valAx>
        <c:axId val="66666666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55555555"/>
        <c:crosses val="autoZero"/>
        <c:crossBetween val="between"/>
      </c:valAx>
    </c:plotArea>
    <c:plotVisOnly val="1"/>
    <c:dispBlanksAs val="gap"/>
  </c:char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/>
    </cs:fontRef>
  </cs:axisTitle>
  <cs:categoryAxis>
    <cs:lnRef idx="0"/>
    <cs:fillRef idx="0"/>
    <cs:effectRef idx="0"/>
    <cs:fontRef idx="minor">
      <a:schemeClr val="tx1"/>
    </cs:fontRef>
  </cs:categoryAxis>
  <cs:chartArea>
    <cs:lnRef idx="0"/>
    <cs:fillRef idx="0"/>
    <cs:effectRef idx="0"/>
    <cs:fontRef idx="minor">
      <a:schemeClr val="tx1"/>
    </cs:fontRef>
  </cs:chartArea>
  <cs:dataLabel>
    <cs:lnRef idx="0"/>
    <cs:fillRef idx="0"/>
    <cs:effectRef idx="0"/>
    <cs:fontRef idx="minor">
      <a:schemeClr val="tx1"/>
    </cs:fontRef>
  </cs:dataLabel>
  <cs:dataLabelCallout>
    <cs:lnRef idx="0"/>
    <cs:fillRef idx="0"/>
    <cs:effectRef idx="0"/>
    <cs:fontRef idx="minor">
      <a:schemeClr val="tx1"/>
    </cs:fontRef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0"/>
    <cs:effectRef idx="0"/>
    <cs:fontRef idx="minor">
      <a:schemeClr val="tx1"/>
    </cs:fontRef>
  </cs:dataPoint3D>
  <cs:dataPointLine>
    <cs:lnRef idx="0"/>
    <cs:fillRef idx="0"/>
    <cs:effectRef idx="0"/>
    <cs:fontRef idx="minor">
      <a:schemeClr val="tx1"/>
    </cs:fontRef>
  </cs:dataPointLine>
  <cs:dataPointMarker>
    <cs:lnRef idx="0"/>
    <cs:fillRef idx="0"/>
    <cs:effectRef idx="0"/>
    <cs:fontRef idx="minor">
      <a:schemeClr val="tx1"/>
    </cs:fontRef>
  </cs:dataPointMarker>
  <cs:dataPointMarkerLayout symbol="circle" size="5"/>
  <cs:dataPointWireframe>
    <cs:lnRef idx="0"/>
    <cs:fillRef idx="0"/>
    <cs:effectRef idx="0"/>
    <cs:fontRef idx="minor">
      <a:schemeClr val="tx1"/>
    </cs:fontRef>
  </cs:dataPointWireframe>
  <cs:dataTable>
    <cs:lnRef idx="0"/>
    <cs:fillRef idx="0"/>
    <cs:effectRef idx="0"/>
    <cs:fontRef idx="minor">
      <a:schemeClr val="tx1"/>
    </cs:fontRef>
  </cs:dataTable>
  <cs:downBar>
    <cs:lnRef idx="0"/>
    <cs:fillRef idx="0"/>
    <cs:effectRef idx="0"/>
    <cs:fontRef idx="minor">
      <a:schemeClr val="tx1"/>
    </cs:fontRef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</cs:gridlineMajor>
  <cs:gridlineMinor>
    <cs:lnRef idx="0"/>
    <cs:fillRef idx="0"/>
    <cs:effectRef idx="0"/>
    <cs:fontRef idx="minor">
      <a:schemeClr val="tx1"/>
    </cs:fontRef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/>
    </cs:fontRef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</cs:seriesAxis>
  <cs:seriesLine>
    <cs:lnRef idx="0"/>
    <cs:fillRef idx="0"/>
    <cs:effectRef idx="0"/>
    <cs:fontRef idx="minor">
      <a:schemeClr val="tx1"/>
    </cs:fontRef>
  </cs:seriesLine>
  <cs:title>
    <cs:lnRef idx="0"/>
    <cs:fillRef idx="0"/>
    <cs:effectRef idx="0"/>
    <cs:fontRef idx="minor">
      <a:schemeClr val="tx1"/>
    </cs:fontRef>
  </cs:title>
  <cs:trendline>
    <cs:lnRef idx="0"/>
    <cs:fillRef idx="0"/>
    <cs:effectRef idx="0"/>
    <cs:fontRef idx="minor">
      <a:schemeClr val="tx1"/>
    </cs:fontRef>
  </cs:trendline>
  <cs:trendlineLabel>
    <cs:lnRef idx="0"/>
    <cs:fillRef idx="0"/>
    <cs:effectRef idx="0"/>
    <cs:fontRef idx="minor">
      <a:schemeClr val="tx1"/>
    </cs:fontRef>
  </cs:trendlineLabel>
  <cs:upBar>
    <cs:lnRef idx="0"/>
    <cs:fillRef idx="0"/>
    <cs:effectRef idx="0"/>
    <cs:fontRef idx="minor">
      <a:schemeClr val="tx1"/>
    </cs:fontRef>
  </cs:upBar>
  <cs:valueAxis>
    <cs:lnRef idx="0"/>
    <cs:fillRef idx="0"/>
    <cs:effectRef idx="0"/>
    <cs:fontRef idx="minor">
      <a:schemeClr val="tx1"/>
    </cs:fontRef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a21 — a clustered bar, and a series with holes in it</a:t>
            </a:r>
          </a:p>
        </p:txBody>
      </p:sp>
      <p:graphicFrame>
        <p:nvGraphicFramePr>
          <p:cNvPr id="10" name="Chart 1"/>
          <p:cNvGraphicFramePr/>
          <p:nvPr/>
        </p:nvGraphicFramePr>
        <p:xfrm>
          <a:off x="914400" y="1600200"/>
          <a:ext cx="10363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a21 — a combo chart on two value axes</a:t>
            </a:r>
          </a:p>
        </p:txBody>
      </p:sp>
      <p:graphicFrame>
        <p:nvGraphicFramePr>
          <p:cNvPr id="10" name="Chart 2"/>
          <p:cNvGraphicFramePr/>
          <p:nvPr/>
        </p:nvGraphicFramePr>
        <p:xfrm>
          <a:off x="914400" y="1600200"/>
          <a:ext cx="10363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a21 — literal data, and a scatter with a fit</a:t>
            </a:r>
          </a:p>
        </p:txBody>
      </p:sp>
      <p:graphicFrame>
        <p:nvGraphicFramePr>
          <p:cNvPr id="10" name="Chart 3"/>
          <p:cNvGraphicFramePr/>
          <p:nvPr/>
        </p:nvGraphicFramePr>
        <p:xfrm>
          <a:off x="685800" y="1600200"/>
          <a:ext cx="5029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4"/>
          <p:cNvGraphicFramePr/>
          <p:nvPr/>
        </p:nvGraphicFramePr>
        <p:xfrm>
          <a:off x="6477000" y="1600200"/>
          <a:ext cx="5029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a21 charts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