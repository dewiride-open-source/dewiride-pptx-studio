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a11 — twelve stored autofit scales</a:t>
            </a:r>
          </a:p>
        </p:txBody>
      </p:sp>
      <p:sp>
        <p:nvSpPr>
          <p:cNvPr id="10" name="100%"/>
          <p:cNvSpPr/>
          <p:nvPr/>
        </p:nvSpPr>
        <p:spPr>
          <a:xfrm>
            <a:off x="502920" y="12344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10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100%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1" name="92.5%"/>
          <p:cNvSpPr/>
          <p:nvPr/>
        </p:nvSpPr>
        <p:spPr>
          <a:xfrm>
            <a:off x="3322320" y="12344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925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92.5%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2" name="85%"/>
          <p:cNvSpPr/>
          <p:nvPr/>
        </p:nvSpPr>
        <p:spPr>
          <a:xfrm>
            <a:off x="6141720" y="12344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85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85%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3" name="77.5%"/>
          <p:cNvSpPr/>
          <p:nvPr/>
        </p:nvSpPr>
        <p:spPr>
          <a:xfrm>
            <a:off x="8961120" y="12344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775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77.5%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4" name="70%"/>
          <p:cNvSpPr/>
          <p:nvPr/>
        </p:nvSpPr>
        <p:spPr>
          <a:xfrm>
            <a:off x="502920" y="29616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7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70%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5" name="65%"/>
          <p:cNvSpPr/>
          <p:nvPr/>
        </p:nvSpPr>
        <p:spPr>
          <a:xfrm>
            <a:off x="3322320" y="29616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65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65%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6" name="60% / -10% lines"/>
          <p:cNvSpPr/>
          <p:nvPr/>
        </p:nvSpPr>
        <p:spPr>
          <a:xfrm>
            <a:off x="6141720" y="29616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60000" lnSpcReduction="1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60% / -10% lines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7" name="55% / -10% lines"/>
          <p:cNvSpPr/>
          <p:nvPr/>
        </p:nvSpPr>
        <p:spPr>
          <a:xfrm>
            <a:off x="8961120" y="29616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55000" lnSpcReduction="1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55% / -10% lines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8" name="50% / -10% lines"/>
          <p:cNvSpPr/>
          <p:nvPr/>
        </p:nvSpPr>
        <p:spPr>
          <a:xfrm>
            <a:off x="502920" y="46888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50000" lnSpcReduction="1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50% / -10% lines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19" name="40% / -20% lines"/>
          <p:cNvSpPr/>
          <p:nvPr/>
        </p:nvSpPr>
        <p:spPr>
          <a:xfrm>
            <a:off x="3322320" y="46888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40000" lnSpcReduction="2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40% / -20% lines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20" name="32% / -20% lines"/>
          <p:cNvSpPr/>
          <p:nvPr/>
        </p:nvSpPr>
        <p:spPr>
          <a:xfrm>
            <a:off x="6141720" y="46888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32000" lnSpcReduction="2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32% / -20% lines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  <p:sp>
        <p:nvSpPr>
          <p:cNvPr id="21" name="25% / -20% lines"/>
          <p:cNvSpPr/>
          <p:nvPr/>
        </p:nvSpPr>
        <p:spPr>
          <a:xfrm>
            <a:off x="8961120" y="4688840"/>
            <a:ext cx="2727960" cy="16357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lIns="45720" tIns="27432" rIns="45720" bIns="27432">
            <a:normAutofit fontScale="25000" lnSpcReduction="20000"/>
          </a:bodyPr>
          <a:lstStyle/>
          <a:p>
            <a:r>
              <a:rPr lang="en-GB" sz="1000" b="1">
                <a:solidFill>
                  <a:schemeClr val="accent1"/>
                </a:solidFill>
              </a:rPr>
              <a:t>25% / -20% lines</a:t>
            </a:r>
          </a:p>
          <a:p>
            <a:r>
              <a:rPr lang="en-GB" sz="18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a11 — the three autofit modes, and overflow</a:t>
            </a:r>
          </a:p>
        </p:txBody>
      </p:sp>
      <p:sp>
        <p:nvSpPr>
          <p:cNvPr id="10" name="noAutofit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GB" sz="1100" b="1">
                <a:solidFill>
                  <a:schemeClr val="accent1"/>
                </a:solidFill>
              </a:rPr>
              <a:t>noAutofit</a:t>
            </a:r>
          </a:p>
          <a:p>
            <a:r>
              <a:rPr lang="en-GB" sz="900" i="1">
                <a:solidFill>
                  <a:schemeClr val="accent3"/>
                </a:solidFill>
              </a:rPr>
              <a:t>the text spills past the bottom edge, and that is legal</a:t>
            </a:r>
          </a:p>
          <a:p>
            <a:r>
              <a:rPr lang="en-GB" sz="16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 Autofit changes what the text measures to, never what the text says. The same sentence at a different scale wraps in a different place.</a:t>
            </a:r>
          </a:p>
        </p:txBody>
      </p:sp>
      <p:sp>
        <p:nvSpPr>
          <p:cNvPr id="11" name="normAutofit, no attributes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 lang="en-GB" sz="1100" b="1">
                <a:solidFill>
                  <a:schemeClr val="accent1"/>
                </a:solidFill>
              </a:rPr>
              <a:t>normAutofit, no attributes</a:t>
            </a:r>
          </a:p>
          <a:p>
            <a:r>
              <a:rPr lang="en-GB" sz="900" i="1">
                <a:solidFill>
                  <a:schemeClr val="accent3"/>
                </a:solidFill>
              </a:rPr>
              <a:t>shrink-to-fit is on, but nothing is stored, so an editor computes it</a:t>
            </a:r>
          </a:p>
          <a:p>
            <a:r>
              <a:rPr lang="en-GB" sz="16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 Autofit changes what the text measures to, never what the text says. The same sentence at a different scale wraps in a different place.</a:t>
            </a:r>
          </a:p>
        </p:txBody>
      </p:sp>
      <p:sp>
        <p:nvSpPr>
          <p:cNvPr id="12" name="spAutoFit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GB" sz="1100" b="1">
                <a:solidFill>
                  <a:schemeClr val="accent1"/>
                </a:solidFill>
              </a:rPr>
              <a:t>spAutoFit</a:t>
            </a:r>
          </a:p>
          <a:p>
            <a:r>
              <a:rPr lang="en-GB" sz="900" i="1">
                <a:solidFill>
                  <a:schemeClr val="accent3"/>
                </a:solidFill>
              </a:rPr>
              <a:t>a:ext/@cy here is a cached result, not an instruction</a:t>
            </a:r>
          </a:p>
          <a:p>
            <a:r>
              <a:rPr lang="en-GB" sz="16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 Autofit changes what the text measures to, never what the text says. The same sentence at a different scale wraps in a different place.</a:t>
            </a:r>
          </a:p>
        </p:txBody>
      </p:sp>
      <p:sp>
        <p:nvSpPr>
          <p:cNvPr id="13" name="vertOverflow overflow"/>
          <p:cNvSpPr/>
          <p:nvPr/>
        </p:nvSpPr>
        <p:spPr>
          <a:xfrm>
            <a:off x="502920" y="38252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Overflow="overflow" wrap="square">
            <a:noAutofit/>
          </a:bodyPr>
          <a:lstStyle/>
          <a:p>
            <a:r>
              <a:rPr lang="en-GB" sz="1100" b="1">
                <a:solidFill>
                  <a:schemeClr val="accent1"/>
                </a:solidFill>
              </a:rPr>
              <a:t>vertOverflow overflow</a:t>
            </a:r>
          </a:p>
          <a:p>
            <a:r>
              <a:rPr lang="en-GB" sz="900" i="1">
                <a:solidFill>
                  <a:schemeClr val="accent3"/>
                </a:solidFill>
              </a:rPr>
              <a:t>the default: draw it anyway</a:t>
            </a:r>
          </a:p>
          <a:p>
            <a:r>
              <a:rPr lang="en-GB" sz="16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 Autofit changes what the text measures to, never what the text says. The same sentence at a different scale wraps in a different place.</a:t>
            </a:r>
          </a:p>
        </p:txBody>
      </p:sp>
      <p:sp>
        <p:nvSpPr>
          <p:cNvPr id="14" name="vertOverflow ellipsis"/>
          <p:cNvSpPr/>
          <p:nvPr/>
        </p:nvSpPr>
        <p:spPr>
          <a:xfrm>
            <a:off x="4262120" y="38252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Overflow="ellipsis" wrap="square">
            <a:noAutofit/>
          </a:bodyPr>
          <a:lstStyle/>
          <a:p>
            <a:r>
              <a:rPr lang="en-GB" sz="1100" b="1">
                <a:solidFill>
                  <a:schemeClr val="accent1"/>
                </a:solidFill>
              </a:rPr>
              <a:t>vertOverflow ellipsis</a:t>
            </a:r>
          </a:p>
          <a:p>
            <a:r>
              <a:rPr lang="en-GB" sz="900" i="1">
                <a:solidFill>
                  <a:schemeClr val="accent3"/>
                </a:solidFill>
              </a:rPr>
              <a:t>truncate the last visible line</a:t>
            </a:r>
          </a:p>
          <a:p>
            <a:r>
              <a:rPr lang="en-GB" sz="16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 Autofit changes what the text measures to, never what the text says. The same sentence at a different scale wraps in a different place.</a:t>
            </a:r>
          </a:p>
        </p:txBody>
      </p:sp>
      <p:sp>
        <p:nvSpPr>
          <p:cNvPr id="15" name="vertOverflow clip"/>
          <p:cNvSpPr/>
          <p:nvPr/>
        </p:nvSpPr>
        <p:spPr>
          <a:xfrm>
            <a:off x="8021320" y="38252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vertOverflow="clip" wrap="square">
            <a:noAutofit/>
          </a:bodyPr>
          <a:lstStyle/>
          <a:p>
            <a:r>
              <a:rPr lang="en-GB" sz="1100" b="1">
                <a:solidFill>
                  <a:schemeClr val="accent1"/>
                </a:solidFill>
              </a:rPr>
              <a:t>vertOverflow clip</a:t>
            </a:r>
          </a:p>
          <a:p>
            <a:r>
              <a:rPr lang="en-GB" sz="900" i="1">
                <a:solidFill>
                  <a:schemeClr val="accent3"/>
                </a:solidFill>
              </a:rPr>
              <a:t>cut at the box edge, mid-glyph if need be</a:t>
            </a:r>
          </a:p>
          <a:p>
            <a:r>
              <a:rPr lang="en-GB" sz="1600">
                <a:solidFill>
                  <a:schemeClr val="tx1"/>
                </a:solidFill>
              </a:rPr>
              <a:t>Autofit changes what the text measures to, never what the text says. The same sentence at a different scale wraps in a different place. Autofit changes what the text measures to, never what the text says. The same sentence at a different scale wraps in a different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a11 — paragraph spacing and empty-paragraph height</a:t>
            </a:r>
          </a:p>
        </p:txBody>
      </p:sp>
      <p:sp>
        <p:nvSpPr>
          <p:cNvPr id="10" name="spcFirstLastPara unset — first spcBef and last spcAft discarded"/>
          <p:cNvSpPr/>
          <p:nvPr/>
        </p:nvSpPr>
        <p:spPr>
          <a:xfrm>
            <a:off x="502920" y="12344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anchor="ctr"/>
          <a:lstStyle/>
          <a:p>
            <a:pPr>
              <a:spcBef>
                <a:spcPts val="3600"/>
              </a:spcBef>
            </a:pPr>
            <a:r>
              <a:rPr lang="en-GB" sz="1400">
                <a:solidFill>
                  <a:schemeClr val="tx1"/>
                </a:solidFill>
              </a:rPr>
              <a:t>First paragraph, 36pt spcBef</a:t>
            </a:r>
          </a:p>
          <a:p>
            <a:r>
              <a:rPr lang="en-GB" sz="1400">
                <a:solidFill>
                  <a:schemeClr val="tx1"/>
                </a:solidFill>
              </a:rPr>
              <a:t>Middle paragraph, no spacing of its own</a:t>
            </a:r>
          </a:p>
          <a:p>
            <a:pPr>
              <a:spcAft>
                <a:spcPts val="3600"/>
              </a:spcAft>
            </a:pPr>
            <a:r>
              <a:rPr lang="en-GB" sz="1400">
                <a:solidFill>
                  <a:schemeClr val="tx1"/>
                </a:solidFill>
              </a:rPr>
              <a:t>Last paragraph, 36pt spcAft</a:t>
            </a:r>
          </a:p>
        </p:txBody>
      </p:sp>
      <p:sp>
        <p:nvSpPr>
          <p:cNvPr id="11" name="spcFirstLastPara 1 — both honoured"/>
          <p:cNvSpPr/>
          <p:nvPr/>
        </p:nvSpPr>
        <p:spPr>
          <a:xfrm>
            <a:off x="6141720" y="12344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spcFirstLastPara="1" wrap="square" anchor="ctr"/>
          <a:lstStyle/>
          <a:p>
            <a:pPr>
              <a:spcBef>
                <a:spcPts val="3600"/>
              </a:spcBef>
            </a:pPr>
            <a:r>
              <a:rPr lang="en-GB" sz="1400">
                <a:solidFill>
                  <a:schemeClr val="tx1"/>
                </a:solidFill>
              </a:rPr>
              <a:t>First paragraph, 36pt spcBef</a:t>
            </a:r>
          </a:p>
          <a:p>
            <a:r>
              <a:rPr lang="en-GB" sz="1400">
                <a:solidFill>
                  <a:schemeClr val="tx1"/>
                </a:solidFill>
              </a:rPr>
              <a:t>Middle paragraph, no spacing of its own</a:t>
            </a:r>
          </a:p>
          <a:p>
            <a:pPr>
              <a:spcAft>
                <a:spcPts val="3600"/>
              </a:spcAft>
            </a:pPr>
            <a:r>
              <a:rPr lang="en-GB" sz="1400">
                <a:solidFill>
                  <a:schemeClr val="tx1"/>
                </a:solidFill>
              </a:rPr>
              <a:t>Last paragraph, 36pt spcAft</a:t>
            </a:r>
          </a:p>
        </p:txBody>
      </p:sp>
      <p:sp>
        <p:nvSpPr>
          <p:cNvPr id="12" name="a:endParaRPr sets the height of an empty paragraph"/>
          <p:cNvSpPr/>
          <p:nvPr/>
        </p:nvSpPr>
        <p:spPr>
          <a:xfrm>
            <a:off x="502920" y="38252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anchor="t"/>
          <a:lstStyle/>
          <a:p>
            <a:r>
              <a:rPr lang="en-GB" sz="1200">
                <a:solidFill>
                  <a:schemeClr val="accent3"/>
                </a:solidFill>
              </a:rPr>
              <a:t>Above four empty paragraphs at 8, 16, 32 and 54pt:</a:t>
            </a:r>
          </a:p>
          <a:p>
            <a:endParaRPr lang="en-GB" sz="800"/>
          </a:p>
          <a:p>
            <a:endParaRPr lang="en-GB" sz="1600"/>
          </a:p>
          <a:p>
            <a:endParaRPr lang="en-GB" sz="3200"/>
          </a:p>
          <a:p>
            <a:endParaRPr lang="en-GB" sz="5400"/>
          </a:p>
          <a:p>
            <a:r>
              <a:rPr lang="en-GB" sz="1200">
                <a:solidFill>
                  <a:schemeClr val="accent3"/>
                </a:solidFill>
              </a:rPr>
              <a:t>Below them. If the gap looks like one line, endParaRPr was ignored.</a:t>
            </a:r>
          </a:p>
          <a:p>
            <a:endParaRPr lang="en-GB" sz="2400" b="1">
              <a:solidFill>
                <a:srgbClr val="C00000"/>
              </a:solidFill>
              <a:latin typeface="Georgia"/>
            </a:endParaRPr>
          </a:p>
        </p:txBody>
      </p:sp>
      <p:sp>
        <p:nvSpPr>
          <p:cNvPr id="13" name="anchor b with the same paragraphs — the shift is the same size"/>
          <p:cNvSpPr/>
          <p:nvPr/>
        </p:nvSpPr>
        <p:spPr>
          <a:xfrm>
            <a:off x="6141720" y="3825240"/>
            <a:ext cx="55473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anchor="b"/>
          <a:lstStyle/>
          <a:p>
            <a:pPr>
              <a:spcBef>
                <a:spcPts val="3600"/>
              </a:spcBef>
            </a:pPr>
            <a:r>
              <a:rPr lang="en-GB" sz="1400">
                <a:solidFill>
                  <a:schemeClr val="tx1"/>
                </a:solidFill>
              </a:rPr>
              <a:t>First paragraph, 36pt spcBef</a:t>
            </a:r>
          </a:p>
          <a:p>
            <a:r>
              <a:rPr lang="en-GB" sz="1400">
                <a:solidFill>
                  <a:schemeClr val="tx1"/>
                </a:solidFill>
              </a:rPr>
              <a:t>Middle paragraph, no spacing of its own</a:t>
            </a:r>
          </a:p>
          <a:p>
            <a:pPr>
              <a:spcAft>
                <a:spcPts val="3600"/>
              </a:spcAft>
            </a:pPr>
            <a:r>
              <a:rPr lang="en-GB" sz="1400">
                <a:solidFill>
                  <a:schemeClr val="tx1"/>
                </a:solidFill>
              </a:rPr>
              <a:t>Last paragraph, 36pt spcAft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a11 autofit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